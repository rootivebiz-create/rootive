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1"/>
          <c:w val="0.88"/>
          <c:h val="0.78"/>
        </c:manualLayout>
      </c:layout>
      <c:lineChart>
        <c:varyColors val="0"/>
        <c:ser>
          <c:idx val="0"/>
          <c:order val="0"/>
          <c:tx>
            <c:strRef>
              <c:f>Sheet1!$B$1</c:f>
              <c:strCache>
                <c:ptCount val="1"/>
                <c:pt idx="0">
                  <c:v>グループ連結売上高（暫定）</c:v>
                </c:pt>
              </c:strCache>
            </c:strRef>
          </c:tx>
          <c:spPr>
            <a:solidFill>
              <a:srgbClr val="14284B"/>
            </a:solidFill>
            <a:ln w="38100" cap="flat">
              <a:solidFill>
                <a:srgbClr val="14284B"/>
              </a:solidFill>
              <a:prstDash val="solid"/>
              <a:round/>
            </a:ln>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marker>
            <c:symbol val="circle"/>
            <c:size val="11"/>
            <c:spPr>
              <a:solidFill>
                <a:srgbClr val="14284B"/>
              </a:solidFill>
              <a:ln w="25400" cap="flat">
                <a:solidFill>
                  <a:srgbClr val="FFFFFF"/>
                </a:solidFill>
                <a:prstDash val="solid"/>
                <a:round/>
              </a:ln>
              <a:effectLst/>
            </c:spPr>
          </c:marker>
          <c:cat>
            <c:multiLvlStrRef>
              <c:f>Sheet1!$A$2:$A$6</c:f>
              <c:multiLvlStrCache>
                <c:ptCount val="5"/>
                <c:lvl>
                  <c:pt idx="0">
                    <c:v>FY2027</c:v>
                  </c:pt>
                  <c:pt idx="1">
                    <c:v>FY2028</c:v>
                  </c:pt>
                  <c:pt idx="2">
                    <c:v>FY2029</c:v>
                  </c:pt>
                  <c:pt idx="3">
                    <c:v>FY2030</c:v>
                  </c:pt>
                  <c:pt idx="4">
                    <c:v>FY2031</c:v>
                  </c:pt>
                </c:lvl>
              </c:multiLvlStrCache>
            </c:multiLvlStrRef>
          </c:cat>
          <c:val>
            <c:numRef>
              <c:f>Sheet1!$B$2:$B$6</c:f>
              <c:numCache>
                <c:formatCode>General</c:formatCode>
                <c:ptCount val="5"/>
                <c:pt idx="0">
                  <c:v>2</c:v>
                </c:pt>
                <c:pt idx="1">
                  <c:v>5</c:v>
                </c:pt>
                <c:pt idx="2">
                  <c:v>10</c:v>
                </c:pt>
                <c:pt idx="3">
                  <c:v>18</c:v>
                </c:pt>
                <c:pt idx="4">
                  <c:v>30</c:v>
                </c:pt>
              </c:numCache>
            </c:numRef>
          </c:val>
          <c:smooth val="0"/>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84B"/>
                </a:solidFill>
                <a:latin typeface="Arial"/>
                <a:ea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E3E8E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5"/>
                </a:solidFill>
                <a:latin typeface="Arial"/>
                <a:ea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グループ連結売上（暫定）</c:v>
                </c:pt>
              </c:strCache>
            </c:strRef>
          </c:tx>
          <c:spPr>
            <a:solidFill>
              <a:srgbClr val="B08D57"/>
            </a:solidFill>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dPt>
            <c:idx val="0"/>
            <c:invertIfNegative val="0"/>
            <c:bubble3D val="0"/>
            <c:spPr>
              <a:solidFill>
                <a:srgbClr val="B08D57"/>
              </a:solidFill>
              <a:effectLst/>
            </c:spPr>
          </c:dPt>
          <c:dPt>
            <c:idx val="1"/>
            <c:invertIfNegative val="0"/>
            <c:bubble3D val="0"/>
            <c:spPr>
              <a:solidFill>
                <a:srgbClr val="C5CCD6"/>
              </a:solidFill>
              <a:effectLst/>
            </c:spPr>
          </c:dPt>
          <c:dPt>
            <c:idx val="2"/>
            <c:invertIfNegative val="0"/>
            <c:bubble3D val="0"/>
            <c:spPr>
              <a:solidFill>
                <a:srgbClr val="C5CCD6"/>
              </a:solidFill>
              <a:effectLst/>
            </c:spPr>
          </c:dPt>
          <c:dPt>
            <c:idx val="3"/>
            <c:invertIfNegative val="0"/>
            <c:bubble3D val="0"/>
            <c:spPr>
              <a:solidFill>
                <a:srgbClr val="C5CCD6"/>
              </a:solidFill>
              <a:effectLst/>
            </c:spPr>
          </c:dPt>
          <c:dPt>
            <c:idx val="4"/>
            <c:invertIfNegative val="0"/>
            <c:bubble3D val="0"/>
            <c:spPr>
              <a:solidFill>
                <a:srgbClr val="C5CCD6"/>
              </a:solidFill>
              <a:effectLst/>
            </c:spPr>
          </c:dPt>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c:v>
                </c:pt>
                <c:pt idx="1">
                  <c:v>5</c:v>
                </c:pt>
                <c:pt idx="2">
                  <c:v>10</c:v>
                </c:pt>
                <c:pt idx="3">
                  <c:v>18</c:v>
                </c:pt>
                <c:pt idx="4">
                  <c:v>30</c:v>
                </c:pt>
              </c:numCache>
            </c:numRef>
          </c:val>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ea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ea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グループ連結売上（暫定）</c:v>
                </c:pt>
              </c:strCache>
            </c:strRef>
          </c:tx>
          <c:spPr>
            <a:solidFill>
              <a:srgbClr val="C5CCD6"/>
            </a:solidFill>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dPt>
            <c:idx val="0"/>
            <c:invertIfNegative val="0"/>
            <c:bubble3D val="0"/>
            <c:spPr>
              <a:solidFill>
                <a:srgbClr val="C5CCD6"/>
              </a:solidFill>
              <a:effectLst/>
            </c:spPr>
          </c:dPt>
          <c:dPt>
            <c:idx val="1"/>
            <c:invertIfNegative val="0"/>
            <c:bubble3D val="0"/>
            <c:spPr>
              <a:solidFill>
                <a:srgbClr val="B08D57"/>
              </a:solidFill>
              <a:effectLst/>
            </c:spPr>
          </c:dPt>
          <c:dPt>
            <c:idx val="2"/>
            <c:invertIfNegative val="0"/>
            <c:bubble3D val="0"/>
            <c:spPr>
              <a:solidFill>
                <a:srgbClr val="C5CCD6"/>
              </a:solidFill>
              <a:effectLst/>
            </c:spPr>
          </c:dPt>
          <c:dPt>
            <c:idx val="3"/>
            <c:invertIfNegative val="0"/>
            <c:bubble3D val="0"/>
            <c:spPr>
              <a:solidFill>
                <a:srgbClr val="C5CCD6"/>
              </a:solidFill>
              <a:effectLst/>
            </c:spPr>
          </c:dPt>
          <c:dPt>
            <c:idx val="4"/>
            <c:invertIfNegative val="0"/>
            <c:bubble3D val="0"/>
            <c:spPr>
              <a:solidFill>
                <a:srgbClr val="C5CCD6"/>
              </a:solidFill>
              <a:effectLst/>
            </c:spPr>
          </c:dPt>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c:v>
                </c:pt>
                <c:pt idx="1">
                  <c:v>5</c:v>
                </c:pt>
                <c:pt idx="2">
                  <c:v>10</c:v>
                </c:pt>
                <c:pt idx="3">
                  <c:v>18</c:v>
                </c:pt>
                <c:pt idx="4">
                  <c:v>30</c:v>
                </c:pt>
              </c:numCache>
            </c:numRef>
          </c:val>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ea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ea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グループ連結売上（暫定）</c:v>
                </c:pt>
              </c:strCache>
            </c:strRef>
          </c:tx>
          <c:spPr>
            <a:solidFill>
              <a:srgbClr val="C5CCD6"/>
            </a:solidFill>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dPt>
            <c:idx val="0"/>
            <c:invertIfNegative val="0"/>
            <c:bubble3D val="0"/>
            <c:spPr>
              <a:solidFill>
                <a:srgbClr val="C5CCD6"/>
              </a:solidFill>
              <a:effectLst/>
            </c:spPr>
          </c:dPt>
          <c:dPt>
            <c:idx val="1"/>
            <c:invertIfNegative val="0"/>
            <c:bubble3D val="0"/>
            <c:spPr>
              <a:solidFill>
                <a:srgbClr val="C5CCD6"/>
              </a:solidFill>
              <a:effectLst/>
            </c:spPr>
          </c:dPt>
          <c:dPt>
            <c:idx val="2"/>
            <c:invertIfNegative val="0"/>
            <c:bubble3D val="0"/>
            <c:spPr>
              <a:solidFill>
                <a:srgbClr val="B08D57"/>
              </a:solidFill>
              <a:effectLst/>
            </c:spPr>
          </c:dPt>
          <c:dPt>
            <c:idx val="3"/>
            <c:invertIfNegative val="0"/>
            <c:bubble3D val="0"/>
            <c:spPr>
              <a:solidFill>
                <a:srgbClr val="C5CCD6"/>
              </a:solidFill>
              <a:effectLst/>
            </c:spPr>
          </c:dPt>
          <c:dPt>
            <c:idx val="4"/>
            <c:invertIfNegative val="0"/>
            <c:bubble3D val="0"/>
            <c:spPr>
              <a:solidFill>
                <a:srgbClr val="C5CCD6"/>
              </a:solidFill>
              <a:effectLst/>
            </c:spPr>
          </c:dPt>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c:v>
                </c:pt>
                <c:pt idx="1">
                  <c:v>5</c:v>
                </c:pt>
                <c:pt idx="2">
                  <c:v>10</c:v>
                </c:pt>
                <c:pt idx="3">
                  <c:v>18</c:v>
                </c:pt>
                <c:pt idx="4">
                  <c:v>30</c:v>
                </c:pt>
              </c:numCache>
            </c:numRef>
          </c:val>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ea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ea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グループ連結売上（暫定）</c:v>
                </c:pt>
              </c:strCache>
            </c:strRef>
          </c:tx>
          <c:spPr>
            <a:solidFill>
              <a:srgbClr val="C5CCD6"/>
            </a:solidFill>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dPt>
            <c:idx val="0"/>
            <c:invertIfNegative val="0"/>
            <c:bubble3D val="0"/>
            <c:spPr>
              <a:solidFill>
                <a:srgbClr val="C5CCD6"/>
              </a:solidFill>
              <a:effectLst/>
            </c:spPr>
          </c:dPt>
          <c:dPt>
            <c:idx val="1"/>
            <c:invertIfNegative val="0"/>
            <c:bubble3D val="0"/>
            <c:spPr>
              <a:solidFill>
                <a:srgbClr val="C5CCD6"/>
              </a:solidFill>
              <a:effectLst/>
            </c:spPr>
          </c:dPt>
          <c:dPt>
            <c:idx val="2"/>
            <c:invertIfNegative val="0"/>
            <c:bubble3D val="0"/>
            <c:spPr>
              <a:solidFill>
                <a:srgbClr val="C5CCD6"/>
              </a:solidFill>
              <a:effectLst/>
            </c:spPr>
          </c:dPt>
          <c:dPt>
            <c:idx val="3"/>
            <c:invertIfNegative val="0"/>
            <c:bubble3D val="0"/>
            <c:spPr>
              <a:solidFill>
                <a:srgbClr val="B08D57"/>
              </a:solidFill>
              <a:effectLst/>
            </c:spPr>
          </c:dPt>
          <c:dPt>
            <c:idx val="4"/>
            <c:invertIfNegative val="0"/>
            <c:bubble3D val="0"/>
            <c:spPr>
              <a:solidFill>
                <a:srgbClr val="C5CCD6"/>
              </a:solidFill>
              <a:effectLst/>
            </c:spPr>
          </c:dPt>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c:v>
                </c:pt>
                <c:pt idx="1">
                  <c:v>5</c:v>
                </c:pt>
                <c:pt idx="2">
                  <c:v>10</c:v>
                </c:pt>
                <c:pt idx="3">
                  <c:v>18</c:v>
                </c:pt>
                <c:pt idx="4">
                  <c:v>30</c:v>
                </c:pt>
              </c:numCache>
            </c:numRef>
          </c:val>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ea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ea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グループ連結売上（暫定）</c:v>
                </c:pt>
              </c:strCache>
            </c:strRef>
          </c:tx>
          <c:spPr>
            <a:solidFill>
              <a:srgbClr val="C5CCD6"/>
            </a:solidFill>
            <a:effectLst/>
          </c:spPr>
          <c:invertIfNegative val="0"/>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dPt>
            <c:idx val="0"/>
            <c:invertIfNegative val="0"/>
            <c:bubble3D val="0"/>
            <c:spPr>
              <a:solidFill>
                <a:srgbClr val="C5CCD6"/>
              </a:solidFill>
              <a:effectLst/>
            </c:spPr>
          </c:dPt>
          <c:dPt>
            <c:idx val="1"/>
            <c:invertIfNegative val="0"/>
            <c:bubble3D val="0"/>
            <c:spPr>
              <a:solidFill>
                <a:srgbClr val="C5CCD6"/>
              </a:solidFill>
              <a:effectLst/>
            </c:spPr>
          </c:dPt>
          <c:dPt>
            <c:idx val="2"/>
            <c:invertIfNegative val="0"/>
            <c:bubble3D val="0"/>
            <c:spPr>
              <a:solidFill>
                <a:srgbClr val="C5CCD6"/>
              </a:solidFill>
              <a:effectLst/>
            </c:spPr>
          </c:dPt>
          <c:dPt>
            <c:idx val="3"/>
            <c:invertIfNegative val="0"/>
            <c:bubble3D val="0"/>
            <c:spPr>
              <a:solidFill>
                <a:srgbClr val="C5CCD6"/>
              </a:solidFill>
              <a:effectLst/>
            </c:spPr>
          </c:dPt>
          <c:dPt>
            <c:idx val="4"/>
            <c:invertIfNegative val="0"/>
            <c:bubble3D val="0"/>
            <c:spPr>
              <a:solidFill>
                <a:srgbClr val="B08D57"/>
              </a:solidFill>
              <a:effectLst/>
            </c:spPr>
          </c:dPt>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2</c:v>
                </c:pt>
                <c:pt idx="1">
                  <c:v>5</c:v>
                </c:pt>
                <c:pt idx="2">
                  <c:v>10</c:v>
                </c:pt>
                <c:pt idx="3">
                  <c:v>18</c:v>
                </c:pt>
                <c:pt idx="4">
                  <c:v>30</c:v>
                </c:pt>
              </c:numCache>
            </c:numRef>
          </c:val>
        </c:ser>
        <c:dLbls>
          <c:numFmt formatCode="#,##0" sourceLinked="0"/>
          <c:txPr>
            <a:bodyPr/>
            <a:lstStyle/>
            <a:p>
              <a:pPr>
                <a:defRPr b="0" i="0" strike="noStrike" sz="1200" u="none">
                  <a:solidFill>
                    <a:srgbClr val="000000"/>
                  </a:solidFill>
                  <a:latin typeface="Arial"/>
                  <a:ea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75"/>
                </a:solidFill>
                <a:latin typeface="Arial"/>
                <a:ea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ea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本資料はROOTIVE GROUPの「経営の憲法」である。事業・M&amp;A・人が増え、判断が複雑になっても、向かう先を見失わないために作った。対象は2026–2031年の第一期中期経営計画。下の線は、今（NOW）から2028年の親会社設立、2031年のグループ連結売上30億円、その先の上場までを一本で示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理念は「挑戦するすべての人のインフラを創る」。物流は目的ではなく、最初に挑戦する事業である。物流の現場で営業力・採用力・組織構築力・現場運営力・DX力・財務力・資金調達力・経営力・ブランド・信用を蓄積し、その経営能力を次の事業・次の会社・次の経営者へ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長期目標はROOTIVE GROUPの上場。ただし上場そのものを目的にはしない。特定の個人に依存せず、複数事業で継続的に利益を生み、強い経営陣と内部統制を持つ企業グループを作った結果として、最適なタイミングで上場する。上場の時期は現段階では固定しない。2031年の30億円は、そのための最初の通過点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標は3階層でできている。いちばん上が長期目標の上場企業グループ、その下が5年後の2031年（グループ連結売上30億円・グループ経営基盤の完成）、途中に2028年の親会社設立がある。いちばん下が今。ROOTIVEの自走化、つまり利益・人材・仕組み・信用を積み上げ、代表依存から脱却すること。今日の仕事は、この一本の線の上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30億円を達成しただけでは成功と定義しない。財務・事業ポートフォリオ・組織・経営管理の4領域がそろい、50億、100億、そして上場へ進められる企業グループになっていることを成功条件とする。数値目標は連結売上30億円（暫定）だけで、それ以外は状態で定義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グループ連結売上高の暫定経営目標。FY2027 2億円、FY2028 5億円、FY2029 10億円、FY2030 18億円、FY2031 30億円。FY2027の2億円からFY2031の30億円へ15倍。前年比は2.5倍から1.7倍へ下がっていく設計で、年平均成長率（FY2027→FY2031）は計算上約97%。FY2027は親会社設立（2028年3月）の前なので、ROOTIVE単体の売上になる。いずれも暫定であり、財務モデル策定後に確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30億円を物流単体だけで作る計画ではない。ROOTIVE既存事業の成長（ORGANIC）、自社で立ち上げる新規事業（NEW BUSINESS）、異業種企業の買収（M&amp;A）の3つが、時間とともに重なってグループ売上を作る。各エンジンの構成比はまだ決めていない。財務モデルを作ってから確定する。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5年間を5つの段階に分ける。YEAR 1でROOTIVEの経営基盤を作り、YEAR 2で親会社を設立してグループ化を始める。YEAR 3で最初のM&amp;Aを成功させてモデルを確立し、YEAR 4でそれを組織の能力にする。YEAR 5で連結30億円とグループ経営基盤を完成させる。最初の18か月（2026.10〜2028.3）が親会社設立までの期間。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2026年10月から2028年3月の親会社設立までの18か月（YEAR 1とYEAR 2の前半）。この期間の目的は、次の会社を買える企業になること。そのために、金（利益・現預金・営業CF・金融機関の信用・借入余力）、人、仕組み、信用の4つの資産を積み上げる。これらがM&amp;Aの資金調達と実行の前提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1のテーマは、ROOTIVEを代表が回す会社から組織で回る会社に変えること。暫定売上は2億円。営業組織・荷主への直営業・採用導線・ドライバー供給力・運行管理を固め、幹部を育て、請求支払・管理会計・資金繰り・月次経営管理・SOPを整え、代表が現場から離れる（代表現場離脱）。終了条件は、代表が1週間日常オペレーションに入らなくても会社が回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2のテーマは、事業経営者からグループ経営者になること。暫定グループ売上は5億円。最大のイベントは2028年3月の親会社設立で、ROOTIVEを子会社化してグループ管理を始める。同時に金融機関との取引を強化し、M&amp;A融資の準備とソーシングを進め、経営者候補の育成と新規事業の検討に着手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3のテーマは最初のM&amp;Aを成功させること。暫定グループ売上は10億円。案件の発掘からデューデリジェンス、企業価値評価、資金調達、買収、買収後100日の統合（PMI）、成長までを一通りやり切る。重要なのは買収件数ではない。買う・任せる・改善する・成長させる、というモデルを完成させることが目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4のテーマは、M&amp;Aを創業者の個人技から組織の能力に変えること。暫定グループ売上は18億円。親会社に経営企画・財務・M&amp;A・人事・PMI・DX・法務・管理の8つの機能を置き、複数の案件が同時並行で進んでも、創業者本人が全てを処理しなくても回る状態を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5のテーマは、30億円を作ることではなく、30億円を運営できるグループを作ること。連結売上30億円（暫定）に加えて、複数事業・複数経営者・親会社機能・子会社の自走・継続的なM&amp;A・新規事業・管理会計・資本配分・次の50億円への投資余力の9つがそろって、第一期の完成と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グループの資本構造。創業者が親会社の株式を100%持ち、親会社の代表取締役を務める。親会社は各子会社を原則100%保有する。各子会社には別の代表取締役社長を置き、創業者は代表権を持たず、日常経営も行わない。原則として子会社の取締役にも入らず、必要に応じて会長として経営監督と社長支援を行う。A〜D社は構造を示す例示で、社数・業種の目標ではない。ROOTIVEを子会社にする方法（株式移転など）と税務は、専門家と協議して確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有と執行を分ける。親会社が持つのは、資本・社長人事・M&amp;A・大型投資・戦略・財務・撤退判断。子会社の社長が持つのは、売上・利益・顧客・人材・現場・日常経営。オーナーはオペレーターではない（OWNER ≠ OPERATOR）。これがグループを創業者一人に依存させないための原則である。親会社は社長人事と資本を通じて子会社を監督し、日常の経営には入らない。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親会社の最大の仕事は資本配分。事業が利益として生んだキャッシュに、金融機関からの借入（M&amp;A融資）を加えた資金を、既存事業・M&amp;A・新規事業・人材・DX・借入返済・現預金のどこへどれだけ配分すれば企業価値が最大になるかを判断する。借入の返済と現預金の確保は、次のM&amp;Aのための借入余力を保つことでもある。配分の比率や金額は、財務モデルを作ってから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Aの基本思想は、良い会社を適正価格で買い、長期保有し、経営改善によって企業価値を高めること。対象は物流企業に限定しない。候補の条件は11項目で、事業が続くこと（需要・継続収益・キャッシュ創出力・顧客基盤・過度な設備投資が要らないこと）、改善の余地（営業・採用・DX）、承継と移植（後継者不足・経営者交代が可能・ROOTIVE GROUPの経営能力を移植できること）に分けて見る。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買える会社と買うべき会社は違う。買収の判断では、収益力・キャッシュと財務・価値とリターン・依存リスクの12指標を確認する。あわせて、簿外債務・重大な法令違反・未払い残業・社会保険問題・顧客集中・オーナー依存・慢性的なCF赤字・重大訴訟・大型設備更新・重要人材の流出の10項目をRED FLAGSとして確認する。各指標の判断水準は財務モデル策定後に設定する。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グループのKPIは売上だけでは見ない。成長・利益・キャッシュ・組織・M&amp;Aの5つの視点で経営を測る。目標値が決まっているのは連結売上（FY2027〜FY2031の暫定経営目標、FY2031は30億円）だけで、ほかのKPIの目標値・算定方法・見る頻度・責任の置き方は財務モデルを作ってから確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創業者の役割の変化。2026年は現場・営業・採用・資金・トラブル対応・経営のすべてを自分で担っている。2027年は組織・幹部育成に軸足を移しつつ、営業・財務・経営を担う。2028年に親会社のCEO（PARENT COMPANY CEO）としてM&amp;A・金融機関・経営者採用を担う。2029〜2031年はグループCEO（GROUP CEO）として資本配分（CAPITAL ALLOCATION）・M&amp;A・社長人事（CEO APPOINTMENT）・グループ戦略（GROUP STRATEGY）に集中し、その先は上場企業グループのCEO（PUBLIC COMPANY GROUP CEO）になる。自分が事業を回すのではなく、経営者と資本を配置する。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2031年以降の考え方。PHASE 1（2026–2031）でグループを形成し連結売上30億円を作る。PHASE 2で50億、100億へ複数事業を成長させる。同時に、連結会計・監査・内部統制・コンプライアンス・法務・取締役会・ガバナンス・経営陣の強化・IR・資本政策を整備し、IPO READYの状態を作ってから上場する。連結管理と内部統制はPHASE 1（2031年の成功条件）から着手している。売上規模だけでは上場しない。上場できる経営体制を先に作る。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重要な経営判断に迷ったら、この5つの問いに戻る。2031年のグループ30億円に近づくか。上場できる企業グループに近づくか。金・人・仕組み・信用のどれかが積み上がるか。創業者依存を減らすか、増やすか。5年後、10年後にも残る経営資産になるか。右の番号は、判断の根拠になるペ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1ページだけ、創業者個人の思い。会社を大きくすること、30億円、企業グループ、上場は、その時々で本気で追い続ける目標である。そのすべての先に、経験を一冊の本として残したい。成功だけでなく途中の現実を書き、読んだ誰かが挑戦するきっかけになるものにし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731520" y="685800"/>
            <a:ext cx="5486400" cy="274320"/>
          </a:xfrm>
          <a:prstGeom prst="rect">
            <a:avLst/>
          </a:prstGeom>
          <a:noFill/>
          <a:ln/>
        </p:spPr>
        <p:txBody>
          <a:bodyPr wrap="square" lIns="0" tIns="0" rIns="0" bIns="0" rtlCol="0" anchor="ctr"/>
          <a:lstStyle/>
          <a:p>
            <a:pPr algn="l" indent="0" marL="0">
              <a:buNone/>
            </a:pPr>
            <a:r>
              <a:rPr lang="en-US" altLang="en-US" sz="1100" b="1" spc="400" kern="0" dirty="0">
                <a:solidFill>
                  <a:srgbClr val="C9A96E"/>
                </a:solidFill>
                <a:latin typeface="Arial" pitchFamily="34" charset="0"/>
                <a:ea typeface="Arial" charset="-128"/>
                <a:cs typeface="Arial" pitchFamily="34" charset="-120"/>
              </a:rPr>
              <a:t>MEDIUM-TERM MANAGEMENT PLAN</a:t>
            </a:r>
            <a:endParaRPr lang="en-US" sz="1100" dirty="0"/>
          </a:p>
        </p:txBody>
      </p:sp>
      <p:sp>
        <p:nvSpPr>
          <p:cNvPr id="3" name="Text 1"/>
          <p:cNvSpPr txBox="1"/>
          <p:nvPr/>
        </p:nvSpPr>
        <p:spPr>
          <a:xfrm>
            <a:off x="8714232" y="685800"/>
            <a:ext cx="2743200" cy="274320"/>
          </a:xfrm>
          <a:prstGeom prst="rect">
            <a:avLst/>
          </a:prstGeom>
          <a:noFill/>
          <a:ln/>
        </p:spPr>
        <p:txBody>
          <a:bodyPr wrap="square" lIns="0" tIns="0" rIns="0" bIns="0" rtlCol="0" anchor="ctr"/>
          <a:lstStyle/>
          <a:p>
            <a:pPr algn="r" indent="0" marL="0">
              <a:buNone/>
            </a:pPr>
            <a:r>
              <a:rPr lang="en-US" altLang="en-US" sz="1000" spc="300" kern="0" dirty="0">
                <a:solidFill>
                  <a:srgbClr val="A7B0BE"/>
                </a:solidFill>
                <a:latin typeface="Arial" pitchFamily="34" charset="0"/>
                <a:ea typeface="Arial" charset="-128"/>
                <a:cs typeface="Arial" pitchFamily="34" charset="-120"/>
              </a:rPr>
              <a:t>CONFIDENTIAL</a:t>
            </a:r>
            <a:endParaRPr lang="en-US" sz="1000" dirty="0"/>
          </a:p>
        </p:txBody>
      </p:sp>
      <p:sp>
        <p:nvSpPr>
          <p:cNvPr id="4" name="Text 2"/>
          <p:cNvSpPr txBox="1"/>
          <p:nvPr/>
        </p:nvSpPr>
        <p:spPr>
          <a:xfrm>
            <a:off x="731520" y="1325880"/>
            <a:ext cx="8229600" cy="566928"/>
          </a:xfrm>
          <a:prstGeom prst="rect">
            <a:avLst/>
          </a:prstGeom>
          <a:noFill/>
          <a:ln/>
        </p:spPr>
        <p:txBody>
          <a:bodyPr wrap="square" lIns="0" tIns="0" rIns="0" bIns="0" rtlCol="0" anchor="ctr"/>
          <a:lstStyle/>
          <a:p>
            <a:pPr algn="l" indent="0" marL="0">
              <a:buNone/>
            </a:pPr>
            <a:r>
              <a:rPr lang="en-US" altLang="en-US" sz="3200" b="1" spc="400" kern="0" dirty="0">
                <a:solidFill>
                  <a:srgbClr val="FFFFFF"/>
                </a:solidFill>
                <a:latin typeface="Cambria" pitchFamily="34" charset="0"/>
                <a:ea typeface="Cambria" charset="-128"/>
                <a:cs typeface="Cambria" pitchFamily="34" charset="-120"/>
              </a:rPr>
              <a:t>ROOTIVE GROUP</a:t>
            </a:r>
            <a:endParaRPr lang="en-US" sz="3200" dirty="0"/>
          </a:p>
        </p:txBody>
      </p:sp>
      <p:sp>
        <p:nvSpPr>
          <p:cNvPr id="5" name="Text 3"/>
          <p:cNvSpPr txBox="1"/>
          <p:nvPr/>
        </p:nvSpPr>
        <p:spPr>
          <a:xfrm>
            <a:off x="731520" y="1938528"/>
            <a:ext cx="9144000" cy="960120"/>
          </a:xfrm>
          <a:prstGeom prst="rect">
            <a:avLst/>
          </a:prstGeom>
          <a:noFill/>
          <a:ln/>
        </p:spPr>
        <p:txBody>
          <a:bodyPr wrap="square" lIns="0" tIns="0" rIns="0" bIns="0" rtlCol="0" anchor="ctr"/>
          <a:lstStyle/>
          <a:p>
            <a:pPr algn="l" indent="0" marL="0">
              <a:buNone/>
            </a:pPr>
            <a:r>
              <a:rPr lang="ja-JP" altLang="en-US" sz="5400" dirty="0">
                <a:solidFill>
                  <a:srgbClr val="FFFFFF"/>
                </a:solidFill>
                <a:latin typeface="Yu Mincho" pitchFamily="34" charset="0"/>
                <a:ea typeface="Yu Mincho" charset="-128"/>
                <a:cs typeface="Yu Mincho" pitchFamily="34" charset="-120"/>
              </a:rPr>
              <a:t>5カ年経営計画</a:t>
            </a:r>
            <a:endParaRPr lang="ja-JP" sz="5400" dirty="0"/>
          </a:p>
        </p:txBody>
      </p:sp>
      <p:sp>
        <p:nvSpPr>
          <p:cNvPr id="6" name="Text 4"/>
          <p:cNvSpPr txBox="1"/>
          <p:nvPr/>
        </p:nvSpPr>
        <p:spPr>
          <a:xfrm>
            <a:off x="731520" y="2944368"/>
            <a:ext cx="9144000" cy="457200"/>
          </a:xfrm>
          <a:prstGeom prst="rect">
            <a:avLst/>
          </a:prstGeom>
          <a:noFill/>
          <a:ln/>
        </p:spPr>
        <p:txBody>
          <a:bodyPr wrap="square" lIns="0" tIns="0" rIns="0" bIns="0" rtlCol="0" anchor="ctr"/>
          <a:lstStyle/>
          <a:p>
            <a:pPr algn="l" indent="0" marL="0">
              <a:buNone/>
            </a:pPr>
            <a:r>
              <a:rPr lang="ja-JP" altLang="en-US" sz="2200" dirty="0">
                <a:solidFill>
                  <a:srgbClr val="D5DBE3"/>
                </a:solidFill>
                <a:latin typeface="Yu Gothic Medium" pitchFamily="34" charset="0"/>
                <a:ea typeface="Yu Gothic Medium" charset="-128"/>
                <a:cs typeface="Yu Gothic Medium" pitchFamily="34" charset="-120"/>
              </a:rPr>
              <a:t>2026–2031｜第一期中期経営計画</a:t>
            </a:r>
            <a:endParaRPr lang="ja-JP" sz="2200" dirty="0"/>
          </a:p>
        </p:txBody>
      </p:sp>
      <p:sp>
        <p:nvSpPr>
          <p:cNvPr id="7" name="Text 5"/>
          <p:cNvSpPr txBox="1"/>
          <p:nvPr/>
        </p:nvSpPr>
        <p:spPr>
          <a:xfrm>
            <a:off x="731520" y="3639312"/>
            <a:ext cx="10515600" cy="502920"/>
          </a:xfrm>
          <a:prstGeom prst="rect">
            <a:avLst/>
          </a:prstGeom>
          <a:noFill/>
          <a:ln/>
        </p:spPr>
        <p:txBody>
          <a:bodyPr wrap="square" lIns="0" tIns="0" rIns="0" bIns="0" rtlCol="0" anchor="ctr"/>
          <a:lstStyle/>
          <a:p>
            <a:pPr algn="l" indent="0" marL="0">
              <a:buNone/>
            </a:pPr>
            <a:r>
              <a:rPr lang="ja-JP" altLang="en-US" sz="2400" dirty="0">
                <a:solidFill>
                  <a:srgbClr val="C9A96E"/>
                </a:solidFill>
                <a:latin typeface="Yu Mincho" pitchFamily="34" charset="0"/>
                <a:ea typeface="Yu Mincho" charset="-128"/>
                <a:cs typeface="Yu Mincho" pitchFamily="34" charset="-120"/>
              </a:rPr>
              <a:t>物流会社から、複数の事業を所有し育てる企業グループへ。</a:t>
            </a:r>
            <a:endParaRPr lang="ja-JP" sz="2400" dirty="0"/>
          </a:p>
        </p:txBody>
      </p:sp>
      <p:sp>
        <p:nvSpPr>
          <p:cNvPr id="8" name="Shape 6"/>
          <p:cNvSpPr/>
          <p:nvPr/>
        </p:nvSpPr>
        <p:spPr>
          <a:xfrm>
            <a:off x="1417320" y="4983480"/>
            <a:ext cx="6309360" cy="0"/>
          </a:xfrm>
          <a:prstGeom prst="line">
            <a:avLst/>
          </a:prstGeom>
          <a:noFill/>
          <a:ln w="19050">
            <a:solidFill>
              <a:srgbClr val="C9A96E"/>
            </a:solidFill>
            <a:prstDash val="solid"/>
          </a:ln>
        </p:spPr>
      </p:sp>
      <p:sp>
        <p:nvSpPr>
          <p:cNvPr id="9" name="Shape 7"/>
          <p:cNvSpPr/>
          <p:nvPr/>
        </p:nvSpPr>
        <p:spPr>
          <a:xfrm>
            <a:off x="7726680" y="4983480"/>
            <a:ext cx="3154680" cy="0"/>
          </a:xfrm>
          <a:prstGeom prst="line">
            <a:avLst/>
          </a:prstGeom>
          <a:noFill/>
          <a:ln w="15875">
            <a:solidFill>
              <a:srgbClr val="A7B0BE"/>
            </a:solidFill>
            <a:prstDash val="sysDash"/>
          </a:ln>
        </p:spPr>
      </p:sp>
      <p:sp>
        <p:nvSpPr>
          <p:cNvPr id="10" name="Shape 8"/>
          <p:cNvSpPr/>
          <p:nvPr/>
        </p:nvSpPr>
        <p:spPr>
          <a:xfrm>
            <a:off x="1325880" y="4892040"/>
            <a:ext cx="182880" cy="182880"/>
          </a:xfrm>
          <a:prstGeom prst="ellipse">
            <a:avLst/>
          </a:prstGeom>
          <a:solidFill>
            <a:srgbClr val="C9A96E"/>
          </a:solidFill>
          <a:ln/>
        </p:spPr>
      </p:sp>
      <p:sp>
        <p:nvSpPr>
          <p:cNvPr id="11" name="Shape 9"/>
          <p:cNvSpPr/>
          <p:nvPr/>
        </p:nvSpPr>
        <p:spPr>
          <a:xfrm>
            <a:off x="4480560" y="4892040"/>
            <a:ext cx="182880" cy="182880"/>
          </a:xfrm>
          <a:prstGeom prst="ellipse">
            <a:avLst/>
          </a:prstGeom>
          <a:solidFill>
            <a:srgbClr val="C9A96E"/>
          </a:solidFill>
          <a:ln/>
        </p:spPr>
      </p:sp>
      <p:sp>
        <p:nvSpPr>
          <p:cNvPr id="12" name="Shape 10"/>
          <p:cNvSpPr/>
          <p:nvPr/>
        </p:nvSpPr>
        <p:spPr>
          <a:xfrm>
            <a:off x="7598664" y="4855464"/>
            <a:ext cx="256032" cy="256032"/>
          </a:xfrm>
          <a:prstGeom prst="ellipse">
            <a:avLst/>
          </a:prstGeom>
          <a:solidFill>
            <a:srgbClr val="C9A96E"/>
          </a:solidFill>
          <a:ln/>
        </p:spPr>
      </p:sp>
      <p:sp>
        <p:nvSpPr>
          <p:cNvPr id="13" name="Shape 11"/>
          <p:cNvSpPr/>
          <p:nvPr/>
        </p:nvSpPr>
        <p:spPr>
          <a:xfrm>
            <a:off x="10735056" y="4837176"/>
            <a:ext cx="292608" cy="292608"/>
          </a:xfrm>
          <a:prstGeom prst="ellipse">
            <a:avLst/>
          </a:prstGeom>
          <a:solidFill>
            <a:srgbClr val="0B1A2E"/>
          </a:solidFill>
          <a:ln w="19050">
            <a:solidFill>
              <a:srgbClr val="C9A96E"/>
            </a:solidFill>
            <a:prstDash val="solid"/>
          </a:ln>
        </p:spPr>
      </p:sp>
      <p:sp>
        <p:nvSpPr>
          <p:cNvPr id="14" name="Shape 12"/>
          <p:cNvSpPr/>
          <p:nvPr/>
        </p:nvSpPr>
        <p:spPr>
          <a:xfrm>
            <a:off x="10826496" y="4928616"/>
            <a:ext cx="109728" cy="109728"/>
          </a:xfrm>
          <a:prstGeom prst="ellipse">
            <a:avLst/>
          </a:prstGeom>
          <a:solidFill>
            <a:srgbClr val="C9A96E"/>
          </a:solidFill>
          <a:ln/>
        </p:spPr>
      </p:sp>
      <p:sp>
        <p:nvSpPr>
          <p:cNvPr id="15" name="Text 13"/>
          <p:cNvSpPr txBox="1"/>
          <p:nvPr/>
        </p:nvSpPr>
        <p:spPr>
          <a:xfrm>
            <a:off x="731520" y="5175504"/>
            <a:ext cx="1371600" cy="256032"/>
          </a:xfrm>
          <a:prstGeom prst="rect">
            <a:avLst/>
          </a:prstGeom>
          <a:noFill/>
          <a:ln/>
        </p:spPr>
        <p:txBody>
          <a:bodyPr wrap="square" lIns="0" tIns="0" rIns="0" bIns="0" rtlCol="0" anchor="ctr"/>
          <a:lstStyle/>
          <a:p>
            <a:pPr algn="ctr" indent="0" marL="0">
              <a:buNone/>
            </a:pPr>
            <a:r>
              <a:rPr lang="en-US" altLang="en-US" sz="1200" b="1" spc="200" kern="0" dirty="0">
                <a:solidFill>
                  <a:srgbClr val="C9A96E"/>
                </a:solidFill>
                <a:latin typeface="Arial" pitchFamily="34" charset="0"/>
                <a:ea typeface="Arial" charset="-128"/>
                <a:cs typeface="Arial" pitchFamily="34" charset="-120"/>
              </a:rPr>
              <a:t>NOW</a:t>
            </a:r>
            <a:endParaRPr lang="en-US" sz="1200" dirty="0"/>
          </a:p>
        </p:txBody>
      </p:sp>
      <p:sp>
        <p:nvSpPr>
          <p:cNvPr id="16" name="Text 14"/>
          <p:cNvSpPr txBox="1"/>
          <p:nvPr/>
        </p:nvSpPr>
        <p:spPr>
          <a:xfrm>
            <a:off x="731520" y="5449824"/>
            <a:ext cx="1371600" cy="256032"/>
          </a:xfrm>
          <a:prstGeom prst="rect">
            <a:avLst/>
          </a:prstGeom>
          <a:noFill/>
          <a:ln/>
        </p:spPr>
        <p:txBody>
          <a:bodyPr wrap="square" lIns="0" tIns="0" rIns="0" bIns="0" rtlCol="0" anchor="ctr"/>
          <a:lstStyle/>
          <a:p>
            <a:pPr algn="ctr" indent="0" marL="0">
              <a:buNone/>
            </a:pPr>
            <a:r>
              <a:rPr lang="ja-JP" altLang="en-US" sz="1100" dirty="0">
                <a:solidFill>
                  <a:srgbClr val="A7B0BE"/>
                </a:solidFill>
                <a:latin typeface="Yu Gothic Medium" pitchFamily="34" charset="0"/>
                <a:ea typeface="Yu Gothic Medium" charset="-128"/>
                <a:cs typeface="Yu Gothic Medium" pitchFamily="34" charset="-120"/>
              </a:rPr>
              <a:t>経営基盤構築</a:t>
            </a:r>
            <a:endParaRPr lang="ja-JP" sz="1100" dirty="0"/>
          </a:p>
        </p:txBody>
      </p:sp>
      <p:sp>
        <p:nvSpPr>
          <p:cNvPr id="17" name="Text 15"/>
          <p:cNvSpPr txBox="1"/>
          <p:nvPr/>
        </p:nvSpPr>
        <p:spPr>
          <a:xfrm>
            <a:off x="3886200" y="5175504"/>
            <a:ext cx="1371600" cy="256032"/>
          </a:xfrm>
          <a:prstGeom prst="rect">
            <a:avLst/>
          </a:prstGeom>
          <a:noFill/>
          <a:ln/>
        </p:spPr>
        <p:txBody>
          <a:bodyPr wrap="square" lIns="0" tIns="0" rIns="0" bIns="0" rtlCol="0" anchor="ctr"/>
          <a:lstStyle/>
          <a:p>
            <a:pPr algn="ctr" indent="0" marL="0">
              <a:buNone/>
            </a:pPr>
            <a:r>
              <a:rPr lang="en-US" altLang="en-US" sz="1200" b="1" spc="200" kern="0" dirty="0">
                <a:solidFill>
                  <a:srgbClr val="C9A96E"/>
                </a:solidFill>
                <a:latin typeface="Arial" pitchFamily="34" charset="0"/>
                <a:ea typeface="Arial" charset="-128"/>
                <a:cs typeface="Arial" pitchFamily="34" charset="-120"/>
              </a:rPr>
              <a:t>2028</a:t>
            </a:r>
            <a:endParaRPr lang="en-US" sz="1200" dirty="0"/>
          </a:p>
        </p:txBody>
      </p:sp>
      <p:sp>
        <p:nvSpPr>
          <p:cNvPr id="18" name="Text 16"/>
          <p:cNvSpPr txBox="1"/>
          <p:nvPr/>
        </p:nvSpPr>
        <p:spPr>
          <a:xfrm>
            <a:off x="3886200" y="5449824"/>
            <a:ext cx="1371600" cy="256032"/>
          </a:xfrm>
          <a:prstGeom prst="rect">
            <a:avLst/>
          </a:prstGeom>
          <a:noFill/>
          <a:ln/>
        </p:spPr>
        <p:txBody>
          <a:bodyPr wrap="square" lIns="0" tIns="0" rIns="0" bIns="0" rtlCol="0" anchor="ctr"/>
          <a:lstStyle/>
          <a:p>
            <a:pPr algn="ctr" indent="0" marL="0">
              <a:buNone/>
            </a:pPr>
            <a:r>
              <a:rPr lang="ja-JP" altLang="en-US" sz="1100" dirty="0">
                <a:solidFill>
                  <a:srgbClr val="A7B0BE"/>
                </a:solidFill>
                <a:latin typeface="Yu Gothic Medium" pitchFamily="34" charset="0"/>
                <a:ea typeface="Yu Gothic Medium" charset="-128"/>
                <a:cs typeface="Yu Gothic Medium" pitchFamily="34" charset="-120"/>
              </a:rPr>
              <a:t>親会社設立</a:t>
            </a:r>
            <a:endParaRPr lang="ja-JP" sz="1100" dirty="0"/>
          </a:p>
        </p:txBody>
      </p:sp>
      <p:sp>
        <p:nvSpPr>
          <p:cNvPr id="19" name="Text 17"/>
          <p:cNvSpPr txBox="1"/>
          <p:nvPr/>
        </p:nvSpPr>
        <p:spPr>
          <a:xfrm>
            <a:off x="7040880" y="5175504"/>
            <a:ext cx="1371600" cy="256032"/>
          </a:xfrm>
          <a:prstGeom prst="rect">
            <a:avLst/>
          </a:prstGeom>
          <a:noFill/>
          <a:ln/>
        </p:spPr>
        <p:txBody>
          <a:bodyPr wrap="square" lIns="0" tIns="0" rIns="0" bIns="0" rtlCol="0" anchor="ctr"/>
          <a:lstStyle/>
          <a:p>
            <a:pPr algn="ctr" indent="0" marL="0">
              <a:buNone/>
            </a:pPr>
            <a:r>
              <a:rPr lang="en-US" altLang="en-US" sz="1200" b="1" spc="200" kern="0" dirty="0">
                <a:solidFill>
                  <a:srgbClr val="C9A96E"/>
                </a:solidFill>
                <a:latin typeface="Arial" pitchFamily="34" charset="0"/>
                <a:ea typeface="Arial" charset="-128"/>
                <a:cs typeface="Arial" pitchFamily="34" charset="-120"/>
              </a:rPr>
              <a:t>2031</a:t>
            </a:r>
            <a:endParaRPr lang="en-US" sz="1200" dirty="0"/>
          </a:p>
        </p:txBody>
      </p:sp>
      <p:sp>
        <p:nvSpPr>
          <p:cNvPr id="20" name="Text 18"/>
          <p:cNvSpPr txBox="1"/>
          <p:nvPr/>
        </p:nvSpPr>
        <p:spPr>
          <a:xfrm>
            <a:off x="6629400" y="5449824"/>
            <a:ext cx="2194560" cy="256032"/>
          </a:xfrm>
          <a:prstGeom prst="rect">
            <a:avLst/>
          </a:prstGeom>
          <a:noFill/>
          <a:ln/>
        </p:spPr>
        <p:txBody>
          <a:bodyPr wrap="square" lIns="0" tIns="0" rIns="0" bIns="0" rtlCol="0" anchor="ctr"/>
          <a:lstStyle/>
          <a:p>
            <a:pPr algn="ctr" indent="0" marL="0">
              <a:buNone/>
            </a:pPr>
            <a:r>
              <a:rPr lang="ja-JP" altLang="en-US" sz="1100" dirty="0">
                <a:solidFill>
                  <a:srgbClr val="A7B0BE"/>
                </a:solidFill>
                <a:latin typeface="Yu Gothic Medium" pitchFamily="34" charset="0"/>
                <a:ea typeface="Yu Gothic Medium" charset="-128"/>
                <a:cs typeface="Yu Gothic Medium" pitchFamily="34" charset="-120"/>
              </a:rPr>
              <a:t>グループ連結売上30億円</a:t>
            </a:r>
            <a:endParaRPr lang="ja-JP" sz="1100" dirty="0"/>
          </a:p>
        </p:txBody>
      </p:sp>
      <p:sp>
        <p:nvSpPr>
          <p:cNvPr id="21" name="Text 19"/>
          <p:cNvSpPr txBox="1"/>
          <p:nvPr/>
        </p:nvSpPr>
        <p:spPr>
          <a:xfrm>
            <a:off x="10195560" y="5175504"/>
            <a:ext cx="1371600" cy="256032"/>
          </a:xfrm>
          <a:prstGeom prst="rect">
            <a:avLst/>
          </a:prstGeom>
          <a:noFill/>
          <a:ln/>
        </p:spPr>
        <p:txBody>
          <a:bodyPr wrap="square" lIns="0" tIns="0" rIns="0" bIns="0" rtlCol="0" anchor="ctr"/>
          <a:lstStyle/>
          <a:p>
            <a:pPr algn="ctr" indent="0" marL="0">
              <a:buNone/>
            </a:pPr>
            <a:r>
              <a:rPr lang="en-US" altLang="en-US" sz="1200" b="1" spc="200" kern="0" dirty="0">
                <a:solidFill>
                  <a:srgbClr val="C9A96E"/>
                </a:solidFill>
                <a:latin typeface="Arial" pitchFamily="34" charset="0"/>
                <a:ea typeface="Arial" charset="-128"/>
                <a:cs typeface="Arial" pitchFamily="34" charset="-120"/>
              </a:rPr>
              <a:t>IPO</a:t>
            </a:r>
            <a:endParaRPr lang="en-US" sz="1200" dirty="0"/>
          </a:p>
        </p:txBody>
      </p:sp>
      <p:sp>
        <p:nvSpPr>
          <p:cNvPr id="22" name="Text 20"/>
          <p:cNvSpPr txBox="1"/>
          <p:nvPr/>
        </p:nvSpPr>
        <p:spPr>
          <a:xfrm>
            <a:off x="10195560" y="5449824"/>
            <a:ext cx="1371600" cy="256032"/>
          </a:xfrm>
          <a:prstGeom prst="rect">
            <a:avLst/>
          </a:prstGeom>
          <a:noFill/>
          <a:ln/>
        </p:spPr>
        <p:txBody>
          <a:bodyPr wrap="square" lIns="0" tIns="0" rIns="0" bIns="0" rtlCol="0" anchor="ctr"/>
          <a:lstStyle/>
          <a:p>
            <a:pPr algn="ctr" indent="0" marL="0">
              <a:buNone/>
            </a:pPr>
            <a:r>
              <a:rPr lang="ja-JP" altLang="en-US" sz="1100" dirty="0">
                <a:solidFill>
                  <a:srgbClr val="A7B0BE"/>
                </a:solidFill>
                <a:latin typeface="Yu Gothic Medium" pitchFamily="34" charset="0"/>
                <a:ea typeface="Yu Gothic Medium" charset="-128"/>
                <a:cs typeface="Yu Gothic Medium" pitchFamily="34" charset="-120"/>
              </a:rPr>
              <a:t>上場</a:t>
            </a:r>
            <a:endParaRPr lang="ja-JP" sz="1100" dirty="0"/>
          </a:p>
        </p:txBody>
      </p:sp>
      <p:sp>
        <p:nvSpPr>
          <p:cNvPr id="23" name="Text 21"/>
          <p:cNvSpPr txBox="1"/>
          <p:nvPr/>
        </p:nvSpPr>
        <p:spPr>
          <a:xfrm>
            <a:off x="731520" y="5989320"/>
            <a:ext cx="4572000" cy="274320"/>
          </a:xfrm>
          <a:prstGeom prst="rect">
            <a:avLst/>
          </a:prstGeom>
          <a:noFill/>
          <a:ln/>
        </p:spPr>
        <p:txBody>
          <a:bodyPr wrap="square" lIns="0" tIns="0" rIns="0" bIns="0" rtlCol="0" anchor="ctr"/>
          <a:lstStyle/>
          <a:p>
            <a:pPr algn="l" indent="0" marL="0">
              <a:buNone/>
            </a:pPr>
            <a:r>
              <a:rPr lang="ja-JP" altLang="en-US" sz="1200" dirty="0">
                <a:solidFill>
                  <a:srgbClr val="A7B0BE"/>
                </a:solidFill>
                <a:latin typeface="Yu Gothic Medium" pitchFamily="34" charset="0"/>
                <a:ea typeface="Yu Gothic Medium" charset="-128"/>
                <a:cs typeface="Yu Gothic Medium" pitchFamily="34" charset="-120"/>
              </a:rPr>
              <a:t>2026年9月　株式会社ROOTIVE</a:t>
            </a:r>
            <a:endParaRPr lang="ja-JP"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02</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OUR PURPOSE</a:t>
            </a:r>
            <a:endParaRPr lang="en-US" sz="1100" dirty="0"/>
          </a:p>
        </p:txBody>
      </p:sp>
      <p:sp>
        <p:nvSpPr>
          <p:cNvPr id="3" name="Text 1"/>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第Ⅰ章　理念と長期目標</a:t>
            </a:r>
            <a:endParaRPr lang="ja-JP" sz="1000" dirty="0"/>
          </a:p>
        </p:txBody>
      </p:sp>
      <p:sp>
        <p:nvSpPr>
          <p:cNvPr id="4" name="Text 2"/>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02</a:t>
            </a:r>
            <a:endParaRPr lang="en-US" sz="1000" dirty="0"/>
          </a:p>
        </p:txBody>
      </p:sp>
      <p:sp>
        <p:nvSpPr>
          <p:cNvPr id="6" name="Text 3"/>
          <p:cNvSpPr txBox="1"/>
          <p:nvPr/>
        </p:nvSpPr>
        <p:spPr>
          <a:xfrm>
            <a:off x="548640" y="932688"/>
            <a:ext cx="11094415" cy="2011680"/>
          </a:xfrm>
          <a:prstGeom prst="rect">
            <a:avLst/>
          </a:prstGeom>
          <a:noFill/>
          <a:ln/>
        </p:spPr>
        <p:txBody>
          <a:bodyPr wrap="square" lIns="0" tIns="0" rIns="0" bIns="0" rtlCol="0" anchor="t"/>
          <a:lstStyle/>
          <a:p>
            <a:pPr algn="l" indent="0" marL="0">
              <a:lnSpc>
                <a:spcPts val="7200"/>
              </a:lnSpc>
              <a:buNone/>
            </a:pPr>
            <a:r>
              <a:rPr lang="ja-JP" altLang="en-US" sz="4800" dirty="0">
                <a:solidFill>
                  <a:srgbClr val="FFFFFF"/>
                </a:solidFill>
                <a:latin typeface="Yu Mincho" pitchFamily="34" charset="0"/>
                <a:ea typeface="Yu Mincho" charset="-128"/>
                <a:cs typeface="Yu Mincho" pitchFamily="34" charset="-120"/>
              </a:rPr>
              <a:t>挑戦するすべての人の</a:t>
            </a:r>
            <a:endParaRPr lang="ja-JP" sz="4800" dirty="0"/>
          </a:p>
          <a:p>
            <a:pPr algn="l" indent="0" marL="0">
              <a:lnSpc>
                <a:spcPts val="7200"/>
              </a:lnSpc>
              <a:buNone/>
            </a:pPr>
            <a:r>
              <a:rPr lang="ja-JP" altLang="en-US" sz="4800" dirty="0">
                <a:solidFill>
                  <a:srgbClr val="FFFFFF"/>
                </a:solidFill>
                <a:latin typeface="Yu Mincho" pitchFamily="34" charset="0"/>
                <a:ea typeface="Yu Mincho" charset="-128"/>
                <a:cs typeface="Yu Mincho" pitchFamily="34" charset="-120"/>
              </a:rPr>
              <a:t>インフラを創る。</a:t>
            </a:r>
            <a:endParaRPr lang="ja-JP" sz="4800" dirty="0"/>
          </a:p>
        </p:txBody>
      </p:sp>
      <p:sp>
        <p:nvSpPr>
          <p:cNvPr id="7" name="Text 4"/>
          <p:cNvSpPr txBox="1"/>
          <p:nvPr/>
        </p:nvSpPr>
        <p:spPr>
          <a:xfrm>
            <a:off x="548640" y="2999232"/>
            <a:ext cx="11094415" cy="868680"/>
          </a:xfrm>
          <a:prstGeom prst="rect">
            <a:avLst/>
          </a:prstGeom>
          <a:noFill/>
          <a:ln/>
        </p:spPr>
        <p:txBody>
          <a:bodyPr wrap="square" lIns="0" tIns="0" rIns="0" bIns="0" rtlCol="0" anchor="t"/>
          <a:lstStyle/>
          <a:p>
            <a:pPr algn="l" indent="0" marL="0">
              <a:lnSpc>
                <a:spcPts val="3200"/>
              </a:lnSpc>
              <a:buNone/>
            </a:pPr>
            <a:r>
              <a:rPr lang="ja-JP" altLang="en-US" sz="1900" dirty="0">
                <a:solidFill>
                  <a:srgbClr val="C9A96E"/>
                </a:solidFill>
                <a:latin typeface="Yu Mincho" pitchFamily="34" charset="0"/>
                <a:ea typeface="Yu Mincho" charset="-128"/>
                <a:cs typeface="Yu Mincho" pitchFamily="34" charset="-120"/>
              </a:rPr>
              <a:t>物流は目的ではない。</a:t>
            </a:r>
            <a:pPr algn="l" indent="0" marL="0">
              <a:lnSpc>
                <a:spcPts val="3200"/>
              </a:lnSpc>
              <a:buNone/>
            </a:pPr>
            <a:r>
              <a:rPr lang="ja-JP" altLang="en-US" sz="1900" dirty="0">
                <a:solidFill>
                  <a:srgbClr val="FFFFFF"/>
                </a:solidFill>
                <a:latin typeface="Yu Mincho" pitchFamily="34" charset="0"/>
                <a:ea typeface="Yu Mincho" charset="-128"/>
                <a:cs typeface="Yu Mincho" pitchFamily="34" charset="-120"/>
              </a:rPr>
              <a:t>ROOTIVE GROUPが最初に挑戦する事業である。</a:t>
            </a:r>
            <a:endParaRPr lang="ja-JP" sz="1900" dirty="0"/>
          </a:p>
          <a:p>
            <a:pPr algn="l" indent="0" marL="0">
              <a:lnSpc>
                <a:spcPts val="3200"/>
              </a:lnSpc>
              <a:buNone/>
            </a:pPr>
            <a:r>
              <a:rPr lang="ja-JP" altLang="en-US" sz="1900" dirty="0">
                <a:solidFill>
                  <a:srgbClr val="FFFFFF"/>
                </a:solidFill>
                <a:latin typeface="Yu Mincho" pitchFamily="34" charset="0"/>
                <a:ea typeface="Yu Mincho" charset="-128"/>
                <a:cs typeface="Yu Mincho" pitchFamily="34" charset="-120"/>
              </a:rPr>
              <a:t>物流で蓄積した経営能力を、次の事業、次の会社、次の経営者へつなげていく。</a:t>
            </a:r>
            <a:endParaRPr lang="ja-JP" sz="1900" dirty="0"/>
          </a:p>
        </p:txBody>
      </p:sp>
      <p:sp>
        <p:nvSpPr>
          <p:cNvPr id="8" name="Shape 5"/>
          <p:cNvSpPr/>
          <p:nvPr/>
        </p:nvSpPr>
        <p:spPr>
          <a:xfrm>
            <a:off x="548640" y="4160520"/>
            <a:ext cx="1783080" cy="1700784"/>
          </a:xfrm>
          <a:prstGeom prst="rect">
            <a:avLst/>
          </a:prstGeom>
          <a:noFill/>
          <a:ln w="9525">
            <a:solidFill>
              <a:srgbClr val="A7B0BE"/>
            </a:solidFill>
            <a:prstDash val="solid"/>
          </a:ln>
        </p:spPr>
      </p:sp>
      <p:sp>
        <p:nvSpPr>
          <p:cNvPr id="9" name="Text 6"/>
          <p:cNvSpPr txBox="1"/>
          <p:nvPr/>
        </p:nvSpPr>
        <p:spPr>
          <a:xfrm>
            <a:off x="713232" y="4416552"/>
            <a:ext cx="1554480" cy="228600"/>
          </a:xfrm>
          <a:prstGeom prst="rect">
            <a:avLst/>
          </a:prstGeom>
          <a:noFill/>
          <a:ln/>
        </p:spPr>
        <p:txBody>
          <a:bodyPr wrap="square" lIns="0" tIns="0" rIns="0" bIns="0" rtlCol="0" anchor="ctr"/>
          <a:lstStyle/>
          <a:p>
            <a:pPr algn="l" indent="0" marL="0">
              <a:buNone/>
            </a:pPr>
            <a:r>
              <a:rPr lang="en-US" altLang="en-US" sz="1000" b="1" spc="100" kern="0" dirty="0">
                <a:solidFill>
                  <a:srgbClr val="C9A96E"/>
                </a:solidFill>
                <a:latin typeface="Arial" pitchFamily="34" charset="0"/>
                <a:ea typeface="Arial" charset="-128"/>
                <a:cs typeface="Arial" pitchFamily="34" charset="-120"/>
              </a:rPr>
              <a:t>FIRST BUSINESS</a:t>
            </a:r>
            <a:endParaRPr lang="en-US" sz="1000" dirty="0"/>
          </a:p>
        </p:txBody>
      </p:sp>
      <p:sp>
        <p:nvSpPr>
          <p:cNvPr id="10" name="Text 7"/>
          <p:cNvSpPr txBox="1"/>
          <p:nvPr/>
        </p:nvSpPr>
        <p:spPr>
          <a:xfrm>
            <a:off x="713232" y="4727448"/>
            <a:ext cx="1463040" cy="457200"/>
          </a:xfrm>
          <a:prstGeom prst="rect">
            <a:avLst/>
          </a:prstGeom>
          <a:noFill/>
          <a:ln/>
        </p:spPr>
        <p:txBody>
          <a:bodyPr wrap="square" lIns="0" tIns="0" rIns="0" bIns="0" rtlCol="0" anchor="ctr"/>
          <a:lstStyle/>
          <a:p>
            <a:pPr algn="l" indent="0" marL="0">
              <a:buNone/>
            </a:pPr>
            <a:r>
              <a:rPr lang="ja-JP" altLang="en-US" sz="2200" b="1" dirty="0">
                <a:solidFill>
                  <a:srgbClr val="FFFFFF"/>
                </a:solidFill>
                <a:latin typeface="Yu Gothic" pitchFamily="34" charset="0"/>
                <a:ea typeface="Yu Gothic" charset="-128"/>
                <a:cs typeface="Yu Gothic" pitchFamily="34" charset="-120"/>
              </a:rPr>
              <a:t>物流</a:t>
            </a:r>
            <a:endParaRPr lang="ja-JP" sz="2200" dirty="0"/>
          </a:p>
        </p:txBody>
      </p:sp>
      <p:sp>
        <p:nvSpPr>
          <p:cNvPr id="11" name="Text 8"/>
          <p:cNvSpPr txBox="1"/>
          <p:nvPr/>
        </p:nvSpPr>
        <p:spPr>
          <a:xfrm>
            <a:off x="713232" y="5257800"/>
            <a:ext cx="1572768" cy="274320"/>
          </a:xfrm>
          <a:prstGeom prst="rect">
            <a:avLst/>
          </a:prstGeom>
          <a:noFill/>
          <a:ln/>
        </p:spPr>
        <p:txBody>
          <a:bodyPr wrap="square" lIns="0" tIns="0" rIns="0" bIns="0" rtlCol="0" anchor="ctr"/>
          <a:lstStyle/>
          <a:p>
            <a:pPr algn="l" indent="0" marL="0">
              <a:buNone/>
            </a:pPr>
            <a:r>
              <a:rPr lang="ja-JP" altLang="en-US" sz="1100" dirty="0">
                <a:solidFill>
                  <a:srgbClr val="A7B0BE"/>
                </a:solidFill>
                <a:latin typeface="Yu Gothic Medium" pitchFamily="34" charset="0"/>
                <a:ea typeface="Yu Gothic Medium" charset="-128"/>
                <a:cs typeface="Yu Gothic Medium" pitchFamily="34" charset="-120"/>
              </a:rPr>
              <a:t>最初に挑戦する事業</a:t>
            </a:r>
            <a:endParaRPr lang="ja-JP" sz="1100" dirty="0"/>
          </a:p>
        </p:txBody>
      </p:sp>
      <p:sp>
        <p:nvSpPr>
          <p:cNvPr id="12" name="Shape 9"/>
          <p:cNvSpPr/>
          <p:nvPr/>
        </p:nvSpPr>
        <p:spPr>
          <a:xfrm>
            <a:off x="2423160" y="5010912"/>
            <a:ext cx="320040" cy="0"/>
          </a:xfrm>
          <a:prstGeom prst="line">
            <a:avLst/>
          </a:prstGeom>
          <a:noFill/>
          <a:ln w="19050">
            <a:solidFill>
              <a:srgbClr val="C9A96E"/>
            </a:solidFill>
            <a:prstDash val="solid"/>
            <a:tailEnd type="triangle"/>
          </a:ln>
        </p:spPr>
      </p:sp>
      <p:sp>
        <p:nvSpPr>
          <p:cNvPr id="13" name="Shape 10"/>
          <p:cNvSpPr/>
          <p:nvPr/>
        </p:nvSpPr>
        <p:spPr>
          <a:xfrm>
            <a:off x="2834640" y="4160520"/>
            <a:ext cx="5532120" cy="1700784"/>
          </a:xfrm>
          <a:prstGeom prst="rect">
            <a:avLst/>
          </a:prstGeom>
          <a:solidFill>
            <a:srgbClr val="13243F"/>
          </a:solidFill>
          <a:ln w="9525">
            <a:solidFill>
              <a:srgbClr val="C9A96E"/>
            </a:solidFill>
            <a:prstDash val="solid"/>
          </a:ln>
        </p:spPr>
      </p:sp>
      <p:sp>
        <p:nvSpPr>
          <p:cNvPr id="14" name="Text 11"/>
          <p:cNvSpPr txBox="1"/>
          <p:nvPr/>
        </p:nvSpPr>
        <p:spPr>
          <a:xfrm>
            <a:off x="3063240" y="4343400"/>
            <a:ext cx="5029200" cy="292608"/>
          </a:xfrm>
          <a:prstGeom prst="rect">
            <a:avLst/>
          </a:prstGeom>
          <a:noFill/>
          <a:ln/>
        </p:spPr>
        <p:txBody>
          <a:bodyPr wrap="square" lIns="0" tIns="0" rIns="0" bIns="0" rtlCol="0" anchor="ctr"/>
          <a:lstStyle/>
          <a:p>
            <a:pPr algn="l" indent="0" marL="0">
              <a:buNone/>
            </a:pPr>
            <a:r>
              <a:rPr lang="ja-JP" altLang="en-US" sz="1300" b="1" dirty="0">
                <a:solidFill>
                  <a:srgbClr val="C9A96E"/>
                </a:solidFill>
                <a:latin typeface="Yu Gothic" pitchFamily="34" charset="0"/>
                <a:ea typeface="Yu Gothic" charset="-128"/>
                <a:cs typeface="Yu Gothic" pitchFamily="34" charset="-120"/>
              </a:rPr>
              <a:t>物流で蓄積する経営能力</a:t>
            </a:r>
            <a:endParaRPr lang="ja-JP" sz="1300" dirty="0"/>
          </a:p>
        </p:txBody>
      </p:sp>
      <p:sp>
        <p:nvSpPr>
          <p:cNvPr id="15" name="Text 12"/>
          <p:cNvSpPr txBox="1"/>
          <p:nvPr/>
        </p:nvSpPr>
        <p:spPr>
          <a:xfrm>
            <a:off x="3044952" y="4764024"/>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営業力</a:t>
            </a:r>
            <a:endParaRPr lang="ja-JP" sz="1200" dirty="0"/>
          </a:p>
        </p:txBody>
      </p:sp>
      <p:sp>
        <p:nvSpPr>
          <p:cNvPr id="16" name="Text 13"/>
          <p:cNvSpPr txBox="1"/>
          <p:nvPr/>
        </p:nvSpPr>
        <p:spPr>
          <a:xfrm>
            <a:off x="4078224" y="4764024"/>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採用力</a:t>
            </a:r>
            <a:endParaRPr lang="ja-JP" sz="1200" dirty="0"/>
          </a:p>
        </p:txBody>
      </p:sp>
      <p:sp>
        <p:nvSpPr>
          <p:cNvPr id="17" name="Text 14"/>
          <p:cNvSpPr txBox="1"/>
          <p:nvPr/>
        </p:nvSpPr>
        <p:spPr>
          <a:xfrm>
            <a:off x="5111496" y="4764024"/>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組織構築力</a:t>
            </a:r>
            <a:endParaRPr lang="ja-JP" sz="1200" dirty="0"/>
          </a:p>
        </p:txBody>
      </p:sp>
      <p:sp>
        <p:nvSpPr>
          <p:cNvPr id="18" name="Text 15"/>
          <p:cNvSpPr txBox="1"/>
          <p:nvPr/>
        </p:nvSpPr>
        <p:spPr>
          <a:xfrm>
            <a:off x="6144768" y="4764024"/>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現場運営力</a:t>
            </a:r>
            <a:endParaRPr lang="ja-JP" sz="1200" dirty="0"/>
          </a:p>
        </p:txBody>
      </p:sp>
      <p:sp>
        <p:nvSpPr>
          <p:cNvPr id="19" name="Text 16"/>
          <p:cNvSpPr txBox="1"/>
          <p:nvPr/>
        </p:nvSpPr>
        <p:spPr>
          <a:xfrm>
            <a:off x="7178040" y="4764024"/>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DX力</a:t>
            </a:r>
            <a:endParaRPr lang="ja-JP" sz="1200" dirty="0"/>
          </a:p>
        </p:txBody>
      </p:sp>
      <p:sp>
        <p:nvSpPr>
          <p:cNvPr id="20" name="Text 17"/>
          <p:cNvSpPr txBox="1"/>
          <p:nvPr/>
        </p:nvSpPr>
        <p:spPr>
          <a:xfrm>
            <a:off x="3044952" y="5276088"/>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財務力</a:t>
            </a:r>
            <a:endParaRPr lang="ja-JP" sz="1200" dirty="0"/>
          </a:p>
        </p:txBody>
      </p:sp>
      <p:sp>
        <p:nvSpPr>
          <p:cNvPr id="21" name="Text 18"/>
          <p:cNvSpPr txBox="1"/>
          <p:nvPr/>
        </p:nvSpPr>
        <p:spPr>
          <a:xfrm>
            <a:off x="4078224" y="5276088"/>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資金調達力</a:t>
            </a:r>
            <a:endParaRPr lang="ja-JP" sz="1200" dirty="0"/>
          </a:p>
        </p:txBody>
      </p:sp>
      <p:sp>
        <p:nvSpPr>
          <p:cNvPr id="22" name="Text 19"/>
          <p:cNvSpPr txBox="1"/>
          <p:nvPr/>
        </p:nvSpPr>
        <p:spPr>
          <a:xfrm>
            <a:off x="5111496" y="5276088"/>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経営力</a:t>
            </a:r>
            <a:endParaRPr lang="ja-JP" sz="1200" dirty="0"/>
          </a:p>
        </p:txBody>
      </p:sp>
      <p:sp>
        <p:nvSpPr>
          <p:cNvPr id="23" name="Text 20"/>
          <p:cNvSpPr txBox="1"/>
          <p:nvPr/>
        </p:nvSpPr>
        <p:spPr>
          <a:xfrm>
            <a:off x="6144768" y="5276088"/>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ブランド</a:t>
            </a:r>
            <a:endParaRPr lang="ja-JP" sz="1200" dirty="0"/>
          </a:p>
        </p:txBody>
      </p:sp>
      <p:sp>
        <p:nvSpPr>
          <p:cNvPr id="24" name="Text 21"/>
          <p:cNvSpPr txBox="1"/>
          <p:nvPr/>
        </p:nvSpPr>
        <p:spPr>
          <a:xfrm>
            <a:off x="7178040" y="5276088"/>
            <a:ext cx="978408" cy="384048"/>
          </a:xfrm>
          <a:prstGeom prst="rect">
            <a:avLst/>
          </a:prstGeom>
          <a:no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信用</a:t>
            </a:r>
            <a:endParaRPr lang="ja-JP" sz="1200" dirty="0"/>
          </a:p>
        </p:txBody>
      </p:sp>
      <p:sp>
        <p:nvSpPr>
          <p:cNvPr id="25" name="Shape 22"/>
          <p:cNvSpPr/>
          <p:nvPr/>
        </p:nvSpPr>
        <p:spPr>
          <a:xfrm>
            <a:off x="8458200" y="5010912"/>
            <a:ext cx="320040" cy="0"/>
          </a:xfrm>
          <a:prstGeom prst="line">
            <a:avLst/>
          </a:prstGeom>
          <a:noFill/>
          <a:ln w="19050">
            <a:solidFill>
              <a:srgbClr val="C9A96E"/>
            </a:solidFill>
            <a:prstDash val="solid"/>
            <a:tailEnd type="triangle"/>
          </a:ln>
        </p:spPr>
      </p:sp>
      <p:sp>
        <p:nvSpPr>
          <p:cNvPr id="26" name="Shape 23"/>
          <p:cNvSpPr/>
          <p:nvPr/>
        </p:nvSpPr>
        <p:spPr>
          <a:xfrm>
            <a:off x="8869680" y="4160520"/>
            <a:ext cx="2770632" cy="475488"/>
          </a:xfrm>
          <a:prstGeom prst="rect">
            <a:avLst/>
          </a:prstGeom>
          <a:solidFill>
            <a:srgbClr val="13243F"/>
          </a:solidFill>
          <a:ln/>
        </p:spPr>
      </p:sp>
      <p:sp>
        <p:nvSpPr>
          <p:cNvPr id="27" name="Text 24"/>
          <p:cNvSpPr txBox="1"/>
          <p:nvPr/>
        </p:nvSpPr>
        <p:spPr>
          <a:xfrm>
            <a:off x="9052560" y="4160520"/>
            <a:ext cx="1463040" cy="475488"/>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次の事業</a:t>
            </a:r>
            <a:endParaRPr lang="ja-JP" sz="1500" dirty="0"/>
          </a:p>
        </p:txBody>
      </p:sp>
      <p:sp>
        <p:nvSpPr>
          <p:cNvPr id="28" name="Text 25"/>
          <p:cNvSpPr txBox="1"/>
          <p:nvPr/>
        </p:nvSpPr>
        <p:spPr>
          <a:xfrm>
            <a:off x="10287000" y="4160520"/>
            <a:ext cx="1188720" cy="475488"/>
          </a:xfrm>
          <a:prstGeom prst="rect">
            <a:avLst/>
          </a:prstGeom>
          <a:noFill/>
          <a:ln/>
        </p:spPr>
        <p:txBody>
          <a:bodyPr wrap="square" lIns="0" tIns="0" rIns="0" bIns="0" rtlCol="0" anchor="ctr"/>
          <a:lstStyle/>
          <a:p>
            <a:pPr algn="r" indent="0" marL="0">
              <a:buNone/>
            </a:pPr>
            <a:r>
              <a:rPr lang="en-US" altLang="en-US" sz="1000" b="1" dirty="0">
                <a:solidFill>
                  <a:srgbClr val="C9A96E"/>
                </a:solidFill>
                <a:latin typeface="Arial" pitchFamily="34" charset="0"/>
                <a:ea typeface="Arial" charset="-128"/>
                <a:cs typeface="Arial" pitchFamily="34" charset="-120"/>
              </a:rPr>
              <a:t>NEW BUSINESS</a:t>
            </a:r>
            <a:endParaRPr lang="en-US" sz="1000" dirty="0"/>
          </a:p>
        </p:txBody>
      </p:sp>
      <p:sp>
        <p:nvSpPr>
          <p:cNvPr id="29" name="Shape 26"/>
          <p:cNvSpPr/>
          <p:nvPr/>
        </p:nvSpPr>
        <p:spPr>
          <a:xfrm>
            <a:off x="8869680" y="4773168"/>
            <a:ext cx="2770632" cy="475488"/>
          </a:xfrm>
          <a:prstGeom prst="rect">
            <a:avLst/>
          </a:prstGeom>
          <a:solidFill>
            <a:srgbClr val="13243F"/>
          </a:solidFill>
          <a:ln/>
        </p:spPr>
      </p:sp>
      <p:sp>
        <p:nvSpPr>
          <p:cNvPr id="30" name="Text 27"/>
          <p:cNvSpPr txBox="1"/>
          <p:nvPr/>
        </p:nvSpPr>
        <p:spPr>
          <a:xfrm>
            <a:off x="9052560" y="4773168"/>
            <a:ext cx="1463040" cy="475488"/>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次の会社</a:t>
            </a:r>
            <a:endParaRPr lang="ja-JP" sz="1500" dirty="0"/>
          </a:p>
        </p:txBody>
      </p:sp>
      <p:sp>
        <p:nvSpPr>
          <p:cNvPr id="31" name="Text 28"/>
          <p:cNvSpPr txBox="1"/>
          <p:nvPr/>
        </p:nvSpPr>
        <p:spPr>
          <a:xfrm>
            <a:off x="10287000" y="4773168"/>
            <a:ext cx="1188720" cy="475488"/>
          </a:xfrm>
          <a:prstGeom prst="rect">
            <a:avLst/>
          </a:prstGeom>
          <a:noFill/>
          <a:ln/>
        </p:spPr>
        <p:txBody>
          <a:bodyPr wrap="square" lIns="0" tIns="0" rIns="0" bIns="0" rtlCol="0" anchor="ctr"/>
          <a:lstStyle/>
          <a:p>
            <a:pPr algn="r" indent="0" marL="0">
              <a:buNone/>
            </a:pPr>
            <a:r>
              <a:rPr lang="en-US" altLang="en-US" sz="1000" b="1" dirty="0">
                <a:solidFill>
                  <a:srgbClr val="C9A96E"/>
                </a:solidFill>
                <a:latin typeface="Arial" pitchFamily="34" charset="0"/>
                <a:ea typeface="Arial" charset="-128"/>
                <a:cs typeface="Arial" pitchFamily="34" charset="-120"/>
              </a:rPr>
              <a:t>M&amp;A</a:t>
            </a:r>
            <a:endParaRPr lang="en-US" sz="1000" dirty="0"/>
          </a:p>
        </p:txBody>
      </p:sp>
      <p:sp>
        <p:nvSpPr>
          <p:cNvPr id="32" name="Shape 29"/>
          <p:cNvSpPr/>
          <p:nvPr/>
        </p:nvSpPr>
        <p:spPr>
          <a:xfrm>
            <a:off x="8869680" y="5385816"/>
            <a:ext cx="2770632" cy="475488"/>
          </a:xfrm>
          <a:prstGeom prst="rect">
            <a:avLst/>
          </a:prstGeom>
          <a:solidFill>
            <a:srgbClr val="13243F"/>
          </a:solidFill>
          <a:ln/>
        </p:spPr>
      </p:sp>
      <p:sp>
        <p:nvSpPr>
          <p:cNvPr id="33" name="Text 30"/>
          <p:cNvSpPr txBox="1"/>
          <p:nvPr/>
        </p:nvSpPr>
        <p:spPr>
          <a:xfrm>
            <a:off x="9052560" y="5385816"/>
            <a:ext cx="1463040" cy="475488"/>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次の経営者</a:t>
            </a:r>
            <a:endParaRPr lang="ja-JP" sz="1500" dirty="0"/>
          </a:p>
        </p:txBody>
      </p:sp>
      <p:sp>
        <p:nvSpPr>
          <p:cNvPr id="34" name="Text 31"/>
          <p:cNvSpPr txBox="1"/>
          <p:nvPr/>
        </p:nvSpPr>
        <p:spPr>
          <a:xfrm>
            <a:off x="10287000" y="5385816"/>
            <a:ext cx="1188720" cy="475488"/>
          </a:xfrm>
          <a:prstGeom prst="rect">
            <a:avLst/>
          </a:prstGeom>
          <a:noFill/>
          <a:ln/>
        </p:spPr>
        <p:txBody>
          <a:bodyPr wrap="square" lIns="0" tIns="0" rIns="0" bIns="0" rtlCol="0" anchor="ctr"/>
          <a:lstStyle/>
          <a:p>
            <a:pPr algn="r" indent="0" marL="0">
              <a:buNone/>
            </a:pPr>
            <a:r>
              <a:rPr lang="en-US" altLang="en-US" sz="1000" b="1" dirty="0">
                <a:solidFill>
                  <a:srgbClr val="C9A96E"/>
                </a:solidFill>
                <a:latin typeface="Arial" pitchFamily="34" charset="0"/>
                <a:ea typeface="Arial" charset="-128"/>
                <a:cs typeface="Arial" pitchFamily="34" charset="-120"/>
              </a:rPr>
              <a:t>LEADERS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03</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LONG TERM NORTH STAR</a:t>
            </a:r>
            <a:endParaRPr lang="en-US" sz="1100" dirty="0"/>
          </a:p>
        </p:txBody>
      </p:sp>
      <p:sp>
        <p:nvSpPr>
          <p:cNvPr id="3" name="Text 1"/>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第Ⅰ章　理念と長期目標</a:t>
            </a:r>
            <a:endParaRPr lang="ja-JP" sz="1000" dirty="0"/>
          </a:p>
        </p:txBody>
      </p:sp>
      <p:sp>
        <p:nvSpPr>
          <p:cNvPr id="4" name="Text 2"/>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03</a:t>
            </a:r>
            <a:endParaRPr lang="en-US" sz="1000" dirty="0"/>
          </a:p>
        </p:txBody>
      </p:sp>
      <p:sp>
        <p:nvSpPr>
          <p:cNvPr id="6" name="Text 3"/>
          <p:cNvSpPr txBox="1"/>
          <p:nvPr/>
        </p:nvSpPr>
        <p:spPr>
          <a:xfrm>
            <a:off x="548640" y="822960"/>
            <a:ext cx="8229600" cy="1097280"/>
          </a:xfrm>
          <a:prstGeom prst="rect">
            <a:avLst/>
          </a:prstGeom>
          <a:noFill/>
          <a:ln/>
        </p:spPr>
        <p:txBody>
          <a:bodyPr wrap="square" lIns="0" tIns="0" rIns="0" bIns="0" rtlCol="0" anchor="ctr"/>
          <a:lstStyle/>
          <a:p>
            <a:pPr algn="l" indent="0" marL="0">
              <a:buNone/>
            </a:pPr>
            <a:r>
              <a:rPr lang="en-US" altLang="en-US" sz="6600" b="1" spc="300" kern="0" dirty="0">
                <a:solidFill>
                  <a:srgbClr val="FFFFFF"/>
                </a:solidFill>
                <a:latin typeface="Cambria" pitchFamily="34" charset="0"/>
                <a:ea typeface="Cambria" charset="-128"/>
                <a:cs typeface="Cambria" pitchFamily="34" charset="-120"/>
              </a:rPr>
              <a:t>GROUP </a:t>
            </a:r>
            <a:pPr algn="l" indent="0" marL="0">
              <a:buNone/>
            </a:pPr>
            <a:r>
              <a:rPr lang="en-US" altLang="en-US" sz="6600" b="1" spc="300" kern="0" dirty="0">
                <a:solidFill>
                  <a:srgbClr val="C9A96E"/>
                </a:solidFill>
                <a:latin typeface="Cambria" pitchFamily="34" charset="0"/>
                <a:ea typeface="Cambria" charset="-128"/>
                <a:cs typeface="Cambria" pitchFamily="34" charset="-120"/>
              </a:rPr>
              <a:t>IPO</a:t>
            </a:r>
            <a:endParaRPr lang="en-US" sz="6600" dirty="0"/>
          </a:p>
        </p:txBody>
      </p:sp>
      <p:sp>
        <p:nvSpPr>
          <p:cNvPr id="7" name="Text 4"/>
          <p:cNvSpPr txBox="1"/>
          <p:nvPr/>
        </p:nvSpPr>
        <p:spPr>
          <a:xfrm>
            <a:off x="548640" y="1975104"/>
            <a:ext cx="11094415" cy="365760"/>
          </a:xfrm>
          <a:prstGeom prst="rect">
            <a:avLst/>
          </a:prstGeom>
          <a:noFill/>
          <a:ln/>
        </p:spPr>
        <p:txBody>
          <a:bodyPr wrap="square" lIns="0" tIns="0" rIns="0" bIns="0" rtlCol="0" anchor="ctr"/>
          <a:lstStyle/>
          <a:p>
            <a:pPr algn="l" indent="0" marL="0">
              <a:buNone/>
            </a:pPr>
            <a:r>
              <a:rPr lang="ja-JP" altLang="en-US" sz="1600" dirty="0">
                <a:solidFill>
                  <a:srgbClr val="D5DBE3"/>
                </a:solidFill>
                <a:latin typeface="Yu Gothic Medium" pitchFamily="34" charset="0"/>
                <a:ea typeface="Yu Gothic Medium" charset="-128"/>
                <a:cs typeface="Yu Gothic Medium" pitchFamily="34" charset="-120"/>
              </a:rPr>
              <a:t>長期目標はROOTIVE GROUPの上場。上場は目的ではなく、強い企業グループを作った結果である。</a:t>
            </a:r>
            <a:endParaRPr lang="ja-JP" sz="1600" dirty="0"/>
          </a:p>
        </p:txBody>
      </p:sp>
      <p:sp>
        <p:nvSpPr>
          <p:cNvPr id="8" name="Shape 5"/>
          <p:cNvSpPr/>
          <p:nvPr/>
        </p:nvSpPr>
        <p:spPr>
          <a:xfrm>
            <a:off x="1280160" y="2816352"/>
            <a:ext cx="3200400" cy="0"/>
          </a:xfrm>
          <a:prstGeom prst="line">
            <a:avLst/>
          </a:prstGeom>
          <a:noFill/>
          <a:ln w="9525">
            <a:solidFill>
              <a:srgbClr val="C9A96E"/>
            </a:solidFill>
            <a:prstDash val="solid"/>
          </a:ln>
        </p:spPr>
      </p:sp>
      <p:sp>
        <p:nvSpPr>
          <p:cNvPr id="9" name="Shape 6"/>
          <p:cNvSpPr/>
          <p:nvPr/>
        </p:nvSpPr>
        <p:spPr>
          <a:xfrm>
            <a:off x="1280160" y="2816352"/>
            <a:ext cx="0" cy="73152"/>
          </a:xfrm>
          <a:prstGeom prst="line">
            <a:avLst/>
          </a:prstGeom>
          <a:noFill/>
          <a:ln w="9525">
            <a:solidFill>
              <a:srgbClr val="C9A96E"/>
            </a:solidFill>
            <a:prstDash val="solid"/>
          </a:ln>
        </p:spPr>
      </p:sp>
      <p:sp>
        <p:nvSpPr>
          <p:cNvPr id="10" name="Shape 7"/>
          <p:cNvSpPr/>
          <p:nvPr/>
        </p:nvSpPr>
        <p:spPr>
          <a:xfrm>
            <a:off x="4480560" y="2816352"/>
            <a:ext cx="0" cy="73152"/>
          </a:xfrm>
          <a:prstGeom prst="line">
            <a:avLst/>
          </a:prstGeom>
          <a:noFill/>
          <a:ln w="9525">
            <a:solidFill>
              <a:srgbClr val="C9A96E"/>
            </a:solidFill>
            <a:prstDash val="solid"/>
          </a:ln>
        </p:spPr>
      </p:sp>
      <p:sp>
        <p:nvSpPr>
          <p:cNvPr id="11" name="Text 8"/>
          <p:cNvSpPr txBox="1"/>
          <p:nvPr/>
        </p:nvSpPr>
        <p:spPr>
          <a:xfrm>
            <a:off x="777240" y="2505456"/>
            <a:ext cx="4206240" cy="274320"/>
          </a:xfrm>
          <a:prstGeom prst="rect">
            <a:avLst/>
          </a:prstGeom>
          <a:noFill/>
          <a:ln/>
        </p:spPr>
        <p:txBody>
          <a:bodyPr wrap="square" lIns="0" tIns="0" rIns="0" bIns="0" rtlCol="0" anchor="ctr"/>
          <a:lstStyle/>
          <a:p>
            <a:pPr algn="ctr" indent="0" marL="0">
              <a:buNone/>
            </a:pPr>
            <a:r>
              <a:rPr lang="ja-JP" altLang="en-US" sz="1200" b="1" dirty="0">
                <a:solidFill>
                  <a:srgbClr val="C9A96E"/>
                </a:solidFill>
                <a:latin typeface="Yu Gothic" pitchFamily="34" charset="0"/>
                <a:ea typeface="Yu Gothic" charset="-128"/>
                <a:cs typeface="Yu Gothic" pitchFamily="34" charset="-120"/>
              </a:rPr>
              <a:t>第一期中期経営計画（本計画）2026–2031</a:t>
            </a:r>
            <a:endParaRPr lang="ja-JP" sz="1200" dirty="0"/>
          </a:p>
        </p:txBody>
      </p:sp>
      <p:sp>
        <p:nvSpPr>
          <p:cNvPr id="12" name="Shape 9"/>
          <p:cNvSpPr/>
          <p:nvPr/>
        </p:nvSpPr>
        <p:spPr>
          <a:xfrm>
            <a:off x="6080760" y="2816352"/>
            <a:ext cx="4800600" cy="0"/>
          </a:xfrm>
          <a:prstGeom prst="line">
            <a:avLst/>
          </a:prstGeom>
          <a:noFill/>
          <a:ln w="9525">
            <a:solidFill>
              <a:srgbClr val="A7B0BE"/>
            </a:solidFill>
            <a:prstDash val="sysDash"/>
          </a:ln>
        </p:spPr>
      </p:sp>
      <p:sp>
        <p:nvSpPr>
          <p:cNvPr id="13" name="Shape 10"/>
          <p:cNvSpPr/>
          <p:nvPr/>
        </p:nvSpPr>
        <p:spPr>
          <a:xfrm>
            <a:off x="6080760" y="2816352"/>
            <a:ext cx="0" cy="73152"/>
          </a:xfrm>
          <a:prstGeom prst="line">
            <a:avLst/>
          </a:prstGeom>
          <a:noFill/>
          <a:ln w="9525">
            <a:solidFill>
              <a:srgbClr val="A7B0BE"/>
            </a:solidFill>
            <a:prstDash val="solid"/>
          </a:ln>
        </p:spPr>
      </p:sp>
      <p:sp>
        <p:nvSpPr>
          <p:cNvPr id="14" name="Shape 11"/>
          <p:cNvSpPr/>
          <p:nvPr/>
        </p:nvSpPr>
        <p:spPr>
          <a:xfrm>
            <a:off x="10881360" y="2816352"/>
            <a:ext cx="0" cy="73152"/>
          </a:xfrm>
          <a:prstGeom prst="line">
            <a:avLst/>
          </a:prstGeom>
          <a:noFill/>
          <a:ln w="9525">
            <a:solidFill>
              <a:srgbClr val="A7B0BE"/>
            </a:solidFill>
            <a:prstDash val="solid"/>
          </a:ln>
        </p:spPr>
      </p:sp>
      <p:sp>
        <p:nvSpPr>
          <p:cNvPr id="15" name="Text 12"/>
          <p:cNvSpPr txBox="1"/>
          <p:nvPr/>
        </p:nvSpPr>
        <p:spPr>
          <a:xfrm>
            <a:off x="6199632" y="2505456"/>
            <a:ext cx="4572000" cy="274320"/>
          </a:xfrm>
          <a:prstGeom prst="rect">
            <a:avLst/>
          </a:prstGeom>
          <a:noFill/>
          <a:ln/>
        </p:spPr>
        <p:txBody>
          <a:bodyPr wrap="square" lIns="0" tIns="0" rIns="0" bIns="0" rtlCol="0" anchor="ctr"/>
          <a:lstStyle/>
          <a:p>
            <a:pPr algn="ctr" indent="0" marL="0">
              <a:buNone/>
            </a:pPr>
            <a:r>
              <a:rPr lang="ja-JP" altLang="en-US" sz="1200" dirty="0">
                <a:solidFill>
                  <a:srgbClr val="A7B0BE"/>
                </a:solidFill>
                <a:latin typeface="Yu Gothic Medium" pitchFamily="34" charset="0"/>
                <a:ea typeface="Yu Gothic Medium" charset="-128"/>
                <a:cs typeface="Yu Gothic Medium" pitchFamily="34" charset="-120"/>
              </a:rPr>
              <a:t>2031年以降 ─ 時期は現段階では固定しない</a:t>
            </a:r>
            <a:endParaRPr lang="ja-JP" sz="1200" dirty="0"/>
          </a:p>
        </p:txBody>
      </p:sp>
      <p:sp>
        <p:nvSpPr>
          <p:cNvPr id="16" name="Shape 13"/>
          <p:cNvSpPr/>
          <p:nvPr/>
        </p:nvSpPr>
        <p:spPr>
          <a:xfrm>
            <a:off x="1280160" y="3456432"/>
            <a:ext cx="3200400" cy="0"/>
          </a:xfrm>
          <a:prstGeom prst="line">
            <a:avLst/>
          </a:prstGeom>
          <a:noFill/>
          <a:ln w="25400">
            <a:solidFill>
              <a:srgbClr val="C9A96E"/>
            </a:solidFill>
            <a:prstDash val="solid"/>
          </a:ln>
        </p:spPr>
      </p:sp>
      <p:sp>
        <p:nvSpPr>
          <p:cNvPr id="17" name="Shape 14"/>
          <p:cNvSpPr/>
          <p:nvPr/>
        </p:nvSpPr>
        <p:spPr>
          <a:xfrm>
            <a:off x="4480560" y="3456432"/>
            <a:ext cx="6400800" cy="0"/>
          </a:xfrm>
          <a:prstGeom prst="line">
            <a:avLst/>
          </a:prstGeom>
          <a:noFill/>
          <a:ln w="15875">
            <a:solidFill>
              <a:srgbClr val="A7B0BE"/>
            </a:solidFill>
            <a:prstDash val="sysDash"/>
          </a:ln>
        </p:spPr>
      </p:sp>
      <p:sp>
        <p:nvSpPr>
          <p:cNvPr id="18" name="Text 15"/>
          <p:cNvSpPr txBox="1"/>
          <p:nvPr/>
        </p:nvSpPr>
        <p:spPr>
          <a:xfrm>
            <a:off x="640080" y="2944368"/>
            <a:ext cx="1280160" cy="347472"/>
          </a:xfrm>
          <a:prstGeom prst="rect">
            <a:avLst/>
          </a:prstGeom>
          <a:noFill/>
          <a:ln/>
        </p:spPr>
        <p:txBody>
          <a:bodyPr wrap="square" lIns="0" tIns="0" rIns="0" bIns="0" rtlCol="0" anchor="ctr"/>
          <a:lstStyle/>
          <a:p>
            <a:pPr algn="ctr" indent="0" marL="0">
              <a:buNone/>
            </a:pPr>
            <a:r>
              <a:rPr lang="en-US" altLang="en-US" sz="2000" b="1" dirty="0">
                <a:solidFill>
                  <a:srgbClr val="FFFFFF"/>
                </a:solidFill>
                <a:latin typeface="Cambria" pitchFamily="34" charset="0"/>
                <a:ea typeface="Cambria" charset="-128"/>
                <a:cs typeface="Cambria" pitchFamily="34" charset="-120"/>
              </a:rPr>
              <a:t>2026</a:t>
            </a:r>
            <a:endParaRPr lang="en-US" sz="2000" dirty="0"/>
          </a:p>
        </p:txBody>
      </p:sp>
      <p:sp>
        <p:nvSpPr>
          <p:cNvPr id="19" name="Text 16"/>
          <p:cNvSpPr txBox="1"/>
          <p:nvPr/>
        </p:nvSpPr>
        <p:spPr>
          <a:xfrm>
            <a:off x="2240280" y="2944368"/>
            <a:ext cx="1280160" cy="347472"/>
          </a:xfrm>
          <a:prstGeom prst="rect">
            <a:avLst/>
          </a:prstGeom>
          <a:noFill/>
          <a:ln/>
        </p:spPr>
        <p:txBody>
          <a:bodyPr wrap="square" lIns="0" tIns="0" rIns="0" bIns="0" rtlCol="0" anchor="ctr"/>
          <a:lstStyle/>
          <a:p>
            <a:pPr algn="ctr" indent="0" marL="0">
              <a:buNone/>
            </a:pPr>
            <a:r>
              <a:rPr lang="en-US" altLang="en-US" sz="2000" b="1" dirty="0">
                <a:solidFill>
                  <a:srgbClr val="FFFFFF"/>
                </a:solidFill>
                <a:latin typeface="Cambria" pitchFamily="34" charset="0"/>
                <a:ea typeface="Cambria" charset="-128"/>
                <a:cs typeface="Cambria" pitchFamily="34" charset="-120"/>
              </a:rPr>
              <a:t>2028</a:t>
            </a:r>
            <a:endParaRPr lang="en-US" sz="2000" dirty="0"/>
          </a:p>
        </p:txBody>
      </p:sp>
      <p:sp>
        <p:nvSpPr>
          <p:cNvPr id="20" name="Text 17"/>
          <p:cNvSpPr txBox="1"/>
          <p:nvPr/>
        </p:nvSpPr>
        <p:spPr>
          <a:xfrm>
            <a:off x="3840480" y="2944368"/>
            <a:ext cx="1280160" cy="347472"/>
          </a:xfrm>
          <a:prstGeom prst="rect">
            <a:avLst/>
          </a:prstGeom>
          <a:noFill/>
          <a:ln/>
        </p:spPr>
        <p:txBody>
          <a:bodyPr wrap="square" lIns="0" tIns="0" rIns="0" bIns="0" rtlCol="0" anchor="ctr"/>
          <a:lstStyle/>
          <a:p>
            <a:pPr algn="ctr" indent="0" marL="0">
              <a:buNone/>
            </a:pPr>
            <a:r>
              <a:rPr lang="en-US" altLang="en-US" sz="2000" b="1" dirty="0">
                <a:solidFill>
                  <a:srgbClr val="C9A96E"/>
                </a:solidFill>
                <a:latin typeface="Cambria" pitchFamily="34" charset="0"/>
                <a:ea typeface="Cambria" charset="-128"/>
                <a:cs typeface="Cambria" pitchFamily="34" charset="-120"/>
              </a:rPr>
              <a:t>2031</a:t>
            </a:r>
            <a:endParaRPr lang="en-US" sz="2000" dirty="0"/>
          </a:p>
        </p:txBody>
      </p:sp>
      <p:sp>
        <p:nvSpPr>
          <p:cNvPr id="21" name="Shape 18"/>
          <p:cNvSpPr/>
          <p:nvPr/>
        </p:nvSpPr>
        <p:spPr>
          <a:xfrm>
            <a:off x="1170432" y="3346704"/>
            <a:ext cx="219456" cy="219456"/>
          </a:xfrm>
          <a:prstGeom prst="ellipse">
            <a:avLst/>
          </a:prstGeom>
          <a:solidFill>
            <a:srgbClr val="C9A96E"/>
          </a:solidFill>
          <a:ln/>
        </p:spPr>
      </p:sp>
      <p:sp>
        <p:nvSpPr>
          <p:cNvPr id="22" name="Shape 19"/>
          <p:cNvSpPr/>
          <p:nvPr/>
        </p:nvSpPr>
        <p:spPr>
          <a:xfrm>
            <a:off x="2770632" y="3346704"/>
            <a:ext cx="219456" cy="219456"/>
          </a:xfrm>
          <a:prstGeom prst="ellipse">
            <a:avLst/>
          </a:prstGeom>
          <a:solidFill>
            <a:srgbClr val="C9A96E"/>
          </a:solidFill>
          <a:ln/>
        </p:spPr>
      </p:sp>
      <p:sp>
        <p:nvSpPr>
          <p:cNvPr id="23" name="Shape 20"/>
          <p:cNvSpPr/>
          <p:nvPr/>
        </p:nvSpPr>
        <p:spPr>
          <a:xfrm>
            <a:off x="4370832" y="3346704"/>
            <a:ext cx="219456" cy="219456"/>
          </a:xfrm>
          <a:prstGeom prst="ellipse">
            <a:avLst/>
          </a:prstGeom>
          <a:solidFill>
            <a:srgbClr val="C9A96E"/>
          </a:solidFill>
          <a:ln/>
        </p:spPr>
      </p:sp>
      <p:sp>
        <p:nvSpPr>
          <p:cNvPr id="24" name="Shape 21"/>
          <p:cNvSpPr/>
          <p:nvPr/>
        </p:nvSpPr>
        <p:spPr>
          <a:xfrm>
            <a:off x="5971032" y="3346704"/>
            <a:ext cx="219456" cy="219456"/>
          </a:xfrm>
          <a:prstGeom prst="ellipse">
            <a:avLst/>
          </a:prstGeom>
          <a:solidFill>
            <a:srgbClr val="0B1A2E"/>
          </a:solidFill>
          <a:ln w="15875">
            <a:solidFill>
              <a:srgbClr val="A7B0BE"/>
            </a:solidFill>
            <a:prstDash val="solid"/>
          </a:ln>
        </p:spPr>
      </p:sp>
      <p:sp>
        <p:nvSpPr>
          <p:cNvPr id="25" name="Shape 22"/>
          <p:cNvSpPr/>
          <p:nvPr/>
        </p:nvSpPr>
        <p:spPr>
          <a:xfrm>
            <a:off x="7571232" y="3346704"/>
            <a:ext cx="219456" cy="219456"/>
          </a:xfrm>
          <a:prstGeom prst="ellipse">
            <a:avLst/>
          </a:prstGeom>
          <a:solidFill>
            <a:srgbClr val="0B1A2E"/>
          </a:solidFill>
          <a:ln w="15875">
            <a:solidFill>
              <a:srgbClr val="A7B0BE"/>
            </a:solidFill>
            <a:prstDash val="solid"/>
          </a:ln>
        </p:spPr>
      </p:sp>
      <p:sp>
        <p:nvSpPr>
          <p:cNvPr id="26" name="Shape 23"/>
          <p:cNvSpPr/>
          <p:nvPr/>
        </p:nvSpPr>
        <p:spPr>
          <a:xfrm>
            <a:off x="9171432" y="3346704"/>
            <a:ext cx="219456" cy="219456"/>
          </a:xfrm>
          <a:prstGeom prst="ellipse">
            <a:avLst/>
          </a:prstGeom>
          <a:solidFill>
            <a:srgbClr val="0B1A2E"/>
          </a:solidFill>
          <a:ln w="15875">
            <a:solidFill>
              <a:srgbClr val="A7B0BE"/>
            </a:solidFill>
            <a:prstDash val="solid"/>
          </a:ln>
        </p:spPr>
      </p:sp>
      <p:sp>
        <p:nvSpPr>
          <p:cNvPr id="27" name="Shape 24"/>
          <p:cNvSpPr/>
          <p:nvPr/>
        </p:nvSpPr>
        <p:spPr>
          <a:xfrm>
            <a:off x="10689336" y="3264408"/>
            <a:ext cx="384048" cy="384048"/>
          </a:xfrm>
          <a:prstGeom prst="ellipse">
            <a:avLst/>
          </a:prstGeom>
          <a:solidFill>
            <a:srgbClr val="0B1A2E"/>
          </a:solidFill>
          <a:ln w="25400">
            <a:solidFill>
              <a:srgbClr val="C9A96E"/>
            </a:solidFill>
            <a:prstDash val="solid"/>
          </a:ln>
        </p:spPr>
      </p:sp>
      <p:sp>
        <p:nvSpPr>
          <p:cNvPr id="28" name="Shape 25"/>
          <p:cNvSpPr/>
          <p:nvPr/>
        </p:nvSpPr>
        <p:spPr>
          <a:xfrm>
            <a:off x="10808208" y="3383280"/>
            <a:ext cx="146304" cy="146304"/>
          </a:xfrm>
          <a:prstGeom prst="ellipse">
            <a:avLst/>
          </a:prstGeom>
          <a:solidFill>
            <a:srgbClr val="C9A96E"/>
          </a:solidFill>
          <a:ln/>
        </p:spPr>
      </p:sp>
      <p:sp>
        <p:nvSpPr>
          <p:cNvPr id="29" name="Text 26"/>
          <p:cNvSpPr txBox="1"/>
          <p:nvPr/>
        </p:nvSpPr>
        <p:spPr>
          <a:xfrm>
            <a:off x="5486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C9A96E"/>
                </a:solidFill>
                <a:latin typeface="Arial" pitchFamily="34" charset="0"/>
                <a:ea typeface="Arial" charset="-128"/>
                <a:cs typeface="Arial" pitchFamily="34" charset="-120"/>
              </a:rPr>
              <a:t>ROOTIVE</a:t>
            </a:r>
            <a:endParaRPr lang="en-US" sz="1200" dirty="0"/>
          </a:p>
        </p:txBody>
      </p:sp>
      <p:sp>
        <p:nvSpPr>
          <p:cNvPr id="30" name="Text 27"/>
          <p:cNvSpPr txBox="1"/>
          <p:nvPr/>
        </p:nvSpPr>
        <p:spPr>
          <a:xfrm>
            <a:off x="5486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FFFFFF"/>
                </a:solidFill>
                <a:latin typeface="Yu Gothic Medium" pitchFamily="34" charset="0"/>
                <a:ea typeface="Yu Gothic Medium" charset="-128"/>
                <a:cs typeface="Yu Gothic Medium" pitchFamily="34" charset="-120"/>
              </a:rPr>
              <a:t>経営基盤構築</a:t>
            </a:r>
            <a:endParaRPr lang="ja-JP" sz="1300" dirty="0"/>
          </a:p>
        </p:txBody>
      </p:sp>
      <p:sp>
        <p:nvSpPr>
          <p:cNvPr id="31" name="Text 28"/>
          <p:cNvSpPr txBox="1"/>
          <p:nvPr/>
        </p:nvSpPr>
        <p:spPr>
          <a:xfrm>
            <a:off x="21488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C9A96E"/>
                </a:solidFill>
                <a:latin typeface="Arial" pitchFamily="34" charset="0"/>
                <a:ea typeface="Arial" charset="-128"/>
                <a:cs typeface="Arial" pitchFamily="34" charset="-120"/>
              </a:rPr>
              <a:t>PARENT CO.</a:t>
            </a:r>
            <a:endParaRPr lang="en-US" sz="1200" dirty="0"/>
          </a:p>
        </p:txBody>
      </p:sp>
      <p:sp>
        <p:nvSpPr>
          <p:cNvPr id="32" name="Text 29"/>
          <p:cNvSpPr txBox="1"/>
          <p:nvPr/>
        </p:nvSpPr>
        <p:spPr>
          <a:xfrm>
            <a:off x="21488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FFFFFF"/>
                </a:solidFill>
                <a:latin typeface="Yu Gothic Medium" pitchFamily="34" charset="0"/>
                <a:ea typeface="Yu Gothic Medium" charset="-128"/>
                <a:cs typeface="Yu Gothic Medium" pitchFamily="34" charset="-120"/>
              </a:rPr>
              <a:t>親会社設立</a:t>
            </a:r>
            <a:endParaRPr lang="ja-JP" sz="1300" dirty="0"/>
          </a:p>
        </p:txBody>
      </p:sp>
      <p:sp>
        <p:nvSpPr>
          <p:cNvPr id="33" name="Text 30"/>
          <p:cNvSpPr txBox="1"/>
          <p:nvPr/>
        </p:nvSpPr>
        <p:spPr>
          <a:xfrm>
            <a:off x="37490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C9A96E"/>
                </a:solidFill>
                <a:latin typeface="Arial" pitchFamily="34" charset="0"/>
                <a:ea typeface="Arial" charset="-128"/>
                <a:cs typeface="Arial" pitchFamily="34" charset="-120"/>
              </a:rPr>
              <a:t>GROUP ¥3.0B</a:t>
            </a:r>
            <a:endParaRPr lang="en-US" sz="1200" dirty="0"/>
          </a:p>
        </p:txBody>
      </p:sp>
      <p:sp>
        <p:nvSpPr>
          <p:cNvPr id="34" name="Text 31"/>
          <p:cNvSpPr txBox="1"/>
          <p:nvPr/>
        </p:nvSpPr>
        <p:spPr>
          <a:xfrm>
            <a:off x="37490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FFFFFF"/>
                </a:solidFill>
                <a:latin typeface="Yu Gothic Medium" pitchFamily="34" charset="0"/>
                <a:ea typeface="Yu Gothic Medium" charset="-128"/>
                <a:cs typeface="Yu Gothic Medium" pitchFamily="34" charset="-120"/>
              </a:rPr>
              <a:t>グループ連結</a:t>
            </a:r>
            <a:endParaRPr lang="ja-JP" sz="1300" dirty="0"/>
          </a:p>
          <a:p>
            <a:pPr algn="ctr" indent="0" marL="0">
              <a:lnSpc>
                <a:spcPts val="1900"/>
              </a:lnSpc>
              <a:buNone/>
            </a:pPr>
            <a:r>
              <a:rPr lang="ja-JP" altLang="en-US" sz="1300" dirty="0">
                <a:solidFill>
                  <a:srgbClr val="FFFFFF"/>
                </a:solidFill>
                <a:latin typeface="Yu Gothic Medium" pitchFamily="34" charset="0"/>
                <a:ea typeface="Yu Gothic Medium" charset="-128"/>
                <a:cs typeface="Yu Gothic Medium" pitchFamily="34" charset="-120"/>
              </a:rPr>
              <a:t>売上30億円</a:t>
            </a:r>
            <a:endParaRPr lang="ja-JP" sz="1300" dirty="0"/>
          </a:p>
        </p:txBody>
      </p:sp>
      <p:sp>
        <p:nvSpPr>
          <p:cNvPr id="35" name="Text 32"/>
          <p:cNvSpPr txBox="1"/>
          <p:nvPr/>
        </p:nvSpPr>
        <p:spPr>
          <a:xfrm>
            <a:off x="53492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A7B0BE"/>
                </a:solidFill>
                <a:latin typeface="Arial" pitchFamily="34" charset="0"/>
                <a:ea typeface="Arial" charset="-128"/>
                <a:cs typeface="Arial" pitchFamily="34" charset="-120"/>
              </a:rPr>
              <a:t>¥5.0B</a:t>
            </a:r>
            <a:endParaRPr lang="en-US" sz="1200" dirty="0"/>
          </a:p>
        </p:txBody>
      </p:sp>
      <p:sp>
        <p:nvSpPr>
          <p:cNvPr id="36" name="Text 33"/>
          <p:cNvSpPr txBox="1"/>
          <p:nvPr/>
        </p:nvSpPr>
        <p:spPr>
          <a:xfrm>
            <a:off x="53492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D5DBE3"/>
                </a:solidFill>
                <a:latin typeface="Yu Gothic Medium" pitchFamily="34" charset="0"/>
                <a:ea typeface="Yu Gothic Medium" charset="-128"/>
                <a:cs typeface="Yu Gothic Medium" pitchFamily="34" charset="-120"/>
              </a:rPr>
              <a:t>50億円</a:t>
            </a:r>
            <a:endParaRPr lang="ja-JP" sz="1300" dirty="0"/>
          </a:p>
        </p:txBody>
      </p:sp>
      <p:sp>
        <p:nvSpPr>
          <p:cNvPr id="37" name="Text 34"/>
          <p:cNvSpPr txBox="1"/>
          <p:nvPr/>
        </p:nvSpPr>
        <p:spPr>
          <a:xfrm>
            <a:off x="69494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A7B0BE"/>
                </a:solidFill>
                <a:latin typeface="Arial" pitchFamily="34" charset="0"/>
                <a:ea typeface="Arial" charset="-128"/>
                <a:cs typeface="Arial" pitchFamily="34" charset="-120"/>
              </a:rPr>
              <a:t>¥10.0B</a:t>
            </a:r>
            <a:endParaRPr lang="en-US" sz="1200" dirty="0"/>
          </a:p>
        </p:txBody>
      </p:sp>
      <p:sp>
        <p:nvSpPr>
          <p:cNvPr id="38" name="Text 35"/>
          <p:cNvSpPr txBox="1"/>
          <p:nvPr/>
        </p:nvSpPr>
        <p:spPr>
          <a:xfrm>
            <a:off x="69494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D5DBE3"/>
                </a:solidFill>
                <a:latin typeface="Yu Gothic Medium" pitchFamily="34" charset="0"/>
                <a:ea typeface="Yu Gothic Medium" charset="-128"/>
                <a:cs typeface="Yu Gothic Medium" pitchFamily="34" charset="-120"/>
              </a:rPr>
              <a:t>100億円</a:t>
            </a:r>
            <a:endParaRPr lang="ja-JP" sz="1300" dirty="0"/>
          </a:p>
        </p:txBody>
      </p:sp>
      <p:sp>
        <p:nvSpPr>
          <p:cNvPr id="39" name="Text 36"/>
          <p:cNvSpPr txBox="1"/>
          <p:nvPr/>
        </p:nvSpPr>
        <p:spPr>
          <a:xfrm>
            <a:off x="85496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A7B0BE"/>
                </a:solidFill>
                <a:latin typeface="Arial" pitchFamily="34" charset="0"/>
                <a:ea typeface="Arial" charset="-128"/>
                <a:cs typeface="Arial" pitchFamily="34" charset="-120"/>
              </a:rPr>
              <a:t>IPO READY</a:t>
            </a:r>
            <a:endParaRPr lang="en-US" sz="1200" dirty="0"/>
          </a:p>
        </p:txBody>
      </p:sp>
      <p:sp>
        <p:nvSpPr>
          <p:cNvPr id="40" name="Text 37"/>
          <p:cNvSpPr txBox="1"/>
          <p:nvPr/>
        </p:nvSpPr>
        <p:spPr>
          <a:xfrm>
            <a:off x="85496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D5DBE3"/>
                </a:solidFill>
                <a:latin typeface="Yu Gothic Medium" pitchFamily="34" charset="0"/>
                <a:ea typeface="Yu Gothic Medium" charset="-128"/>
                <a:cs typeface="Yu Gothic Medium" pitchFamily="34" charset="-120"/>
              </a:rPr>
              <a:t>上場できる</a:t>
            </a:r>
            <a:endParaRPr lang="ja-JP" sz="1300" dirty="0"/>
          </a:p>
          <a:p>
            <a:pPr algn="ctr" indent="0" marL="0">
              <a:lnSpc>
                <a:spcPts val="1900"/>
              </a:lnSpc>
              <a:buNone/>
            </a:pPr>
            <a:r>
              <a:rPr lang="ja-JP" altLang="en-US" sz="1300" dirty="0">
                <a:solidFill>
                  <a:srgbClr val="D5DBE3"/>
                </a:solidFill>
                <a:latin typeface="Yu Gothic Medium" pitchFamily="34" charset="0"/>
                <a:ea typeface="Yu Gothic Medium" charset="-128"/>
                <a:cs typeface="Yu Gothic Medium" pitchFamily="34" charset="-120"/>
              </a:rPr>
              <a:t>経営体制</a:t>
            </a:r>
            <a:endParaRPr lang="ja-JP" sz="1300" dirty="0"/>
          </a:p>
        </p:txBody>
      </p:sp>
      <p:sp>
        <p:nvSpPr>
          <p:cNvPr id="41" name="Text 38"/>
          <p:cNvSpPr txBox="1"/>
          <p:nvPr/>
        </p:nvSpPr>
        <p:spPr>
          <a:xfrm>
            <a:off x="10149840" y="3694176"/>
            <a:ext cx="1463040" cy="256032"/>
          </a:xfrm>
          <a:prstGeom prst="rect">
            <a:avLst/>
          </a:prstGeom>
          <a:noFill/>
          <a:ln/>
        </p:spPr>
        <p:txBody>
          <a:bodyPr wrap="square" lIns="0" tIns="0" rIns="0" bIns="0" rtlCol="0" anchor="ctr"/>
          <a:lstStyle/>
          <a:p>
            <a:pPr algn="ctr" indent="0" marL="0">
              <a:buNone/>
            </a:pPr>
            <a:r>
              <a:rPr lang="en-US" altLang="en-US" sz="1200" b="1" dirty="0">
                <a:solidFill>
                  <a:srgbClr val="C9A96E"/>
                </a:solidFill>
                <a:latin typeface="Arial" pitchFamily="34" charset="0"/>
                <a:ea typeface="Arial" charset="-128"/>
                <a:cs typeface="Arial" pitchFamily="34" charset="-120"/>
              </a:rPr>
              <a:t>IPO</a:t>
            </a:r>
            <a:endParaRPr lang="en-US" sz="1200" dirty="0"/>
          </a:p>
        </p:txBody>
      </p:sp>
      <p:sp>
        <p:nvSpPr>
          <p:cNvPr id="42" name="Text 39"/>
          <p:cNvSpPr txBox="1"/>
          <p:nvPr/>
        </p:nvSpPr>
        <p:spPr>
          <a:xfrm>
            <a:off x="10149840" y="3968496"/>
            <a:ext cx="1463040" cy="530352"/>
          </a:xfrm>
          <a:prstGeom prst="rect">
            <a:avLst/>
          </a:prstGeom>
          <a:noFill/>
          <a:ln/>
        </p:spPr>
        <p:txBody>
          <a:bodyPr wrap="square" lIns="0" tIns="0" rIns="0" bIns="0" rtlCol="0" anchor="t"/>
          <a:lstStyle/>
          <a:p>
            <a:pPr algn="ctr" indent="0" marL="0">
              <a:lnSpc>
                <a:spcPts val="1900"/>
              </a:lnSpc>
              <a:buNone/>
            </a:pPr>
            <a:r>
              <a:rPr lang="ja-JP" altLang="en-US" sz="1300" dirty="0">
                <a:solidFill>
                  <a:srgbClr val="FFFFFF"/>
                </a:solidFill>
                <a:latin typeface="Yu Gothic Medium" pitchFamily="34" charset="0"/>
                <a:ea typeface="Yu Gothic Medium" charset="-128"/>
                <a:cs typeface="Yu Gothic Medium" pitchFamily="34" charset="-120"/>
              </a:rPr>
              <a:t>グループ上場</a:t>
            </a:r>
            <a:endParaRPr lang="ja-JP" sz="1300" dirty="0"/>
          </a:p>
        </p:txBody>
      </p:sp>
      <p:sp>
        <p:nvSpPr>
          <p:cNvPr id="43" name="Text 40"/>
          <p:cNvSpPr txBox="1"/>
          <p:nvPr/>
        </p:nvSpPr>
        <p:spPr>
          <a:xfrm>
            <a:off x="548640" y="4901184"/>
            <a:ext cx="11094415" cy="1005840"/>
          </a:xfrm>
          <a:prstGeom prst="rect">
            <a:avLst/>
          </a:prstGeom>
          <a:noFill/>
          <a:ln/>
        </p:spPr>
        <p:txBody>
          <a:bodyPr wrap="square" lIns="0" tIns="0" rIns="0" bIns="0" rtlCol="0" anchor="t"/>
          <a:lstStyle/>
          <a:p>
            <a:pPr algn="l" indent="0" marL="0">
              <a:lnSpc>
                <a:spcPts val="3800"/>
              </a:lnSpc>
              <a:buNone/>
            </a:pPr>
            <a:r>
              <a:rPr lang="ja-JP" altLang="en-US" sz="2400" dirty="0">
                <a:solidFill>
                  <a:srgbClr val="C9A96E"/>
                </a:solidFill>
                <a:latin typeface="Yu Mincho" pitchFamily="34" charset="0"/>
                <a:ea typeface="Yu Mincho" charset="-128"/>
                <a:cs typeface="Yu Mincho" pitchFamily="34" charset="-120"/>
              </a:rPr>
              <a:t>30億円はゴールではない。</a:t>
            </a:r>
            <a:endParaRPr lang="ja-JP" sz="2400" dirty="0"/>
          </a:p>
          <a:p>
            <a:pPr algn="l" indent="0" marL="0">
              <a:lnSpc>
                <a:spcPts val="3800"/>
              </a:lnSpc>
              <a:buNone/>
            </a:pPr>
            <a:r>
              <a:rPr lang="ja-JP" altLang="en-US" sz="2400" dirty="0">
                <a:solidFill>
                  <a:srgbClr val="FFFFFF"/>
                </a:solidFill>
                <a:latin typeface="Yu Mincho" pitchFamily="34" charset="0"/>
                <a:ea typeface="Yu Mincho" charset="-128"/>
                <a:cs typeface="Yu Mincho" pitchFamily="34" charset="-120"/>
              </a:rPr>
              <a:t>上場できる企業グループを作るための最初の通過点。</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04</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GOAL ARCHITECTURE</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今日の仕事と上場は、一本の線でつながっている。</a:t>
            </a:r>
            <a:endParaRPr lang="ja-JP" sz="2600" dirty="0"/>
          </a:p>
        </p:txBody>
      </p:sp>
      <p:sp>
        <p:nvSpPr>
          <p:cNvPr id="4" name="Shape 2"/>
          <p:cNvSpPr/>
          <p:nvPr/>
        </p:nvSpPr>
        <p:spPr>
          <a:xfrm>
            <a:off x="8880856" y="585216"/>
            <a:ext cx="436880" cy="0"/>
          </a:xfrm>
          <a:prstGeom prst="line">
            <a:avLst/>
          </a:prstGeom>
          <a:noFill/>
          <a:ln w="19050">
            <a:solidFill>
              <a:srgbClr val="B08D57"/>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9050">
            <a:solidFill>
              <a:srgbClr val="B08D57"/>
            </a:solidFill>
            <a:prstDash val="sysDash"/>
          </a:ln>
        </p:spPr>
      </p:sp>
      <p:sp>
        <p:nvSpPr>
          <p:cNvPr id="7" name="Shape 5"/>
          <p:cNvSpPr/>
          <p:nvPr/>
        </p:nvSpPr>
        <p:spPr>
          <a:xfrm>
            <a:off x="8348472" y="539496"/>
            <a:ext cx="91440" cy="91440"/>
          </a:xfrm>
          <a:prstGeom prst="ellipse">
            <a:avLst/>
          </a:prstGeom>
          <a:solidFill>
            <a:srgbClr val="B08D57"/>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B08D57"/>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第Ⅰ章　理念と長期目標</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04</a:t>
            </a:r>
            <a:endParaRPr lang="en-US" sz="1000" dirty="0"/>
          </a:p>
        </p:txBody>
      </p:sp>
      <p:sp>
        <p:nvSpPr>
          <p:cNvPr id="18" name="Shape 15"/>
          <p:cNvSpPr/>
          <p:nvPr/>
        </p:nvSpPr>
        <p:spPr>
          <a:xfrm flipV="1">
            <a:off x="868680" y="2491740"/>
            <a:ext cx="0" cy="2935224"/>
          </a:xfrm>
          <a:prstGeom prst="line">
            <a:avLst/>
          </a:prstGeom>
          <a:noFill/>
          <a:ln w="22225">
            <a:solidFill>
              <a:srgbClr val="B08D57"/>
            </a:solidFill>
            <a:prstDash val="solid"/>
            <a:tailEnd type="triangle"/>
          </a:ln>
        </p:spPr>
      </p:sp>
      <p:sp>
        <p:nvSpPr>
          <p:cNvPr id="19" name="Shape 16"/>
          <p:cNvSpPr/>
          <p:nvPr/>
        </p:nvSpPr>
        <p:spPr>
          <a:xfrm>
            <a:off x="713232" y="2162556"/>
            <a:ext cx="310896" cy="310896"/>
          </a:xfrm>
          <a:prstGeom prst="ellipse">
            <a:avLst/>
          </a:prstGeom>
          <a:solidFill>
            <a:srgbClr val="FFFFFF"/>
          </a:solidFill>
          <a:ln w="25400">
            <a:solidFill>
              <a:srgbClr val="B08D57"/>
            </a:solidFill>
            <a:prstDash val="solid"/>
          </a:ln>
        </p:spPr>
      </p:sp>
      <p:sp>
        <p:nvSpPr>
          <p:cNvPr id="20" name="Shape 17"/>
          <p:cNvSpPr/>
          <p:nvPr/>
        </p:nvSpPr>
        <p:spPr>
          <a:xfrm>
            <a:off x="813816" y="2263140"/>
            <a:ext cx="109728" cy="109728"/>
          </a:xfrm>
          <a:prstGeom prst="ellipse">
            <a:avLst/>
          </a:prstGeom>
          <a:solidFill>
            <a:srgbClr val="B08D57"/>
          </a:solidFill>
          <a:ln/>
        </p:spPr>
      </p:sp>
      <p:sp>
        <p:nvSpPr>
          <p:cNvPr id="21" name="Shape 18"/>
          <p:cNvSpPr/>
          <p:nvPr/>
        </p:nvSpPr>
        <p:spPr>
          <a:xfrm>
            <a:off x="758952" y="3429000"/>
            <a:ext cx="219456" cy="219456"/>
          </a:xfrm>
          <a:prstGeom prst="ellipse">
            <a:avLst/>
          </a:prstGeom>
          <a:solidFill>
            <a:srgbClr val="B08D57"/>
          </a:solidFill>
          <a:ln/>
        </p:spPr>
      </p:sp>
      <p:sp>
        <p:nvSpPr>
          <p:cNvPr id="22" name="Shape 19"/>
          <p:cNvSpPr/>
          <p:nvPr/>
        </p:nvSpPr>
        <p:spPr>
          <a:xfrm>
            <a:off x="786384" y="4370832"/>
            <a:ext cx="164592" cy="164592"/>
          </a:xfrm>
          <a:prstGeom prst="ellipse">
            <a:avLst/>
          </a:prstGeom>
          <a:solidFill>
            <a:srgbClr val="B08D57"/>
          </a:solidFill>
          <a:ln/>
        </p:spPr>
      </p:sp>
      <p:sp>
        <p:nvSpPr>
          <p:cNvPr id="23" name="Shape 20"/>
          <p:cNvSpPr/>
          <p:nvPr/>
        </p:nvSpPr>
        <p:spPr>
          <a:xfrm>
            <a:off x="731520" y="5289804"/>
            <a:ext cx="274320" cy="274320"/>
          </a:xfrm>
          <a:prstGeom prst="ellipse">
            <a:avLst/>
          </a:prstGeom>
          <a:solidFill>
            <a:srgbClr val="14284B"/>
          </a:solidFill>
          <a:ln/>
        </p:spPr>
      </p:sp>
      <p:sp>
        <p:nvSpPr>
          <p:cNvPr id="24" name="Shape 21"/>
          <p:cNvSpPr/>
          <p:nvPr/>
        </p:nvSpPr>
        <p:spPr>
          <a:xfrm>
            <a:off x="1325880" y="1645920"/>
            <a:ext cx="10314432" cy="1344168"/>
          </a:xfrm>
          <a:prstGeom prst="rect">
            <a:avLst/>
          </a:prstGeom>
          <a:solidFill>
            <a:srgbClr val="14284B"/>
          </a:solidFill>
          <a:ln/>
        </p:spPr>
      </p:sp>
      <p:sp>
        <p:nvSpPr>
          <p:cNvPr id="25" name="Text 22"/>
          <p:cNvSpPr txBox="1"/>
          <p:nvPr/>
        </p:nvSpPr>
        <p:spPr>
          <a:xfrm>
            <a:off x="1554480" y="1764792"/>
            <a:ext cx="2011680" cy="228600"/>
          </a:xfrm>
          <a:prstGeom prst="rect">
            <a:avLst/>
          </a:prstGeom>
          <a:noFill/>
          <a:ln/>
        </p:spPr>
        <p:txBody>
          <a:bodyPr wrap="square" lIns="0" tIns="0" rIns="0" bIns="0" rtlCol="0" anchor="ctr"/>
          <a:lstStyle/>
          <a:p>
            <a:pPr algn="l" indent="0" marL="0">
              <a:buNone/>
            </a:pPr>
            <a:r>
              <a:rPr lang="en-US" altLang="en-US" sz="1000" b="1" spc="200" kern="0" dirty="0">
                <a:solidFill>
                  <a:srgbClr val="C9A96E"/>
                </a:solidFill>
                <a:latin typeface="Arial" pitchFamily="34" charset="0"/>
                <a:ea typeface="Arial" charset="-128"/>
                <a:cs typeface="Arial" pitchFamily="34" charset="-120"/>
              </a:rPr>
              <a:t>LONG TERM</a:t>
            </a:r>
            <a:endParaRPr lang="en-US" sz="1000" dirty="0"/>
          </a:p>
        </p:txBody>
      </p:sp>
      <p:sp>
        <p:nvSpPr>
          <p:cNvPr id="26" name="Text 23"/>
          <p:cNvSpPr txBox="1"/>
          <p:nvPr/>
        </p:nvSpPr>
        <p:spPr>
          <a:xfrm>
            <a:off x="1554480" y="1984248"/>
            <a:ext cx="2011680" cy="502920"/>
          </a:xfrm>
          <a:prstGeom prst="rect">
            <a:avLst/>
          </a:prstGeom>
          <a:noFill/>
          <a:ln/>
        </p:spPr>
        <p:txBody>
          <a:bodyPr wrap="square" lIns="0" tIns="0" rIns="0" bIns="0" rtlCol="0" anchor="ctr"/>
          <a:lstStyle/>
          <a:p>
            <a:pPr algn="l" indent="0" marL="0">
              <a:buNone/>
            </a:pPr>
            <a:r>
              <a:rPr lang="en-US" altLang="en-US" sz="3000" b="1" dirty="0">
                <a:solidFill>
                  <a:srgbClr val="FFFFFF"/>
                </a:solidFill>
                <a:latin typeface="Cambria" pitchFamily="34" charset="0"/>
                <a:ea typeface="Cambria" charset="-128"/>
                <a:cs typeface="Cambria" pitchFamily="34" charset="-120"/>
              </a:rPr>
              <a:t>IPO</a:t>
            </a:r>
            <a:endParaRPr lang="en-US" sz="3000" dirty="0"/>
          </a:p>
        </p:txBody>
      </p:sp>
      <p:sp>
        <p:nvSpPr>
          <p:cNvPr id="27" name="Text 24"/>
          <p:cNvSpPr txBox="1"/>
          <p:nvPr/>
        </p:nvSpPr>
        <p:spPr>
          <a:xfrm>
            <a:off x="1554480" y="2505456"/>
            <a:ext cx="2011680" cy="274320"/>
          </a:xfrm>
          <a:prstGeom prst="rect">
            <a:avLst/>
          </a:prstGeom>
          <a:noFill/>
          <a:ln/>
        </p:spPr>
        <p:txBody>
          <a:bodyPr wrap="square" lIns="0" tIns="0" rIns="0" bIns="0" rtlCol="0" anchor="ctr"/>
          <a:lstStyle/>
          <a:p>
            <a:pPr algn="l" indent="0" marL="0">
              <a:buNone/>
            </a:pPr>
            <a:r>
              <a:rPr lang="ja-JP" altLang="en-US" sz="1300" b="1" dirty="0">
                <a:solidFill>
                  <a:srgbClr val="FFFFFF"/>
                </a:solidFill>
                <a:latin typeface="Yu Gothic" pitchFamily="34" charset="0"/>
                <a:ea typeface="Yu Gothic" charset="-128"/>
                <a:cs typeface="Yu Gothic" pitchFamily="34" charset="-120"/>
              </a:rPr>
              <a:t>上場企業グループ</a:t>
            </a:r>
            <a:endParaRPr lang="ja-JP" sz="1300" dirty="0"/>
          </a:p>
        </p:txBody>
      </p:sp>
      <p:sp>
        <p:nvSpPr>
          <p:cNvPr id="28" name="Text 25"/>
          <p:cNvSpPr txBox="1"/>
          <p:nvPr/>
        </p:nvSpPr>
        <p:spPr>
          <a:xfrm>
            <a:off x="3657600" y="1764792"/>
            <a:ext cx="5486400" cy="228600"/>
          </a:xfrm>
          <a:prstGeom prst="rect">
            <a:avLst/>
          </a:prstGeom>
          <a:noFill/>
          <a:ln/>
        </p:spPr>
        <p:txBody>
          <a:bodyPr wrap="square" lIns="0" tIns="0" rIns="0" bIns="0" rtlCol="0" anchor="ctr"/>
          <a:lstStyle/>
          <a:p>
            <a:pPr algn="l" indent="0" marL="0">
              <a:buNone/>
            </a:pPr>
            <a:r>
              <a:rPr lang="ja-JP" altLang="en-US" sz="1100" dirty="0">
                <a:solidFill>
                  <a:srgbClr val="C9A96E"/>
                </a:solidFill>
                <a:latin typeface="Yu Gothic Medium" pitchFamily="34" charset="0"/>
                <a:ea typeface="Yu Gothic Medium" charset="-128"/>
                <a:cs typeface="Yu Gothic Medium" pitchFamily="34" charset="-120"/>
              </a:rPr>
              <a:t>上場に値する企業グループの状態</a:t>
            </a:r>
            <a:endParaRPr lang="ja-JP" sz="1100" dirty="0"/>
          </a:p>
        </p:txBody>
      </p:sp>
      <p:sp>
        <p:nvSpPr>
          <p:cNvPr id="29" name="Shape 26"/>
          <p:cNvSpPr/>
          <p:nvPr/>
        </p:nvSpPr>
        <p:spPr>
          <a:xfrm>
            <a:off x="3657600" y="2148840"/>
            <a:ext cx="54864" cy="54864"/>
          </a:xfrm>
          <a:prstGeom prst="ellipse">
            <a:avLst/>
          </a:prstGeom>
          <a:solidFill>
            <a:srgbClr val="C9A96E"/>
          </a:solidFill>
          <a:ln/>
        </p:spPr>
      </p:sp>
      <p:sp>
        <p:nvSpPr>
          <p:cNvPr id="30" name="Text 27"/>
          <p:cNvSpPr txBox="1"/>
          <p:nvPr/>
        </p:nvSpPr>
        <p:spPr>
          <a:xfrm>
            <a:off x="3794760" y="2048256"/>
            <a:ext cx="187452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特定個人に依存しない</a:t>
            </a:r>
            <a:endParaRPr lang="ja-JP" sz="1200" dirty="0"/>
          </a:p>
        </p:txBody>
      </p:sp>
      <p:sp>
        <p:nvSpPr>
          <p:cNvPr id="31" name="Shape 28"/>
          <p:cNvSpPr/>
          <p:nvPr/>
        </p:nvSpPr>
        <p:spPr>
          <a:xfrm>
            <a:off x="3657600" y="2423160"/>
            <a:ext cx="54864" cy="54864"/>
          </a:xfrm>
          <a:prstGeom prst="ellipse">
            <a:avLst/>
          </a:prstGeom>
          <a:solidFill>
            <a:srgbClr val="C9A96E"/>
          </a:solidFill>
          <a:ln/>
        </p:spPr>
      </p:sp>
      <p:sp>
        <p:nvSpPr>
          <p:cNvPr id="32" name="Text 29"/>
          <p:cNvSpPr txBox="1"/>
          <p:nvPr/>
        </p:nvSpPr>
        <p:spPr>
          <a:xfrm>
            <a:off x="3794760" y="2322576"/>
            <a:ext cx="187452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複数事業を持つ</a:t>
            </a:r>
            <a:endParaRPr lang="ja-JP" sz="1200" dirty="0"/>
          </a:p>
        </p:txBody>
      </p:sp>
      <p:sp>
        <p:nvSpPr>
          <p:cNvPr id="33" name="Shape 30"/>
          <p:cNvSpPr/>
          <p:nvPr/>
        </p:nvSpPr>
        <p:spPr>
          <a:xfrm>
            <a:off x="3657600" y="2697480"/>
            <a:ext cx="54864" cy="54864"/>
          </a:xfrm>
          <a:prstGeom prst="ellipse">
            <a:avLst/>
          </a:prstGeom>
          <a:solidFill>
            <a:srgbClr val="C9A96E"/>
          </a:solidFill>
          <a:ln/>
        </p:spPr>
      </p:sp>
      <p:sp>
        <p:nvSpPr>
          <p:cNvPr id="34" name="Text 31"/>
          <p:cNvSpPr txBox="1"/>
          <p:nvPr/>
        </p:nvSpPr>
        <p:spPr>
          <a:xfrm>
            <a:off x="3794760" y="2596896"/>
            <a:ext cx="187452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継続的に利益を生む</a:t>
            </a:r>
            <a:endParaRPr lang="ja-JP" sz="1200" dirty="0"/>
          </a:p>
        </p:txBody>
      </p:sp>
      <p:sp>
        <p:nvSpPr>
          <p:cNvPr id="35" name="Shape 32"/>
          <p:cNvSpPr/>
          <p:nvPr/>
        </p:nvSpPr>
        <p:spPr>
          <a:xfrm>
            <a:off x="5760720" y="2148840"/>
            <a:ext cx="54864" cy="54864"/>
          </a:xfrm>
          <a:prstGeom prst="ellipse">
            <a:avLst/>
          </a:prstGeom>
          <a:solidFill>
            <a:srgbClr val="C9A96E"/>
          </a:solidFill>
          <a:ln/>
        </p:spPr>
      </p:sp>
      <p:sp>
        <p:nvSpPr>
          <p:cNvPr id="36" name="Text 33"/>
          <p:cNvSpPr txBox="1"/>
          <p:nvPr/>
        </p:nvSpPr>
        <p:spPr>
          <a:xfrm>
            <a:off x="5897880" y="2048256"/>
            <a:ext cx="201168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強い経営陣が存在する</a:t>
            </a:r>
            <a:endParaRPr lang="ja-JP" sz="1200" dirty="0"/>
          </a:p>
        </p:txBody>
      </p:sp>
      <p:sp>
        <p:nvSpPr>
          <p:cNvPr id="37" name="Shape 34"/>
          <p:cNvSpPr/>
          <p:nvPr/>
        </p:nvSpPr>
        <p:spPr>
          <a:xfrm>
            <a:off x="5760720" y="2423160"/>
            <a:ext cx="54864" cy="54864"/>
          </a:xfrm>
          <a:prstGeom prst="ellipse">
            <a:avLst/>
          </a:prstGeom>
          <a:solidFill>
            <a:srgbClr val="C9A96E"/>
          </a:solidFill>
          <a:ln/>
        </p:spPr>
      </p:sp>
      <p:sp>
        <p:nvSpPr>
          <p:cNvPr id="38" name="Text 35"/>
          <p:cNvSpPr txBox="1"/>
          <p:nvPr/>
        </p:nvSpPr>
        <p:spPr>
          <a:xfrm>
            <a:off x="5897880" y="2322576"/>
            <a:ext cx="201168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透明な経営管理ができる</a:t>
            </a:r>
            <a:endParaRPr lang="ja-JP" sz="1200" dirty="0"/>
          </a:p>
        </p:txBody>
      </p:sp>
      <p:sp>
        <p:nvSpPr>
          <p:cNvPr id="39" name="Shape 36"/>
          <p:cNvSpPr/>
          <p:nvPr/>
        </p:nvSpPr>
        <p:spPr>
          <a:xfrm>
            <a:off x="5760720" y="2697480"/>
            <a:ext cx="54864" cy="54864"/>
          </a:xfrm>
          <a:prstGeom prst="ellipse">
            <a:avLst/>
          </a:prstGeom>
          <a:solidFill>
            <a:srgbClr val="C9A96E"/>
          </a:solidFill>
          <a:ln/>
        </p:spPr>
      </p:sp>
      <p:sp>
        <p:nvSpPr>
          <p:cNvPr id="40" name="Text 37"/>
          <p:cNvSpPr txBox="1"/>
          <p:nvPr/>
        </p:nvSpPr>
        <p:spPr>
          <a:xfrm>
            <a:off x="5897880" y="2596896"/>
            <a:ext cx="201168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内部統制が機能する</a:t>
            </a:r>
            <a:endParaRPr lang="ja-JP" sz="1200" dirty="0"/>
          </a:p>
        </p:txBody>
      </p:sp>
      <p:sp>
        <p:nvSpPr>
          <p:cNvPr id="41" name="Shape 38"/>
          <p:cNvSpPr/>
          <p:nvPr/>
        </p:nvSpPr>
        <p:spPr>
          <a:xfrm>
            <a:off x="8001000" y="2148840"/>
            <a:ext cx="54864" cy="54864"/>
          </a:xfrm>
          <a:prstGeom prst="ellipse">
            <a:avLst/>
          </a:prstGeom>
          <a:solidFill>
            <a:srgbClr val="C9A96E"/>
          </a:solidFill>
          <a:ln/>
        </p:spPr>
      </p:sp>
      <p:sp>
        <p:nvSpPr>
          <p:cNvPr id="42" name="Text 39"/>
          <p:cNvSpPr txBox="1"/>
          <p:nvPr/>
        </p:nvSpPr>
        <p:spPr>
          <a:xfrm>
            <a:off x="8138160" y="2048256"/>
            <a:ext cx="342900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社会から信用される</a:t>
            </a:r>
            <a:endParaRPr lang="ja-JP" sz="1200" dirty="0"/>
          </a:p>
        </p:txBody>
      </p:sp>
      <p:sp>
        <p:nvSpPr>
          <p:cNvPr id="43" name="Shape 40"/>
          <p:cNvSpPr/>
          <p:nvPr/>
        </p:nvSpPr>
        <p:spPr>
          <a:xfrm>
            <a:off x="8001000" y="2423160"/>
            <a:ext cx="54864" cy="54864"/>
          </a:xfrm>
          <a:prstGeom prst="ellipse">
            <a:avLst/>
          </a:prstGeom>
          <a:solidFill>
            <a:srgbClr val="C9A96E"/>
          </a:solidFill>
          <a:ln/>
        </p:spPr>
      </p:sp>
      <p:sp>
        <p:nvSpPr>
          <p:cNvPr id="44" name="Text 41"/>
          <p:cNvSpPr txBox="1"/>
          <p:nvPr/>
        </p:nvSpPr>
        <p:spPr>
          <a:xfrm>
            <a:off x="8138160" y="2322576"/>
            <a:ext cx="342900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資本市場から評価される</a:t>
            </a:r>
            <a:endParaRPr lang="ja-JP" sz="1200" dirty="0"/>
          </a:p>
        </p:txBody>
      </p:sp>
      <p:sp>
        <p:nvSpPr>
          <p:cNvPr id="45" name="Shape 42"/>
          <p:cNvSpPr/>
          <p:nvPr/>
        </p:nvSpPr>
        <p:spPr>
          <a:xfrm>
            <a:off x="8001000" y="2697480"/>
            <a:ext cx="54864" cy="54864"/>
          </a:xfrm>
          <a:prstGeom prst="ellipse">
            <a:avLst/>
          </a:prstGeom>
          <a:solidFill>
            <a:srgbClr val="C9A96E"/>
          </a:solidFill>
          <a:ln/>
        </p:spPr>
      </p:sp>
      <p:sp>
        <p:nvSpPr>
          <p:cNvPr id="46" name="Text 43"/>
          <p:cNvSpPr txBox="1"/>
          <p:nvPr/>
        </p:nvSpPr>
        <p:spPr>
          <a:xfrm>
            <a:off x="8138160" y="2596896"/>
            <a:ext cx="3429000" cy="256032"/>
          </a:xfrm>
          <a:prstGeom prst="rect">
            <a:avLst/>
          </a:prstGeom>
          <a:noFill/>
          <a:ln/>
        </p:spPr>
        <p:txBody>
          <a:bodyPr wrap="square" lIns="0" tIns="0" rIns="0" bIns="0" rtlCol="0" anchor="ctr"/>
          <a:lstStyle/>
          <a:p>
            <a:pPr algn="l" indent="0" marL="0">
              <a:buNone/>
            </a:pPr>
            <a:r>
              <a:rPr lang="ja-JP" altLang="en-US" sz="1200" dirty="0">
                <a:solidFill>
                  <a:srgbClr val="FFFFFF"/>
                </a:solidFill>
                <a:latin typeface="Yu Gothic Medium" pitchFamily="34" charset="0"/>
                <a:ea typeface="Yu Gothic Medium" charset="-128"/>
                <a:cs typeface="Yu Gothic Medium" pitchFamily="34" charset="-120"/>
              </a:rPr>
              <a:t>創業者がいなくなった後も企業として存続する</a:t>
            </a:r>
            <a:endParaRPr lang="ja-JP" sz="1200" dirty="0"/>
          </a:p>
        </p:txBody>
      </p:sp>
      <p:sp>
        <p:nvSpPr>
          <p:cNvPr id="47" name="Shape 44"/>
          <p:cNvSpPr/>
          <p:nvPr/>
        </p:nvSpPr>
        <p:spPr>
          <a:xfrm>
            <a:off x="1325880" y="3081528"/>
            <a:ext cx="10314432" cy="914400"/>
          </a:xfrm>
          <a:prstGeom prst="rect">
            <a:avLst/>
          </a:prstGeom>
          <a:solidFill>
            <a:srgbClr val="22375C"/>
          </a:solidFill>
          <a:ln/>
        </p:spPr>
      </p:sp>
      <p:sp>
        <p:nvSpPr>
          <p:cNvPr id="48" name="Text 45"/>
          <p:cNvSpPr txBox="1"/>
          <p:nvPr/>
        </p:nvSpPr>
        <p:spPr>
          <a:xfrm>
            <a:off x="1554480" y="3191256"/>
            <a:ext cx="2011680" cy="228600"/>
          </a:xfrm>
          <a:prstGeom prst="rect">
            <a:avLst/>
          </a:prstGeom>
          <a:noFill/>
          <a:ln/>
        </p:spPr>
        <p:txBody>
          <a:bodyPr wrap="square" lIns="0" tIns="0" rIns="0" bIns="0" rtlCol="0" anchor="ctr"/>
          <a:lstStyle/>
          <a:p>
            <a:pPr algn="l" indent="0" marL="0">
              <a:buNone/>
            </a:pPr>
            <a:r>
              <a:rPr lang="en-US" altLang="en-US" sz="1000" b="1" spc="200" kern="0" dirty="0">
                <a:solidFill>
                  <a:srgbClr val="C9A96E"/>
                </a:solidFill>
                <a:latin typeface="Arial" pitchFamily="34" charset="0"/>
                <a:ea typeface="Arial" charset="-128"/>
                <a:cs typeface="Arial" pitchFamily="34" charset="-120"/>
              </a:rPr>
              <a:t>5 YEARS</a:t>
            </a:r>
            <a:endParaRPr lang="en-US" sz="1000" dirty="0"/>
          </a:p>
        </p:txBody>
      </p:sp>
      <p:sp>
        <p:nvSpPr>
          <p:cNvPr id="49" name="Text 46"/>
          <p:cNvSpPr txBox="1"/>
          <p:nvPr/>
        </p:nvSpPr>
        <p:spPr>
          <a:xfrm>
            <a:off x="1554480" y="3429000"/>
            <a:ext cx="2011680" cy="457200"/>
          </a:xfrm>
          <a:prstGeom prst="rect">
            <a:avLst/>
          </a:prstGeom>
          <a:noFill/>
          <a:ln/>
        </p:spPr>
        <p:txBody>
          <a:bodyPr wrap="square" lIns="0" tIns="0" rIns="0" bIns="0" rtlCol="0" anchor="ctr"/>
          <a:lstStyle/>
          <a:p>
            <a:pPr algn="l" indent="0" marL="0">
              <a:buNone/>
            </a:pPr>
            <a:r>
              <a:rPr lang="en-US" altLang="en-US" sz="2600" b="1" dirty="0">
                <a:solidFill>
                  <a:srgbClr val="FFFFFF"/>
                </a:solidFill>
                <a:latin typeface="Cambria" pitchFamily="34" charset="0"/>
                <a:ea typeface="Cambria" charset="-128"/>
                <a:cs typeface="Cambria" pitchFamily="34" charset="-120"/>
              </a:rPr>
              <a:t>2031</a:t>
            </a:r>
            <a:endParaRPr lang="en-US" sz="2600" dirty="0"/>
          </a:p>
        </p:txBody>
      </p:sp>
      <p:sp>
        <p:nvSpPr>
          <p:cNvPr id="50" name="Text 47"/>
          <p:cNvSpPr txBox="1"/>
          <p:nvPr/>
        </p:nvSpPr>
        <p:spPr>
          <a:xfrm>
            <a:off x="3657600" y="3191256"/>
            <a:ext cx="2743200" cy="228600"/>
          </a:xfrm>
          <a:prstGeom prst="rect">
            <a:avLst/>
          </a:prstGeom>
          <a:noFill/>
          <a:ln/>
        </p:spPr>
        <p:txBody>
          <a:bodyPr wrap="square" lIns="0" tIns="0" rIns="0" bIns="0" rtlCol="0" anchor="ctr"/>
          <a:lstStyle/>
          <a:p>
            <a:pPr algn="l" indent="0" marL="0">
              <a:buNone/>
            </a:pPr>
            <a:r>
              <a:rPr lang="ja-JP" altLang="en-US" sz="1050" dirty="0">
                <a:solidFill>
                  <a:srgbClr val="C9A96E"/>
                </a:solidFill>
                <a:latin typeface="Yu Gothic Medium" pitchFamily="34" charset="0"/>
                <a:ea typeface="Yu Gothic Medium" charset="-128"/>
                <a:cs typeface="Yu Gothic Medium" pitchFamily="34" charset="-120"/>
              </a:rPr>
              <a:t>KGI（暫定）</a:t>
            </a:r>
            <a:endParaRPr lang="ja-JP" sz="1050" dirty="0"/>
          </a:p>
        </p:txBody>
      </p:sp>
      <p:sp>
        <p:nvSpPr>
          <p:cNvPr id="51" name="Text 48"/>
          <p:cNvSpPr txBox="1"/>
          <p:nvPr/>
        </p:nvSpPr>
        <p:spPr>
          <a:xfrm>
            <a:off x="3657600" y="3465576"/>
            <a:ext cx="3017520" cy="411480"/>
          </a:xfrm>
          <a:prstGeom prst="rect">
            <a:avLst/>
          </a:prstGeom>
          <a:noFill/>
          <a:ln/>
        </p:spPr>
        <p:txBody>
          <a:bodyPr wrap="square" lIns="0" tIns="0" rIns="0" bIns="0" rtlCol="0" anchor="ctr"/>
          <a:lstStyle/>
          <a:p>
            <a:pPr algn="l" indent="0" marL="0">
              <a:buNone/>
            </a:pPr>
            <a:r>
              <a:rPr lang="ja-JP" altLang="en-US" sz="1400" b="1" dirty="0">
                <a:solidFill>
                  <a:srgbClr val="FFFFFF"/>
                </a:solidFill>
                <a:latin typeface="Yu Gothic" pitchFamily="34" charset="0"/>
                <a:ea typeface="Yu Gothic" charset="-128"/>
                <a:cs typeface="Yu Gothic" pitchFamily="34" charset="-120"/>
              </a:rPr>
              <a:t>グループ連結売上 </a:t>
            </a:r>
            <a:pPr algn="l" indent="0" marL="0">
              <a:buNone/>
            </a:pPr>
            <a:r>
              <a:rPr lang="ja-JP" altLang="en-US" sz="2000" b="1" dirty="0">
                <a:solidFill>
                  <a:srgbClr val="FFFFFF"/>
                </a:solidFill>
                <a:latin typeface="Yu Gothic" pitchFamily="34" charset="0"/>
                <a:ea typeface="Yu Gothic" charset="-128"/>
                <a:cs typeface="Yu Gothic" pitchFamily="34" charset="-120"/>
              </a:rPr>
              <a:t>30億円</a:t>
            </a:r>
            <a:endParaRPr lang="ja-JP" sz="1400" dirty="0"/>
          </a:p>
        </p:txBody>
      </p:sp>
      <p:sp>
        <p:nvSpPr>
          <p:cNvPr id="52" name="Text 49"/>
          <p:cNvSpPr txBox="1"/>
          <p:nvPr/>
        </p:nvSpPr>
        <p:spPr>
          <a:xfrm>
            <a:off x="6812280" y="3191256"/>
            <a:ext cx="2286000" cy="228600"/>
          </a:xfrm>
          <a:prstGeom prst="rect">
            <a:avLst/>
          </a:prstGeom>
          <a:noFill/>
          <a:ln/>
        </p:spPr>
        <p:txBody>
          <a:bodyPr wrap="square" lIns="0" tIns="0" rIns="0" bIns="0" rtlCol="0" anchor="ctr"/>
          <a:lstStyle/>
          <a:p>
            <a:pPr algn="l" indent="0" marL="0">
              <a:buNone/>
            </a:pPr>
            <a:r>
              <a:rPr lang="en-US" altLang="en-US" sz="1000" b="1" spc="100" kern="0" dirty="0">
                <a:solidFill>
                  <a:srgbClr val="C9A96E"/>
                </a:solidFill>
                <a:latin typeface="Arial" pitchFamily="34" charset="0"/>
                <a:ea typeface="Arial" charset="-128"/>
                <a:cs typeface="Arial" pitchFamily="34" charset="-120"/>
              </a:rPr>
              <a:t>PORTFOLIO</a:t>
            </a:r>
            <a:endParaRPr lang="en-US" sz="1000" dirty="0"/>
          </a:p>
        </p:txBody>
      </p:sp>
      <p:sp>
        <p:nvSpPr>
          <p:cNvPr id="53" name="Text 50"/>
          <p:cNvSpPr txBox="1"/>
          <p:nvPr/>
        </p:nvSpPr>
        <p:spPr>
          <a:xfrm>
            <a:off x="6812280" y="3493008"/>
            <a:ext cx="2423160" cy="365760"/>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複数事業・複数経営者</a:t>
            </a:r>
            <a:endParaRPr lang="ja-JP" sz="1500" dirty="0"/>
          </a:p>
        </p:txBody>
      </p:sp>
      <p:sp>
        <p:nvSpPr>
          <p:cNvPr id="54" name="Text 51"/>
          <p:cNvSpPr txBox="1"/>
          <p:nvPr/>
        </p:nvSpPr>
        <p:spPr>
          <a:xfrm>
            <a:off x="9326880" y="3191256"/>
            <a:ext cx="2194560" cy="228600"/>
          </a:xfrm>
          <a:prstGeom prst="rect">
            <a:avLst/>
          </a:prstGeom>
          <a:noFill/>
          <a:ln/>
        </p:spPr>
        <p:txBody>
          <a:bodyPr wrap="square" lIns="0" tIns="0" rIns="0" bIns="0" rtlCol="0" anchor="ctr"/>
          <a:lstStyle/>
          <a:p>
            <a:pPr algn="l" indent="0" marL="0">
              <a:buNone/>
            </a:pPr>
            <a:r>
              <a:rPr lang="en-US" altLang="en-US" sz="1000" b="1" spc="100" kern="0" dirty="0">
                <a:solidFill>
                  <a:srgbClr val="C9A96E"/>
                </a:solidFill>
                <a:latin typeface="Arial" pitchFamily="34" charset="0"/>
                <a:ea typeface="Arial" charset="-128"/>
                <a:cs typeface="Arial" pitchFamily="34" charset="-120"/>
              </a:rPr>
              <a:t>MANAGEMENT</a:t>
            </a:r>
            <a:endParaRPr lang="en-US" sz="1000" dirty="0"/>
          </a:p>
        </p:txBody>
      </p:sp>
      <p:sp>
        <p:nvSpPr>
          <p:cNvPr id="55" name="Text 52"/>
          <p:cNvSpPr txBox="1"/>
          <p:nvPr/>
        </p:nvSpPr>
        <p:spPr>
          <a:xfrm>
            <a:off x="9326880" y="3493008"/>
            <a:ext cx="2240280" cy="365760"/>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グループ経営基盤完成</a:t>
            </a:r>
            <a:endParaRPr lang="ja-JP" sz="1500" dirty="0"/>
          </a:p>
        </p:txBody>
      </p:sp>
      <p:sp>
        <p:nvSpPr>
          <p:cNvPr id="56" name="Shape 53"/>
          <p:cNvSpPr/>
          <p:nvPr/>
        </p:nvSpPr>
        <p:spPr>
          <a:xfrm>
            <a:off x="1325880" y="4087368"/>
            <a:ext cx="10314432" cy="731520"/>
          </a:xfrm>
          <a:prstGeom prst="rect">
            <a:avLst/>
          </a:prstGeom>
          <a:solidFill>
            <a:srgbClr val="F3F5F8"/>
          </a:solidFill>
          <a:ln/>
        </p:spPr>
      </p:sp>
      <p:sp>
        <p:nvSpPr>
          <p:cNvPr id="57" name="Text 54"/>
          <p:cNvSpPr txBox="1"/>
          <p:nvPr/>
        </p:nvSpPr>
        <p:spPr>
          <a:xfrm>
            <a:off x="1554480" y="4187952"/>
            <a:ext cx="2011680" cy="228600"/>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MILESTONE</a:t>
            </a:r>
            <a:endParaRPr lang="en-US" sz="1000" dirty="0"/>
          </a:p>
        </p:txBody>
      </p:sp>
      <p:sp>
        <p:nvSpPr>
          <p:cNvPr id="58" name="Text 55"/>
          <p:cNvSpPr txBox="1"/>
          <p:nvPr/>
        </p:nvSpPr>
        <p:spPr>
          <a:xfrm>
            <a:off x="1554480" y="4425696"/>
            <a:ext cx="1371600" cy="292608"/>
          </a:xfrm>
          <a:prstGeom prst="rect">
            <a:avLst/>
          </a:prstGeom>
          <a:noFill/>
          <a:ln/>
        </p:spPr>
        <p:txBody>
          <a:bodyPr wrap="square" lIns="0" tIns="0" rIns="0" bIns="0" rtlCol="0" anchor="ctr"/>
          <a:lstStyle/>
          <a:p>
            <a:pPr algn="l" indent="0" marL="0">
              <a:buNone/>
            </a:pPr>
            <a:r>
              <a:rPr lang="en-US" altLang="en-US" sz="1800" b="1" dirty="0">
                <a:solidFill>
                  <a:srgbClr val="14284B"/>
                </a:solidFill>
                <a:latin typeface="Cambria" pitchFamily="34" charset="0"/>
                <a:ea typeface="Cambria" charset="-128"/>
                <a:cs typeface="Cambria" pitchFamily="34" charset="-120"/>
              </a:rPr>
              <a:t>2028</a:t>
            </a:r>
            <a:endParaRPr lang="en-US" sz="1800" dirty="0"/>
          </a:p>
        </p:txBody>
      </p:sp>
      <p:sp>
        <p:nvSpPr>
          <p:cNvPr id="59" name="Text 56"/>
          <p:cNvSpPr txBox="1"/>
          <p:nvPr/>
        </p:nvSpPr>
        <p:spPr>
          <a:xfrm>
            <a:off x="3657600" y="4087368"/>
            <a:ext cx="2743200" cy="73152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親会社設立</a:t>
            </a:r>
            <a:endParaRPr lang="ja-JP" sz="1500" dirty="0"/>
          </a:p>
        </p:txBody>
      </p:sp>
      <p:sp>
        <p:nvSpPr>
          <p:cNvPr id="60" name="Text 57"/>
          <p:cNvSpPr txBox="1"/>
          <p:nvPr/>
        </p:nvSpPr>
        <p:spPr>
          <a:xfrm>
            <a:off x="6812280" y="4087368"/>
            <a:ext cx="2743200" cy="73152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グループ経営開始</a:t>
            </a:r>
            <a:endParaRPr lang="ja-JP" sz="1500" dirty="0"/>
          </a:p>
        </p:txBody>
      </p:sp>
      <p:sp>
        <p:nvSpPr>
          <p:cNvPr id="61" name="Shape 58"/>
          <p:cNvSpPr/>
          <p:nvPr/>
        </p:nvSpPr>
        <p:spPr>
          <a:xfrm>
            <a:off x="1325880" y="4910328"/>
            <a:ext cx="10314432" cy="1033272"/>
          </a:xfrm>
          <a:prstGeom prst="rect">
            <a:avLst/>
          </a:prstGeom>
          <a:solidFill>
            <a:srgbClr val="FFFFFF"/>
          </a:solidFill>
          <a:ln w="12700">
            <a:solidFill>
              <a:srgbClr val="14284B"/>
            </a:solidFill>
            <a:prstDash val="solid"/>
          </a:ln>
        </p:spPr>
      </p:sp>
      <p:sp>
        <p:nvSpPr>
          <p:cNvPr id="62" name="Text 59"/>
          <p:cNvSpPr txBox="1"/>
          <p:nvPr/>
        </p:nvSpPr>
        <p:spPr>
          <a:xfrm>
            <a:off x="1554480" y="5020056"/>
            <a:ext cx="2011680" cy="228600"/>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NOW</a:t>
            </a:r>
            <a:endParaRPr lang="en-US" sz="1000" dirty="0"/>
          </a:p>
        </p:txBody>
      </p:sp>
      <p:sp>
        <p:nvSpPr>
          <p:cNvPr id="63" name="Text 60"/>
          <p:cNvSpPr txBox="1"/>
          <p:nvPr/>
        </p:nvSpPr>
        <p:spPr>
          <a:xfrm>
            <a:off x="1554480" y="5257800"/>
            <a:ext cx="2103120" cy="347472"/>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ROOTIVE自走化</a:t>
            </a:r>
            <a:endParaRPr lang="ja-JP" sz="1600" dirty="0"/>
          </a:p>
        </p:txBody>
      </p:sp>
      <p:sp>
        <p:nvSpPr>
          <p:cNvPr id="64" name="Text 61"/>
          <p:cNvSpPr txBox="1"/>
          <p:nvPr/>
        </p:nvSpPr>
        <p:spPr>
          <a:xfrm>
            <a:off x="1554480" y="5605272"/>
            <a:ext cx="2103120" cy="256032"/>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代表依存からの脱却</a:t>
            </a:r>
            <a:endParaRPr lang="ja-JP" sz="1100" dirty="0"/>
          </a:p>
        </p:txBody>
      </p:sp>
      <p:sp>
        <p:nvSpPr>
          <p:cNvPr id="65" name="Shape 62"/>
          <p:cNvSpPr/>
          <p:nvPr/>
        </p:nvSpPr>
        <p:spPr>
          <a:xfrm>
            <a:off x="3657600" y="5038344"/>
            <a:ext cx="1874520" cy="777240"/>
          </a:xfrm>
          <a:prstGeom prst="rect">
            <a:avLst/>
          </a:prstGeom>
          <a:solidFill>
            <a:srgbClr val="F3F5F8"/>
          </a:solidFill>
          <a:ln/>
        </p:spPr>
      </p:sp>
      <p:sp>
        <p:nvSpPr>
          <p:cNvPr id="66" name="Text 63"/>
          <p:cNvSpPr txBox="1"/>
          <p:nvPr/>
        </p:nvSpPr>
        <p:spPr>
          <a:xfrm>
            <a:off x="3822192" y="5111496"/>
            <a:ext cx="155448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MONEY</a:t>
            </a:r>
            <a:endParaRPr lang="en-US" sz="1000" dirty="0"/>
          </a:p>
        </p:txBody>
      </p:sp>
      <p:sp>
        <p:nvSpPr>
          <p:cNvPr id="67" name="Text 64"/>
          <p:cNvSpPr txBox="1"/>
          <p:nvPr/>
        </p:nvSpPr>
        <p:spPr>
          <a:xfrm>
            <a:off x="3822192" y="5349240"/>
            <a:ext cx="1554480" cy="36576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利益</a:t>
            </a:r>
            <a:endParaRPr lang="ja-JP" sz="1700" dirty="0"/>
          </a:p>
        </p:txBody>
      </p:sp>
      <p:sp>
        <p:nvSpPr>
          <p:cNvPr id="68" name="Shape 65"/>
          <p:cNvSpPr/>
          <p:nvPr/>
        </p:nvSpPr>
        <p:spPr>
          <a:xfrm>
            <a:off x="5641848" y="5038344"/>
            <a:ext cx="1874520" cy="777240"/>
          </a:xfrm>
          <a:prstGeom prst="rect">
            <a:avLst/>
          </a:prstGeom>
          <a:solidFill>
            <a:srgbClr val="F3F5F8"/>
          </a:solidFill>
          <a:ln/>
        </p:spPr>
      </p:sp>
      <p:sp>
        <p:nvSpPr>
          <p:cNvPr id="69" name="Text 66"/>
          <p:cNvSpPr txBox="1"/>
          <p:nvPr/>
        </p:nvSpPr>
        <p:spPr>
          <a:xfrm>
            <a:off x="5806440" y="5111496"/>
            <a:ext cx="155448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PEOPLE</a:t>
            </a:r>
            <a:endParaRPr lang="en-US" sz="1000" dirty="0"/>
          </a:p>
        </p:txBody>
      </p:sp>
      <p:sp>
        <p:nvSpPr>
          <p:cNvPr id="70" name="Text 67"/>
          <p:cNvSpPr txBox="1"/>
          <p:nvPr/>
        </p:nvSpPr>
        <p:spPr>
          <a:xfrm>
            <a:off x="5806440" y="5349240"/>
            <a:ext cx="1554480" cy="36576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人材</a:t>
            </a:r>
            <a:endParaRPr lang="ja-JP" sz="1700" dirty="0"/>
          </a:p>
        </p:txBody>
      </p:sp>
      <p:sp>
        <p:nvSpPr>
          <p:cNvPr id="71" name="Shape 68"/>
          <p:cNvSpPr/>
          <p:nvPr/>
        </p:nvSpPr>
        <p:spPr>
          <a:xfrm>
            <a:off x="7626096" y="5038344"/>
            <a:ext cx="1874520" cy="777240"/>
          </a:xfrm>
          <a:prstGeom prst="rect">
            <a:avLst/>
          </a:prstGeom>
          <a:solidFill>
            <a:srgbClr val="F3F5F8"/>
          </a:solidFill>
          <a:ln/>
        </p:spPr>
      </p:sp>
      <p:sp>
        <p:nvSpPr>
          <p:cNvPr id="72" name="Text 69"/>
          <p:cNvSpPr txBox="1"/>
          <p:nvPr/>
        </p:nvSpPr>
        <p:spPr>
          <a:xfrm>
            <a:off x="7790688" y="5111496"/>
            <a:ext cx="155448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SYSTEM</a:t>
            </a:r>
            <a:endParaRPr lang="en-US" sz="1000" dirty="0"/>
          </a:p>
        </p:txBody>
      </p:sp>
      <p:sp>
        <p:nvSpPr>
          <p:cNvPr id="73" name="Text 70"/>
          <p:cNvSpPr txBox="1"/>
          <p:nvPr/>
        </p:nvSpPr>
        <p:spPr>
          <a:xfrm>
            <a:off x="7790688" y="5349240"/>
            <a:ext cx="1554480" cy="36576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仕組み</a:t>
            </a:r>
            <a:endParaRPr lang="ja-JP" sz="1700" dirty="0"/>
          </a:p>
        </p:txBody>
      </p:sp>
      <p:sp>
        <p:nvSpPr>
          <p:cNvPr id="74" name="Shape 71"/>
          <p:cNvSpPr/>
          <p:nvPr/>
        </p:nvSpPr>
        <p:spPr>
          <a:xfrm>
            <a:off x="9610344" y="5038344"/>
            <a:ext cx="1874520" cy="777240"/>
          </a:xfrm>
          <a:prstGeom prst="rect">
            <a:avLst/>
          </a:prstGeom>
          <a:solidFill>
            <a:srgbClr val="F3F5F8"/>
          </a:solidFill>
          <a:ln/>
        </p:spPr>
      </p:sp>
      <p:sp>
        <p:nvSpPr>
          <p:cNvPr id="75" name="Text 72"/>
          <p:cNvSpPr txBox="1"/>
          <p:nvPr/>
        </p:nvSpPr>
        <p:spPr>
          <a:xfrm>
            <a:off x="9774936" y="5111496"/>
            <a:ext cx="155448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TRUST</a:t>
            </a:r>
            <a:endParaRPr lang="en-US" sz="1000" dirty="0"/>
          </a:p>
        </p:txBody>
      </p:sp>
      <p:sp>
        <p:nvSpPr>
          <p:cNvPr id="76" name="Text 73"/>
          <p:cNvSpPr txBox="1"/>
          <p:nvPr/>
        </p:nvSpPr>
        <p:spPr>
          <a:xfrm>
            <a:off x="9774936" y="5349240"/>
            <a:ext cx="1554480" cy="36576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信用</a:t>
            </a:r>
            <a:endParaRPr lang="ja-JP"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05</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2031 SUCCESS DEFINITION</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2031年の成功は、売上だけでは定義しない。</a:t>
            </a:r>
            <a:endParaRPr lang="ja-JP" sz="2600" dirty="0"/>
          </a:p>
        </p:txBody>
      </p:sp>
      <p:sp>
        <p:nvSpPr>
          <p:cNvPr id="4" name="Text 2"/>
          <p:cNvSpPr txBox="1"/>
          <p:nvPr/>
        </p:nvSpPr>
        <p:spPr>
          <a:xfrm>
            <a:off x="548640" y="1325880"/>
            <a:ext cx="11094415" cy="329184"/>
          </a:xfrm>
          <a:prstGeom prst="rect">
            <a:avLst/>
          </a:prstGeom>
          <a:noFill/>
          <a:ln/>
        </p:spPr>
        <p:txBody>
          <a:bodyPr wrap="square" lIns="0" tIns="0" rIns="0" bIns="0" rtlCol="0" anchor="ctr"/>
          <a:lstStyle/>
          <a:p>
            <a:pPr algn="l" indent="0" marL="0">
              <a:buNone/>
            </a:pPr>
            <a:r>
              <a:rPr lang="ja-JP" altLang="en-US" sz="1400" dirty="0">
                <a:solidFill>
                  <a:srgbClr val="5B6675"/>
                </a:solidFill>
                <a:latin typeface="Yu Gothic Medium" pitchFamily="34" charset="0"/>
                <a:ea typeface="Yu Gothic Medium" charset="-128"/>
                <a:cs typeface="Yu Gothic Medium" pitchFamily="34" charset="-120"/>
              </a:rPr>
              <a:t>4つの領域がそろい、50億・100億、そして上場へ進める状態になったとき、2031年を成功とする。</a:t>
            </a:r>
            <a:endParaRPr lang="ja-JP" sz="1400" dirty="0"/>
          </a:p>
        </p:txBody>
      </p:sp>
      <p:sp>
        <p:nvSpPr>
          <p:cNvPr id="5" name="Shape 3"/>
          <p:cNvSpPr/>
          <p:nvPr/>
        </p:nvSpPr>
        <p:spPr>
          <a:xfrm>
            <a:off x="8880856" y="585216"/>
            <a:ext cx="436880" cy="0"/>
          </a:xfrm>
          <a:prstGeom prst="line">
            <a:avLst/>
          </a:prstGeom>
          <a:noFill/>
          <a:ln w="12700">
            <a:solidFill>
              <a:srgbClr val="C9D1DC"/>
            </a:solidFill>
            <a:prstDash val="solid"/>
          </a:ln>
        </p:spPr>
      </p:sp>
      <p:sp>
        <p:nvSpPr>
          <p:cNvPr id="6" name="Shape 4"/>
          <p:cNvSpPr/>
          <p:nvPr/>
        </p:nvSpPr>
        <p:spPr>
          <a:xfrm>
            <a:off x="9878771" y="585216"/>
            <a:ext cx="444805" cy="0"/>
          </a:xfrm>
          <a:prstGeom prst="line">
            <a:avLst/>
          </a:prstGeom>
          <a:noFill/>
          <a:ln w="12700">
            <a:solidFill>
              <a:srgbClr val="C9D1DC"/>
            </a:solidFill>
            <a:prstDash val="solid"/>
          </a:ln>
        </p:spPr>
      </p:sp>
      <p:sp>
        <p:nvSpPr>
          <p:cNvPr id="7" name="Shape 5"/>
          <p:cNvSpPr/>
          <p:nvPr/>
        </p:nvSpPr>
        <p:spPr>
          <a:xfrm>
            <a:off x="10884611" y="585216"/>
            <a:ext cx="353365" cy="0"/>
          </a:xfrm>
          <a:prstGeom prst="line">
            <a:avLst/>
          </a:prstGeom>
          <a:noFill/>
          <a:ln w="12700">
            <a:solidFill>
              <a:srgbClr val="C9D1DC"/>
            </a:solidFill>
            <a:prstDash val="sysDash"/>
          </a:ln>
        </p:spPr>
      </p:sp>
      <p:sp>
        <p:nvSpPr>
          <p:cNvPr id="8" name="Shape 6"/>
          <p:cNvSpPr/>
          <p:nvPr/>
        </p:nvSpPr>
        <p:spPr>
          <a:xfrm>
            <a:off x="8348472" y="539496"/>
            <a:ext cx="91440" cy="91440"/>
          </a:xfrm>
          <a:prstGeom prst="ellipse">
            <a:avLst/>
          </a:prstGeom>
          <a:solidFill>
            <a:srgbClr val="C5CCD6"/>
          </a:solidFill>
          <a:ln/>
        </p:spPr>
      </p:sp>
      <p:sp>
        <p:nvSpPr>
          <p:cNvPr id="9" name="Text 7"/>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10" name="Shape 8"/>
          <p:cNvSpPr/>
          <p:nvPr/>
        </p:nvSpPr>
        <p:spPr>
          <a:xfrm>
            <a:off x="9354312" y="539496"/>
            <a:ext cx="91440" cy="91440"/>
          </a:xfrm>
          <a:prstGeom prst="ellipse">
            <a:avLst/>
          </a:prstGeom>
          <a:solidFill>
            <a:srgbClr val="C5CCD6"/>
          </a:solidFill>
          <a:ln/>
        </p:spPr>
      </p:sp>
      <p:sp>
        <p:nvSpPr>
          <p:cNvPr id="11" name="Text 9"/>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2" name="Shape 10"/>
          <p:cNvSpPr/>
          <p:nvPr/>
        </p:nvSpPr>
        <p:spPr>
          <a:xfrm>
            <a:off x="10360152" y="539496"/>
            <a:ext cx="91440" cy="91440"/>
          </a:xfrm>
          <a:prstGeom prst="ellipse">
            <a:avLst/>
          </a:prstGeom>
          <a:solidFill>
            <a:srgbClr val="B08D57"/>
          </a:solidFill>
          <a:ln/>
        </p:spPr>
      </p:sp>
      <p:sp>
        <p:nvSpPr>
          <p:cNvPr id="13" name="Text 11"/>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4" name="Shape 12"/>
          <p:cNvSpPr/>
          <p:nvPr/>
        </p:nvSpPr>
        <p:spPr>
          <a:xfrm>
            <a:off x="11274552" y="539496"/>
            <a:ext cx="91440" cy="91440"/>
          </a:xfrm>
          <a:prstGeom prst="ellipse">
            <a:avLst/>
          </a:prstGeom>
          <a:solidFill>
            <a:srgbClr val="C5CCD6"/>
          </a:solidFill>
          <a:ln/>
        </p:spPr>
      </p:sp>
      <p:sp>
        <p:nvSpPr>
          <p:cNvPr id="15" name="Text 13"/>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6" name="Text 14"/>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第Ⅰ章　理念と長期目標</a:t>
            </a:r>
            <a:endParaRPr lang="ja-JP" sz="1000" dirty="0"/>
          </a:p>
        </p:txBody>
      </p:sp>
      <p:sp>
        <p:nvSpPr>
          <p:cNvPr id="17" name="Text 15"/>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05</a:t>
            </a:r>
            <a:endParaRPr lang="en-US" sz="1000" dirty="0"/>
          </a:p>
        </p:txBody>
      </p:sp>
      <p:sp>
        <p:nvSpPr>
          <p:cNvPr id="19" name="Shape 16"/>
          <p:cNvSpPr/>
          <p:nvPr/>
        </p:nvSpPr>
        <p:spPr>
          <a:xfrm>
            <a:off x="548640" y="1737360"/>
            <a:ext cx="5411419" cy="2011680"/>
          </a:xfrm>
          <a:prstGeom prst="rect">
            <a:avLst/>
          </a:prstGeom>
          <a:solidFill>
            <a:srgbClr val="F3F5F8"/>
          </a:solidFill>
          <a:ln/>
        </p:spPr>
      </p:sp>
      <p:sp>
        <p:nvSpPr>
          <p:cNvPr id="20" name="Text 17"/>
          <p:cNvSpPr txBox="1"/>
          <p:nvPr/>
        </p:nvSpPr>
        <p:spPr>
          <a:xfrm>
            <a:off x="822960" y="1865376"/>
            <a:ext cx="502920" cy="347472"/>
          </a:xfrm>
          <a:prstGeom prst="rect">
            <a:avLst/>
          </a:prstGeom>
          <a:noFill/>
          <a:ln/>
        </p:spPr>
        <p:txBody>
          <a:bodyPr wrap="square" lIns="0" tIns="0" rIns="0" bIns="0" rtlCol="0" anchor="ctr"/>
          <a:lstStyle/>
          <a:p>
            <a:pPr algn="l" indent="0" marL="0">
              <a:buNone/>
            </a:pPr>
            <a:r>
              <a:rPr lang="en-US" altLang="en-US" sz="1600" b="1" dirty="0">
                <a:solidFill>
                  <a:srgbClr val="8C6D3F"/>
                </a:solidFill>
                <a:latin typeface="Cambria" pitchFamily="34" charset="0"/>
                <a:ea typeface="Cambria" charset="-128"/>
                <a:cs typeface="Cambria" pitchFamily="34" charset="-120"/>
              </a:rPr>
              <a:t>01</a:t>
            </a:r>
            <a:endParaRPr lang="en-US" sz="1600" dirty="0"/>
          </a:p>
        </p:txBody>
      </p:sp>
      <p:sp>
        <p:nvSpPr>
          <p:cNvPr id="21" name="Text 18"/>
          <p:cNvSpPr txBox="1"/>
          <p:nvPr/>
        </p:nvSpPr>
        <p:spPr>
          <a:xfrm>
            <a:off x="1325880" y="1865376"/>
            <a:ext cx="2743200" cy="347472"/>
          </a:xfrm>
          <a:prstGeom prst="rect">
            <a:avLst/>
          </a:prstGeom>
          <a:noFill/>
          <a:ln/>
        </p:spPr>
        <p:txBody>
          <a:bodyPr wrap="square" lIns="0" tIns="0" rIns="0" bIns="0" rtlCol="0" anchor="ctr"/>
          <a:lstStyle/>
          <a:p>
            <a:pPr algn="l" indent="0" marL="0">
              <a:buNone/>
            </a:pPr>
            <a:r>
              <a:rPr lang="ja-JP" altLang="en-US" sz="1800" b="1" dirty="0">
                <a:solidFill>
                  <a:srgbClr val="14284B"/>
                </a:solidFill>
                <a:latin typeface="Yu Gothic" pitchFamily="34" charset="0"/>
                <a:ea typeface="Yu Gothic" charset="-128"/>
                <a:cs typeface="Yu Gothic" pitchFamily="34" charset="-120"/>
              </a:rPr>
              <a:t>財務</a:t>
            </a:r>
            <a:endParaRPr lang="ja-JP" sz="1800" dirty="0"/>
          </a:p>
        </p:txBody>
      </p:sp>
      <p:sp>
        <p:nvSpPr>
          <p:cNvPr id="22" name="Text 19"/>
          <p:cNvSpPr txBox="1"/>
          <p:nvPr/>
        </p:nvSpPr>
        <p:spPr>
          <a:xfrm>
            <a:off x="3566160" y="1865376"/>
            <a:ext cx="2148840" cy="347472"/>
          </a:xfrm>
          <a:prstGeom prst="rect">
            <a:avLst/>
          </a:prstGeom>
          <a:noFill/>
          <a:ln/>
        </p:spPr>
        <p:txBody>
          <a:bodyPr wrap="square" lIns="0" tIns="0" rIns="0" bIns="0" rtlCol="0" anchor="ctr"/>
          <a:lstStyle/>
          <a:p>
            <a:pPr algn="r" indent="0" marL="0">
              <a:buNone/>
            </a:pPr>
            <a:r>
              <a:rPr lang="en-US" altLang="en-US" sz="1100" b="1" spc="200" kern="0" dirty="0">
                <a:solidFill>
                  <a:srgbClr val="8C6D3F"/>
                </a:solidFill>
                <a:latin typeface="Arial" pitchFamily="34" charset="0"/>
                <a:ea typeface="Arial" charset="-128"/>
                <a:cs typeface="Arial" pitchFamily="34" charset="-120"/>
              </a:rPr>
              <a:t>FINANCIAL</a:t>
            </a:r>
            <a:endParaRPr lang="en-US" sz="1100" dirty="0"/>
          </a:p>
        </p:txBody>
      </p:sp>
      <p:sp>
        <p:nvSpPr>
          <p:cNvPr id="23" name="Shape 20"/>
          <p:cNvSpPr/>
          <p:nvPr/>
        </p:nvSpPr>
        <p:spPr>
          <a:xfrm>
            <a:off x="813816" y="2441448"/>
            <a:ext cx="73152" cy="73152"/>
          </a:xfrm>
          <a:prstGeom prst="ellipse">
            <a:avLst/>
          </a:prstGeom>
          <a:solidFill>
            <a:srgbClr val="14284B"/>
          </a:solidFill>
          <a:ln/>
        </p:spPr>
      </p:sp>
      <p:sp>
        <p:nvSpPr>
          <p:cNvPr id="24" name="Text 21"/>
          <p:cNvSpPr txBox="1"/>
          <p:nvPr/>
        </p:nvSpPr>
        <p:spPr>
          <a:xfrm>
            <a:off x="1005840" y="2322576"/>
            <a:ext cx="466344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グループ連結売上 30億円</a:t>
            </a:r>
            <a:pPr algn="l" indent="0" marL="0">
              <a:buNone/>
            </a:pPr>
            <a:r>
              <a:rPr lang="ja-JP" altLang="en-US" sz="1200" dirty="0">
                <a:solidFill>
                  <a:srgbClr val="8C6D3F"/>
                </a:solidFill>
                <a:latin typeface="Yu Gothic Medium" pitchFamily="34" charset="0"/>
                <a:ea typeface="Yu Gothic Medium" charset="-128"/>
                <a:cs typeface="Yu Gothic Medium" pitchFamily="34" charset="-120"/>
              </a:rPr>
              <a:t>（暫定）</a:t>
            </a:r>
            <a:endParaRPr lang="ja-JP" sz="1400" dirty="0"/>
          </a:p>
        </p:txBody>
      </p:sp>
      <p:sp>
        <p:nvSpPr>
          <p:cNvPr id="25" name="Shape 22"/>
          <p:cNvSpPr/>
          <p:nvPr/>
        </p:nvSpPr>
        <p:spPr>
          <a:xfrm>
            <a:off x="818388" y="2793492"/>
            <a:ext cx="64008" cy="64008"/>
          </a:xfrm>
          <a:prstGeom prst="ellipse">
            <a:avLst/>
          </a:prstGeom>
          <a:solidFill>
            <a:srgbClr val="B08D57"/>
          </a:solidFill>
          <a:ln/>
        </p:spPr>
      </p:sp>
      <p:sp>
        <p:nvSpPr>
          <p:cNvPr id="26" name="Text 23"/>
          <p:cNvSpPr txBox="1"/>
          <p:nvPr/>
        </p:nvSpPr>
        <p:spPr>
          <a:xfrm>
            <a:off x="1005840" y="267004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安定した営業利益</a:t>
            </a:r>
            <a:endParaRPr lang="ja-JP" sz="1400" dirty="0"/>
          </a:p>
        </p:txBody>
      </p:sp>
      <p:sp>
        <p:nvSpPr>
          <p:cNvPr id="27" name="Shape 24"/>
          <p:cNvSpPr/>
          <p:nvPr/>
        </p:nvSpPr>
        <p:spPr>
          <a:xfrm>
            <a:off x="3378708" y="2793492"/>
            <a:ext cx="64008" cy="64008"/>
          </a:xfrm>
          <a:prstGeom prst="ellipse">
            <a:avLst/>
          </a:prstGeom>
          <a:solidFill>
            <a:srgbClr val="B08D57"/>
          </a:solidFill>
          <a:ln/>
        </p:spPr>
      </p:sp>
      <p:sp>
        <p:nvSpPr>
          <p:cNvPr id="28" name="Text 25"/>
          <p:cNvSpPr txBox="1"/>
          <p:nvPr/>
        </p:nvSpPr>
        <p:spPr>
          <a:xfrm>
            <a:off x="3566160" y="267004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営業CF創出</a:t>
            </a:r>
            <a:endParaRPr lang="ja-JP" sz="1400" dirty="0"/>
          </a:p>
        </p:txBody>
      </p:sp>
      <p:sp>
        <p:nvSpPr>
          <p:cNvPr id="29" name="Shape 26"/>
          <p:cNvSpPr/>
          <p:nvPr/>
        </p:nvSpPr>
        <p:spPr>
          <a:xfrm>
            <a:off x="818388" y="3140964"/>
            <a:ext cx="64008" cy="64008"/>
          </a:xfrm>
          <a:prstGeom prst="ellipse">
            <a:avLst/>
          </a:prstGeom>
          <a:solidFill>
            <a:srgbClr val="B08D57"/>
          </a:solidFill>
          <a:ln/>
        </p:spPr>
      </p:sp>
      <p:sp>
        <p:nvSpPr>
          <p:cNvPr id="30" name="Text 27"/>
          <p:cNvSpPr txBox="1"/>
          <p:nvPr/>
        </p:nvSpPr>
        <p:spPr>
          <a:xfrm>
            <a:off x="1005840" y="3017520"/>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十分な現預金</a:t>
            </a:r>
            <a:endParaRPr lang="ja-JP" sz="1400" dirty="0"/>
          </a:p>
        </p:txBody>
      </p:sp>
      <p:sp>
        <p:nvSpPr>
          <p:cNvPr id="31" name="Shape 28"/>
          <p:cNvSpPr/>
          <p:nvPr/>
        </p:nvSpPr>
        <p:spPr>
          <a:xfrm>
            <a:off x="818388" y="3488436"/>
            <a:ext cx="64008" cy="64008"/>
          </a:xfrm>
          <a:prstGeom prst="ellipse">
            <a:avLst/>
          </a:prstGeom>
          <a:solidFill>
            <a:srgbClr val="B08D57"/>
          </a:solidFill>
          <a:ln/>
        </p:spPr>
      </p:sp>
      <p:sp>
        <p:nvSpPr>
          <p:cNvPr id="32" name="Text 29"/>
          <p:cNvSpPr txBox="1"/>
          <p:nvPr/>
        </p:nvSpPr>
        <p:spPr>
          <a:xfrm>
            <a:off x="1005840" y="3364992"/>
            <a:ext cx="466344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継続的なM&amp;Aを可能にする借入余力</a:t>
            </a:r>
            <a:endParaRPr lang="ja-JP" sz="1400" dirty="0"/>
          </a:p>
        </p:txBody>
      </p:sp>
      <p:sp>
        <p:nvSpPr>
          <p:cNvPr id="33" name="Shape 30"/>
          <p:cNvSpPr/>
          <p:nvPr/>
        </p:nvSpPr>
        <p:spPr>
          <a:xfrm>
            <a:off x="6231636" y="1737360"/>
            <a:ext cx="5411419" cy="2011680"/>
          </a:xfrm>
          <a:prstGeom prst="rect">
            <a:avLst/>
          </a:prstGeom>
          <a:solidFill>
            <a:srgbClr val="F3F5F8"/>
          </a:solidFill>
          <a:ln/>
        </p:spPr>
      </p:sp>
      <p:sp>
        <p:nvSpPr>
          <p:cNvPr id="34" name="Text 31"/>
          <p:cNvSpPr txBox="1"/>
          <p:nvPr/>
        </p:nvSpPr>
        <p:spPr>
          <a:xfrm>
            <a:off x="6505956" y="1865376"/>
            <a:ext cx="502920" cy="347472"/>
          </a:xfrm>
          <a:prstGeom prst="rect">
            <a:avLst/>
          </a:prstGeom>
          <a:noFill/>
          <a:ln/>
        </p:spPr>
        <p:txBody>
          <a:bodyPr wrap="square" lIns="0" tIns="0" rIns="0" bIns="0" rtlCol="0" anchor="ctr"/>
          <a:lstStyle/>
          <a:p>
            <a:pPr algn="l" indent="0" marL="0">
              <a:buNone/>
            </a:pPr>
            <a:r>
              <a:rPr lang="en-US" altLang="en-US" sz="1600" b="1" dirty="0">
                <a:solidFill>
                  <a:srgbClr val="8C6D3F"/>
                </a:solidFill>
                <a:latin typeface="Cambria" pitchFamily="34" charset="0"/>
                <a:ea typeface="Cambria" charset="-128"/>
                <a:cs typeface="Cambria" pitchFamily="34" charset="-120"/>
              </a:rPr>
              <a:t>02</a:t>
            </a:r>
            <a:endParaRPr lang="en-US" sz="1600" dirty="0"/>
          </a:p>
        </p:txBody>
      </p:sp>
      <p:sp>
        <p:nvSpPr>
          <p:cNvPr id="35" name="Text 32"/>
          <p:cNvSpPr txBox="1"/>
          <p:nvPr/>
        </p:nvSpPr>
        <p:spPr>
          <a:xfrm>
            <a:off x="7008876" y="1865376"/>
            <a:ext cx="2743200" cy="347472"/>
          </a:xfrm>
          <a:prstGeom prst="rect">
            <a:avLst/>
          </a:prstGeom>
          <a:noFill/>
          <a:ln/>
        </p:spPr>
        <p:txBody>
          <a:bodyPr wrap="square" lIns="0" tIns="0" rIns="0" bIns="0" rtlCol="0" anchor="ctr"/>
          <a:lstStyle/>
          <a:p>
            <a:pPr algn="l" indent="0" marL="0">
              <a:buNone/>
            </a:pPr>
            <a:r>
              <a:rPr lang="ja-JP" altLang="en-US" sz="1800" b="1" dirty="0">
                <a:solidFill>
                  <a:srgbClr val="14284B"/>
                </a:solidFill>
                <a:latin typeface="Yu Gothic" pitchFamily="34" charset="0"/>
                <a:ea typeface="Yu Gothic" charset="-128"/>
                <a:cs typeface="Yu Gothic" pitchFamily="34" charset="-120"/>
              </a:rPr>
              <a:t>事業ポートフォリオ</a:t>
            </a:r>
            <a:endParaRPr lang="ja-JP" sz="1800" dirty="0"/>
          </a:p>
        </p:txBody>
      </p:sp>
      <p:sp>
        <p:nvSpPr>
          <p:cNvPr id="36" name="Text 33"/>
          <p:cNvSpPr txBox="1"/>
          <p:nvPr/>
        </p:nvSpPr>
        <p:spPr>
          <a:xfrm>
            <a:off x="9249156" y="1865376"/>
            <a:ext cx="2148840" cy="347472"/>
          </a:xfrm>
          <a:prstGeom prst="rect">
            <a:avLst/>
          </a:prstGeom>
          <a:noFill/>
          <a:ln/>
        </p:spPr>
        <p:txBody>
          <a:bodyPr wrap="square" lIns="0" tIns="0" rIns="0" bIns="0" rtlCol="0" anchor="ctr"/>
          <a:lstStyle/>
          <a:p>
            <a:pPr algn="r" indent="0" marL="0">
              <a:buNone/>
            </a:pPr>
            <a:r>
              <a:rPr lang="en-US" altLang="en-US" sz="1100" b="1" spc="200" kern="0" dirty="0">
                <a:solidFill>
                  <a:srgbClr val="8C6D3F"/>
                </a:solidFill>
                <a:latin typeface="Arial" pitchFamily="34" charset="0"/>
                <a:ea typeface="Arial" charset="-128"/>
                <a:cs typeface="Arial" pitchFamily="34" charset="-120"/>
              </a:rPr>
              <a:t>PORTFOLIO</a:t>
            </a:r>
            <a:endParaRPr lang="en-US" sz="1100" dirty="0"/>
          </a:p>
        </p:txBody>
      </p:sp>
      <p:sp>
        <p:nvSpPr>
          <p:cNvPr id="37" name="Shape 34"/>
          <p:cNvSpPr/>
          <p:nvPr/>
        </p:nvSpPr>
        <p:spPr>
          <a:xfrm>
            <a:off x="6501384" y="2446020"/>
            <a:ext cx="64008" cy="64008"/>
          </a:xfrm>
          <a:prstGeom prst="ellipse">
            <a:avLst/>
          </a:prstGeom>
          <a:solidFill>
            <a:srgbClr val="B08D57"/>
          </a:solidFill>
          <a:ln/>
        </p:spPr>
      </p:sp>
      <p:sp>
        <p:nvSpPr>
          <p:cNvPr id="38" name="Text 35"/>
          <p:cNvSpPr txBox="1"/>
          <p:nvPr/>
        </p:nvSpPr>
        <p:spPr>
          <a:xfrm>
            <a:off x="6688836" y="232257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複数業種</a:t>
            </a:r>
            <a:endParaRPr lang="ja-JP" sz="1400" dirty="0"/>
          </a:p>
        </p:txBody>
      </p:sp>
      <p:sp>
        <p:nvSpPr>
          <p:cNvPr id="39" name="Shape 36"/>
          <p:cNvSpPr/>
          <p:nvPr/>
        </p:nvSpPr>
        <p:spPr>
          <a:xfrm>
            <a:off x="9061704" y="2446020"/>
            <a:ext cx="64008" cy="64008"/>
          </a:xfrm>
          <a:prstGeom prst="ellipse">
            <a:avLst/>
          </a:prstGeom>
          <a:solidFill>
            <a:srgbClr val="B08D57"/>
          </a:solidFill>
          <a:ln/>
        </p:spPr>
      </p:sp>
      <p:sp>
        <p:nvSpPr>
          <p:cNvPr id="40" name="Text 37"/>
          <p:cNvSpPr txBox="1"/>
          <p:nvPr/>
        </p:nvSpPr>
        <p:spPr>
          <a:xfrm>
            <a:off x="9249156" y="232257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M&amp;Aによる非連続成長</a:t>
            </a:r>
            <a:endParaRPr lang="ja-JP" sz="1400" dirty="0"/>
          </a:p>
        </p:txBody>
      </p:sp>
      <p:sp>
        <p:nvSpPr>
          <p:cNvPr id="41" name="Shape 38"/>
          <p:cNvSpPr/>
          <p:nvPr/>
        </p:nvSpPr>
        <p:spPr>
          <a:xfrm>
            <a:off x="6501384" y="2793492"/>
            <a:ext cx="64008" cy="64008"/>
          </a:xfrm>
          <a:prstGeom prst="ellipse">
            <a:avLst/>
          </a:prstGeom>
          <a:solidFill>
            <a:srgbClr val="B08D57"/>
          </a:solidFill>
          <a:ln/>
        </p:spPr>
      </p:sp>
      <p:sp>
        <p:nvSpPr>
          <p:cNvPr id="42" name="Text 39"/>
          <p:cNvSpPr txBox="1"/>
          <p:nvPr/>
        </p:nvSpPr>
        <p:spPr>
          <a:xfrm>
            <a:off x="6688836" y="267004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複数事業</a:t>
            </a:r>
            <a:endParaRPr lang="ja-JP" sz="1400" dirty="0"/>
          </a:p>
        </p:txBody>
      </p:sp>
      <p:sp>
        <p:nvSpPr>
          <p:cNvPr id="43" name="Shape 40"/>
          <p:cNvSpPr/>
          <p:nvPr/>
        </p:nvSpPr>
        <p:spPr>
          <a:xfrm>
            <a:off x="9061704" y="2793492"/>
            <a:ext cx="64008" cy="64008"/>
          </a:xfrm>
          <a:prstGeom prst="ellipse">
            <a:avLst/>
          </a:prstGeom>
          <a:solidFill>
            <a:srgbClr val="B08D57"/>
          </a:solidFill>
          <a:ln/>
        </p:spPr>
      </p:sp>
      <p:sp>
        <p:nvSpPr>
          <p:cNvPr id="44" name="Text 41"/>
          <p:cNvSpPr txBox="1"/>
          <p:nvPr/>
        </p:nvSpPr>
        <p:spPr>
          <a:xfrm>
            <a:off x="9249156" y="267004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新規事業創出能力</a:t>
            </a:r>
            <a:endParaRPr lang="ja-JP" sz="1400" dirty="0"/>
          </a:p>
        </p:txBody>
      </p:sp>
      <p:sp>
        <p:nvSpPr>
          <p:cNvPr id="45" name="Shape 42"/>
          <p:cNvSpPr/>
          <p:nvPr/>
        </p:nvSpPr>
        <p:spPr>
          <a:xfrm>
            <a:off x="6501384" y="3140964"/>
            <a:ext cx="64008" cy="64008"/>
          </a:xfrm>
          <a:prstGeom prst="ellipse">
            <a:avLst/>
          </a:prstGeom>
          <a:solidFill>
            <a:srgbClr val="B08D57"/>
          </a:solidFill>
          <a:ln/>
        </p:spPr>
      </p:sp>
      <p:sp>
        <p:nvSpPr>
          <p:cNvPr id="46" name="Text 43"/>
          <p:cNvSpPr txBox="1"/>
          <p:nvPr/>
        </p:nvSpPr>
        <p:spPr>
          <a:xfrm>
            <a:off x="6688836" y="3017520"/>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収益源分散</a:t>
            </a:r>
            <a:endParaRPr lang="ja-JP" sz="1400" dirty="0"/>
          </a:p>
        </p:txBody>
      </p:sp>
      <p:sp>
        <p:nvSpPr>
          <p:cNvPr id="47" name="Shape 44"/>
          <p:cNvSpPr/>
          <p:nvPr/>
        </p:nvSpPr>
        <p:spPr>
          <a:xfrm>
            <a:off x="548640" y="3977640"/>
            <a:ext cx="5411419" cy="2011680"/>
          </a:xfrm>
          <a:prstGeom prst="rect">
            <a:avLst/>
          </a:prstGeom>
          <a:solidFill>
            <a:srgbClr val="F3F5F8"/>
          </a:solidFill>
          <a:ln/>
        </p:spPr>
      </p:sp>
      <p:sp>
        <p:nvSpPr>
          <p:cNvPr id="48" name="Text 45"/>
          <p:cNvSpPr txBox="1"/>
          <p:nvPr/>
        </p:nvSpPr>
        <p:spPr>
          <a:xfrm>
            <a:off x="822960" y="4105656"/>
            <a:ext cx="502920" cy="347472"/>
          </a:xfrm>
          <a:prstGeom prst="rect">
            <a:avLst/>
          </a:prstGeom>
          <a:noFill/>
          <a:ln/>
        </p:spPr>
        <p:txBody>
          <a:bodyPr wrap="square" lIns="0" tIns="0" rIns="0" bIns="0" rtlCol="0" anchor="ctr"/>
          <a:lstStyle/>
          <a:p>
            <a:pPr algn="l" indent="0" marL="0">
              <a:buNone/>
            </a:pPr>
            <a:r>
              <a:rPr lang="en-US" altLang="en-US" sz="1600" b="1" dirty="0">
                <a:solidFill>
                  <a:srgbClr val="8C6D3F"/>
                </a:solidFill>
                <a:latin typeface="Cambria" pitchFamily="34" charset="0"/>
                <a:ea typeface="Cambria" charset="-128"/>
                <a:cs typeface="Cambria" pitchFamily="34" charset="-120"/>
              </a:rPr>
              <a:t>03</a:t>
            </a:r>
            <a:endParaRPr lang="en-US" sz="1600" dirty="0"/>
          </a:p>
        </p:txBody>
      </p:sp>
      <p:sp>
        <p:nvSpPr>
          <p:cNvPr id="49" name="Text 46"/>
          <p:cNvSpPr txBox="1"/>
          <p:nvPr/>
        </p:nvSpPr>
        <p:spPr>
          <a:xfrm>
            <a:off x="1325880" y="4105656"/>
            <a:ext cx="2743200" cy="347472"/>
          </a:xfrm>
          <a:prstGeom prst="rect">
            <a:avLst/>
          </a:prstGeom>
          <a:noFill/>
          <a:ln/>
        </p:spPr>
        <p:txBody>
          <a:bodyPr wrap="square" lIns="0" tIns="0" rIns="0" bIns="0" rtlCol="0" anchor="ctr"/>
          <a:lstStyle/>
          <a:p>
            <a:pPr algn="l" indent="0" marL="0">
              <a:buNone/>
            </a:pPr>
            <a:r>
              <a:rPr lang="ja-JP" altLang="en-US" sz="1800" b="1" dirty="0">
                <a:solidFill>
                  <a:srgbClr val="14284B"/>
                </a:solidFill>
                <a:latin typeface="Yu Gothic" pitchFamily="34" charset="0"/>
                <a:ea typeface="Yu Gothic" charset="-128"/>
                <a:cs typeface="Yu Gothic" pitchFamily="34" charset="-120"/>
              </a:rPr>
              <a:t>組織</a:t>
            </a:r>
            <a:endParaRPr lang="ja-JP" sz="1800" dirty="0"/>
          </a:p>
        </p:txBody>
      </p:sp>
      <p:sp>
        <p:nvSpPr>
          <p:cNvPr id="50" name="Text 47"/>
          <p:cNvSpPr txBox="1"/>
          <p:nvPr/>
        </p:nvSpPr>
        <p:spPr>
          <a:xfrm>
            <a:off x="3566160" y="4105656"/>
            <a:ext cx="2148840" cy="347472"/>
          </a:xfrm>
          <a:prstGeom prst="rect">
            <a:avLst/>
          </a:prstGeom>
          <a:noFill/>
          <a:ln/>
        </p:spPr>
        <p:txBody>
          <a:bodyPr wrap="square" lIns="0" tIns="0" rIns="0" bIns="0" rtlCol="0" anchor="ctr"/>
          <a:lstStyle/>
          <a:p>
            <a:pPr algn="r" indent="0" marL="0">
              <a:buNone/>
            </a:pPr>
            <a:r>
              <a:rPr lang="en-US" altLang="en-US" sz="1100" b="1" spc="200" kern="0" dirty="0">
                <a:solidFill>
                  <a:srgbClr val="8C6D3F"/>
                </a:solidFill>
                <a:latin typeface="Arial" pitchFamily="34" charset="0"/>
                <a:ea typeface="Arial" charset="-128"/>
                <a:cs typeface="Arial" pitchFamily="34" charset="-120"/>
              </a:rPr>
              <a:t>ORGANIZATION</a:t>
            </a:r>
            <a:endParaRPr lang="en-US" sz="1100" dirty="0"/>
          </a:p>
        </p:txBody>
      </p:sp>
      <p:sp>
        <p:nvSpPr>
          <p:cNvPr id="51" name="Shape 48"/>
          <p:cNvSpPr/>
          <p:nvPr/>
        </p:nvSpPr>
        <p:spPr>
          <a:xfrm>
            <a:off x="818388" y="4686300"/>
            <a:ext cx="64008" cy="64008"/>
          </a:xfrm>
          <a:prstGeom prst="ellipse">
            <a:avLst/>
          </a:prstGeom>
          <a:solidFill>
            <a:srgbClr val="B08D57"/>
          </a:solidFill>
          <a:ln/>
        </p:spPr>
      </p:sp>
      <p:sp>
        <p:nvSpPr>
          <p:cNvPr id="52" name="Text 49"/>
          <p:cNvSpPr txBox="1"/>
          <p:nvPr/>
        </p:nvSpPr>
        <p:spPr>
          <a:xfrm>
            <a:off x="1005840" y="456285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各子会社に経営責任者</a:t>
            </a:r>
            <a:endParaRPr lang="ja-JP" sz="1400" dirty="0"/>
          </a:p>
        </p:txBody>
      </p:sp>
      <p:sp>
        <p:nvSpPr>
          <p:cNvPr id="53" name="Shape 50"/>
          <p:cNvSpPr/>
          <p:nvPr/>
        </p:nvSpPr>
        <p:spPr>
          <a:xfrm>
            <a:off x="3378708" y="4686300"/>
            <a:ext cx="64008" cy="64008"/>
          </a:xfrm>
          <a:prstGeom prst="ellipse">
            <a:avLst/>
          </a:prstGeom>
          <a:solidFill>
            <a:srgbClr val="B08D57"/>
          </a:solidFill>
          <a:ln/>
        </p:spPr>
      </p:sp>
      <p:sp>
        <p:nvSpPr>
          <p:cNvPr id="54" name="Text 51"/>
          <p:cNvSpPr txBox="1"/>
          <p:nvPr/>
        </p:nvSpPr>
        <p:spPr>
          <a:xfrm>
            <a:off x="3566160" y="456285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創業者非依存</a:t>
            </a:r>
            <a:endParaRPr lang="ja-JP" sz="1400" dirty="0"/>
          </a:p>
        </p:txBody>
      </p:sp>
      <p:sp>
        <p:nvSpPr>
          <p:cNvPr id="55" name="Shape 52"/>
          <p:cNvSpPr/>
          <p:nvPr/>
        </p:nvSpPr>
        <p:spPr>
          <a:xfrm>
            <a:off x="818388" y="5033772"/>
            <a:ext cx="64008" cy="64008"/>
          </a:xfrm>
          <a:prstGeom prst="ellipse">
            <a:avLst/>
          </a:prstGeom>
          <a:solidFill>
            <a:srgbClr val="B08D57"/>
          </a:solidFill>
          <a:ln/>
        </p:spPr>
      </p:sp>
      <p:sp>
        <p:nvSpPr>
          <p:cNvPr id="56" name="Text 53"/>
          <p:cNvSpPr txBox="1"/>
          <p:nvPr/>
        </p:nvSpPr>
        <p:spPr>
          <a:xfrm>
            <a:off x="1005840" y="491032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親会社経営陣</a:t>
            </a:r>
            <a:endParaRPr lang="ja-JP" sz="1400" dirty="0"/>
          </a:p>
        </p:txBody>
      </p:sp>
      <p:sp>
        <p:nvSpPr>
          <p:cNvPr id="57" name="Shape 54"/>
          <p:cNvSpPr/>
          <p:nvPr/>
        </p:nvSpPr>
        <p:spPr>
          <a:xfrm>
            <a:off x="3378708" y="5033772"/>
            <a:ext cx="64008" cy="64008"/>
          </a:xfrm>
          <a:prstGeom prst="ellipse">
            <a:avLst/>
          </a:prstGeom>
          <a:solidFill>
            <a:srgbClr val="B08D57"/>
          </a:solidFill>
          <a:ln/>
        </p:spPr>
      </p:sp>
      <p:sp>
        <p:nvSpPr>
          <p:cNvPr id="58" name="Text 55"/>
          <p:cNvSpPr txBox="1"/>
          <p:nvPr/>
        </p:nvSpPr>
        <p:spPr>
          <a:xfrm>
            <a:off x="3566160" y="491032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共通管理機能</a:t>
            </a:r>
            <a:endParaRPr lang="ja-JP" sz="1400" dirty="0"/>
          </a:p>
        </p:txBody>
      </p:sp>
      <p:sp>
        <p:nvSpPr>
          <p:cNvPr id="59" name="Shape 56"/>
          <p:cNvSpPr/>
          <p:nvPr/>
        </p:nvSpPr>
        <p:spPr>
          <a:xfrm>
            <a:off x="818388" y="5381244"/>
            <a:ext cx="64008" cy="64008"/>
          </a:xfrm>
          <a:prstGeom prst="ellipse">
            <a:avLst/>
          </a:prstGeom>
          <a:solidFill>
            <a:srgbClr val="B08D57"/>
          </a:solidFill>
          <a:ln/>
        </p:spPr>
      </p:sp>
      <p:sp>
        <p:nvSpPr>
          <p:cNvPr id="60" name="Text 57"/>
          <p:cNvSpPr txBox="1"/>
          <p:nvPr/>
        </p:nvSpPr>
        <p:spPr>
          <a:xfrm>
            <a:off x="1005840" y="5257800"/>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経営人材育成</a:t>
            </a:r>
            <a:endParaRPr lang="ja-JP" sz="1400" dirty="0"/>
          </a:p>
        </p:txBody>
      </p:sp>
      <p:sp>
        <p:nvSpPr>
          <p:cNvPr id="61" name="Shape 58"/>
          <p:cNvSpPr/>
          <p:nvPr/>
        </p:nvSpPr>
        <p:spPr>
          <a:xfrm>
            <a:off x="6231636" y="3977640"/>
            <a:ext cx="5411419" cy="2011680"/>
          </a:xfrm>
          <a:prstGeom prst="rect">
            <a:avLst/>
          </a:prstGeom>
          <a:solidFill>
            <a:srgbClr val="F3F5F8"/>
          </a:solidFill>
          <a:ln/>
        </p:spPr>
      </p:sp>
      <p:sp>
        <p:nvSpPr>
          <p:cNvPr id="62" name="Text 59"/>
          <p:cNvSpPr txBox="1"/>
          <p:nvPr/>
        </p:nvSpPr>
        <p:spPr>
          <a:xfrm>
            <a:off x="6505956" y="4105656"/>
            <a:ext cx="502920" cy="347472"/>
          </a:xfrm>
          <a:prstGeom prst="rect">
            <a:avLst/>
          </a:prstGeom>
          <a:noFill/>
          <a:ln/>
        </p:spPr>
        <p:txBody>
          <a:bodyPr wrap="square" lIns="0" tIns="0" rIns="0" bIns="0" rtlCol="0" anchor="ctr"/>
          <a:lstStyle/>
          <a:p>
            <a:pPr algn="l" indent="0" marL="0">
              <a:buNone/>
            </a:pPr>
            <a:r>
              <a:rPr lang="en-US" altLang="en-US" sz="1600" b="1" dirty="0">
                <a:solidFill>
                  <a:srgbClr val="8C6D3F"/>
                </a:solidFill>
                <a:latin typeface="Cambria" pitchFamily="34" charset="0"/>
                <a:ea typeface="Cambria" charset="-128"/>
                <a:cs typeface="Cambria" pitchFamily="34" charset="-120"/>
              </a:rPr>
              <a:t>04</a:t>
            </a:r>
            <a:endParaRPr lang="en-US" sz="1600" dirty="0"/>
          </a:p>
        </p:txBody>
      </p:sp>
      <p:sp>
        <p:nvSpPr>
          <p:cNvPr id="63" name="Text 60"/>
          <p:cNvSpPr txBox="1"/>
          <p:nvPr/>
        </p:nvSpPr>
        <p:spPr>
          <a:xfrm>
            <a:off x="7008876" y="4105656"/>
            <a:ext cx="2743200" cy="347472"/>
          </a:xfrm>
          <a:prstGeom prst="rect">
            <a:avLst/>
          </a:prstGeom>
          <a:noFill/>
          <a:ln/>
        </p:spPr>
        <p:txBody>
          <a:bodyPr wrap="square" lIns="0" tIns="0" rIns="0" bIns="0" rtlCol="0" anchor="ctr"/>
          <a:lstStyle/>
          <a:p>
            <a:pPr algn="l" indent="0" marL="0">
              <a:buNone/>
            </a:pPr>
            <a:r>
              <a:rPr lang="ja-JP" altLang="en-US" sz="1800" b="1" dirty="0">
                <a:solidFill>
                  <a:srgbClr val="14284B"/>
                </a:solidFill>
                <a:latin typeface="Yu Gothic" pitchFamily="34" charset="0"/>
                <a:ea typeface="Yu Gothic" charset="-128"/>
                <a:cs typeface="Yu Gothic" pitchFamily="34" charset="-120"/>
              </a:rPr>
              <a:t>経営管理</a:t>
            </a:r>
            <a:endParaRPr lang="ja-JP" sz="1800" dirty="0"/>
          </a:p>
        </p:txBody>
      </p:sp>
      <p:sp>
        <p:nvSpPr>
          <p:cNvPr id="64" name="Text 61"/>
          <p:cNvSpPr txBox="1"/>
          <p:nvPr/>
        </p:nvSpPr>
        <p:spPr>
          <a:xfrm>
            <a:off x="9249156" y="4105656"/>
            <a:ext cx="2148840" cy="347472"/>
          </a:xfrm>
          <a:prstGeom prst="rect">
            <a:avLst/>
          </a:prstGeom>
          <a:noFill/>
          <a:ln/>
        </p:spPr>
        <p:txBody>
          <a:bodyPr wrap="square" lIns="0" tIns="0" rIns="0" bIns="0" rtlCol="0" anchor="ctr"/>
          <a:lstStyle/>
          <a:p>
            <a:pPr algn="r" indent="0" marL="0">
              <a:buNone/>
            </a:pPr>
            <a:r>
              <a:rPr lang="en-US" altLang="en-US" sz="1100" b="1" spc="200" kern="0" dirty="0">
                <a:solidFill>
                  <a:srgbClr val="8C6D3F"/>
                </a:solidFill>
                <a:latin typeface="Arial" pitchFamily="34" charset="0"/>
                <a:ea typeface="Arial" charset="-128"/>
                <a:cs typeface="Arial" pitchFamily="34" charset="-120"/>
              </a:rPr>
              <a:t>MANAGEMENT</a:t>
            </a:r>
            <a:endParaRPr lang="en-US" sz="1100" dirty="0"/>
          </a:p>
        </p:txBody>
      </p:sp>
      <p:sp>
        <p:nvSpPr>
          <p:cNvPr id="65" name="Shape 62"/>
          <p:cNvSpPr/>
          <p:nvPr/>
        </p:nvSpPr>
        <p:spPr>
          <a:xfrm>
            <a:off x="6501384" y="4686300"/>
            <a:ext cx="64008" cy="64008"/>
          </a:xfrm>
          <a:prstGeom prst="ellipse">
            <a:avLst/>
          </a:prstGeom>
          <a:solidFill>
            <a:srgbClr val="B08D57"/>
          </a:solidFill>
          <a:ln/>
        </p:spPr>
      </p:sp>
      <p:sp>
        <p:nvSpPr>
          <p:cNvPr id="66" name="Text 63"/>
          <p:cNvSpPr txBox="1"/>
          <p:nvPr/>
        </p:nvSpPr>
        <p:spPr>
          <a:xfrm>
            <a:off x="6688836" y="456285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連結管理</a:t>
            </a:r>
            <a:endParaRPr lang="ja-JP" sz="1400" dirty="0"/>
          </a:p>
        </p:txBody>
      </p:sp>
      <p:sp>
        <p:nvSpPr>
          <p:cNvPr id="67" name="Shape 64"/>
          <p:cNvSpPr/>
          <p:nvPr/>
        </p:nvSpPr>
        <p:spPr>
          <a:xfrm>
            <a:off x="9061704" y="4686300"/>
            <a:ext cx="64008" cy="64008"/>
          </a:xfrm>
          <a:prstGeom prst="ellipse">
            <a:avLst/>
          </a:prstGeom>
          <a:solidFill>
            <a:srgbClr val="B08D57"/>
          </a:solidFill>
          <a:ln/>
        </p:spPr>
      </p:sp>
      <p:sp>
        <p:nvSpPr>
          <p:cNvPr id="68" name="Text 65"/>
          <p:cNvSpPr txBox="1"/>
          <p:nvPr/>
        </p:nvSpPr>
        <p:spPr>
          <a:xfrm>
            <a:off x="9249156" y="4562856"/>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資本配分</a:t>
            </a:r>
            <a:endParaRPr lang="ja-JP" sz="1400" dirty="0"/>
          </a:p>
        </p:txBody>
      </p:sp>
      <p:sp>
        <p:nvSpPr>
          <p:cNvPr id="69" name="Shape 66"/>
          <p:cNvSpPr/>
          <p:nvPr/>
        </p:nvSpPr>
        <p:spPr>
          <a:xfrm>
            <a:off x="6501384" y="5033772"/>
            <a:ext cx="64008" cy="64008"/>
          </a:xfrm>
          <a:prstGeom prst="ellipse">
            <a:avLst/>
          </a:prstGeom>
          <a:solidFill>
            <a:srgbClr val="B08D57"/>
          </a:solidFill>
          <a:ln/>
        </p:spPr>
      </p:sp>
      <p:sp>
        <p:nvSpPr>
          <p:cNvPr id="70" name="Text 67"/>
          <p:cNvSpPr txBox="1"/>
          <p:nvPr/>
        </p:nvSpPr>
        <p:spPr>
          <a:xfrm>
            <a:off x="6688836" y="491032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予実管理</a:t>
            </a:r>
            <a:endParaRPr lang="ja-JP" sz="1400" dirty="0"/>
          </a:p>
        </p:txBody>
      </p:sp>
      <p:sp>
        <p:nvSpPr>
          <p:cNvPr id="71" name="Shape 68"/>
          <p:cNvSpPr/>
          <p:nvPr/>
        </p:nvSpPr>
        <p:spPr>
          <a:xfrm>
            <a:off x="9061704" y="5033772"/>
            <a:ext cx="64008" cy="64008"/>
          </a:xfrm>
          <a:prstGeom prst="ellipse">
            <a:avLst/>
          </a:prstGeom>
          <a:solidFill>
            <a:srgbClr val="B08D57"/>
          </a:solidFill>
          <a:ln/>
        </p:spPr>
      </p:sp>
      <p:sp>
        <p:nvSpPr>
          <p:cNvPr id="72" name="Text 69"/>
          <p:cNvSpPr txBox="1"/>
          <p:nvPr/>
        </p:nvSpPr>
        <p:spPr>
          <a:xfrm>
            <a:off x="9249156" y="4910328"/>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PMI</a:t>
            </a:r>
            <a:endParaRPr lang="ja-JP" sz="1400" dirty="0"/>
          </a:p>
        </p:txBody>
      </p:sp>
      <p:sp>
        <p:nvSpPr>
          <p:cNvPr id="73" name="Shape 70"/>
          <p:cNvSpPr/>
          <p:nvPr/>
        </p:nvSpPr>
        <p:spPr>
          <a:xfrm>
            <a:off x="6501384" y="5381244"/>
            <a:ext cx="64008" cy="64008"/>
          </a:xfrm>
          <a:prstGeom prst="ellipse">
            <a:avLst/>
          </a:prstGeom>
          <a:solidFill>
            <a:srgbClr val="B08D57"/>
          </a:solidFill>
          <a:ln/>
        </p:spPr>
      </p:sp>
      <p:sp>
        <p:nvSpPr>
          <p:cNvPr id="74" name="Text 71"/>
          <p:cNvSpPr txBox="1"/>
          <p:nvPr/>
        </p:nvSpPr>
        <p:spPr>
          <a:xfrm>
            <a:off x="6688836" y="5257800"/>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キャッシュ管理</a:t>
            </a:r>
            <a:endParaRPr lang="ja-JP" sz="1400" dirty="0"/>
          </a:p>
        </p:txBody>
      </p:sp>
      <p:sp>
        <p:nvSpPr>
          <p:cNvPr id="75" name="Shape 72"/>
          <p:cNvSpPr/>
          <p:nvPr/>
        </p:nvSpPr>
        <p:spPr>
          <a:xfrm>
            <a:off x="9061704" y="5381244"/>
            <a:ext cx="64008" cy="64008"/>
          </a:xfrm>
          <a:prstGeom prst="ellipse">
            <a:avLst/>
          </a:prstGeom>
          <a:solidFill>
            <a:srgbClr val="B08D57"/>
          </a:solidFill>
          <a:ln/>
        </p:spPr>
      </p:sp>
      <p:sp>
        <p:nvSpPr>
          <p:cNvPr id="76" name="Text 73"/>
          <p:cNvSpPr txBox="1"/>
          <p:nvPr/>
        </p:nvSpPr>
        <p:spPr>
          <a:xfrm>
            <a:off x="9249156" y="5257800"/>
            <a:ext cx="2331720" cy="310896"/>
          </a:xfrm>
          <a:prstGeom prst="rect">
            <a:avLst/>
          </a:prstGeom>
          <a:noFill/>
          <a:ln/>
        </p:spPr>
        <p:txBody>
          <a:bodyPr wrap="square" lIns="0" tIns="0" rIns="0" bIns="0" rtlCol="0" anchor="ctr"/>
          <a:lstStyle/>
          <a:p>
            <a:pPr algn="l" indent="0" marL="0">
              <a:buNone/>
            </a:pPr>
            <a:r>
              <a:rPr lang="ja-JP" altLang="en-US" sz="1400" dirty="0">
                <a:solidFill>
                  <a:srgbClr val="1B1F27"/>
                </a:solidFill>
                <a:latin typeface="Yu Gothic Medium" pitchFamily="34" charset="0"/>
                <a:ea typeface="Yu Gothic Medium" charset="-128"/>
                <a:cs typeface="Yu Gothic Medium" pitchFamily="34" charset="-120"/>
              </a:rPr>
              <a:t>内部統制</a:t>
            </a:r>
            <a:endParaRPr lang="ja-JP"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06</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5 YEAR REVENUE TARGET</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5カ年で、グループ連結売上を2億円から30億円へ。</a:t>
            </a:r>
            <a:endParaRPr lang="ja-JP" sz="2600" dirty="0"/>
          </a:p>
        </p:txBody>
      </p:sp>
      <p:sp>
        <p:nvSpPr>
          <p:cNvPr id="4" name="Shape 2"/>
          <p:cNvSpPr/>
          <p:nvPr/>
        </p:nvSpPr>
        <p:spPr>
          <a:xfrm>
            <a:off x="8880856" y="585216"/>
            <a:ext cx="436880" cy="0"/>
          </a:xfrm>
          <a:prstGeom prst="line">
            <a:avLst/>
          </a:prstGeom>
          <a:noFill/>
          <a:ln w="19050">
            <a:solidFill>
              <a:srgbClr val="B08D57"/>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B08D57"/>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06</a:t>
            </a:r>
            <a:endParaRPr lang="en-US" sz="1000" dirty="0"/>
          </a:p>
        </p:txBody>
      </p:sp>
      <p:sp>
        <p:nvSpPr>
          <p:cNvPr id="18" name="Text 15"/>
          <p:cNvSpPr txBox="1"/>
          <p:nvPr/>
        </p:nvSpPr>
        <p:spPr>
          <a:xfrm>
            <a:off x="548640" y="1737360"/>
            <a:ext cx="5029200" cy="292608"/>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グループ連結売上高（単位：億円）</a:t>
            </a:r>
            <a:endParaRPr lang="ja-JP" sz="1400" dirty="0"/>
          </a:p>
        </p:txBody>
      </p:sp>
      <p:sp>
        <p:nvSpPr>
          <p:cNvPr id="19" name="Text 16"/>
          <p:cNvSpPr txBox="1"/>
          <p:nvPr/>
        </p:nvSpPr>
        <p:spPr>
          <a:xfrm>
            <a:off x="6254496" y="1737360"/>
            <a:ext cx="1463040" cy="292608"/>
          </a:xfrm>
          <a:prstGeom prst="rect">
            <a:avLst/>
          </a:prstGeom>
          <a:noFill/>
          <a:ln w="12700">
            <a:solidFill>
              <a:srgbClr val="8C6D3F"/>
            </a:solidFill>
          </a:ln>
        </p:spPr>
        <p:txBody>
          <a:bodyPr wrap="square" lIns="0" tIns="0" rIns="0" bIns="0" rtlCol="0" anchor="ctr"/>
          <a:lstStyle/>
          <a:p>
            <a:pPr algn="ctr" indent="0" marL="0">
              <a:buNone/>
            </a:pPr>
            <a:r>
              <a:rPr lang="ja-JP" altLang="en-US" sz="1100" b="1" dirty="0">
                <a:solidFill>
                  <a:srgbClr val="8C6D3F"/>
                </a:solidFill>
                <a:latin typeface="Yu Gothic" pitchFamily="34" charset="0"/>
                <a:ea typeface="Yu Gothic" charset="-128"/>
                <a:cs typeface="Yu Gothic" pitchFamily="34" charset="-120"/>
              </a:rPr>
              <a:t>暫定経営目標</a:t>
            </a:r>
            <a:endParaRPr lang="ja-JP" sz="1100" dirty="0"/>
          </a:p>
        </p:txBody>
      </p:sp>
      <p:graphicFrame>
        <p:nvGraphicFramePr>
          <p:cNvPr id="20" name="Chart 0" descr="FY2027〜FY2031 グループ連結売上高の暫定経営目標：2億円、5億円、10億円、18億円、30億円"/>
          <p:cNvGraphicFramePr/>
          <p:nvPr/>
        </p:nvGraphicFramePr>
        <p:xfrm>
          <a:off x="548640" y="2103120"/>
          <a:ext cx="7315200" cy="3456432"/>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1623202" y="4368930"/>
            <a:ext cx="601391" cy="292608"/>
          </a:xfrm>
          <a:prstGeom prst="rect">
            <a:avLst/>
          </a:prstGeom>
          <a:solidFill>
            <a:srgbClr val="FFFFFF"/>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2億円</a:t>
            </a:r>
            <a:endParaRPr lang="ja-JP" sz="1400" dirty="0"/>
          </a:p>
        </p:txBody>
      </p:sp>
      <p:sp>
        <p:nvSpPr>
          <p:cNvPr id="22" name="Text 18"/>
          <p:cNvSpPr txBox="1"/>
          <p:nvPr/>
        </p:nvSpPr>
        <p:spPr>
          <a:xfrm>
            <a:off x="2910677" y="4137843"/>
            <a:ext cx="601391" cy="292608"/>
          </a:xfrm>
          <a:prstGeom prst="rect">
            <a:avLst/>
          </a:prstGeom>
          <a:solidFill>
            <a:srgbClr val="FFFFFF"/>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5億円</a:t>
            </a:r>
            <a:endParaRPr lang="ja-JP" sz="1400" dirty="0"/>
          </a:p>
        </p:txBody>
      </p:sp>
      <p:sp>
        <p:nvSpPr>
          <p:cNvPr id="23" name="Text 19"/>
          <p:cNvSpPr txBox="1"/>
          <p:nvPr/>
        </p:nvSpPr>
        <p:spPr>
          <a:xfrm>
            <a:off x="4146377" y="3752698"/>
            <a:ext cx="704941" cy="292608"/>
          </a:xfrm>
          <a:prstGeom prst="rect">
            <a:avLst/>
          </a:prstGeom>
          <a:solidFill>
            <a:srgbClr val="FFFFFF"/>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10億円</a:t>
            </a:r>
            <a:endParaRPr lang="ja-JP" sz="1400" dirty="0"/>
          </a:p>
        </p:txBody>
      </p:sp>
      <p:sp>
        <p:nvSpPr>
          <p:cNvPr id="24" name="Text 20"/>
          <p:cNvSpPr txBox="1"/>
          <p:nvPr/>
        </p:nvSpPr>
        <p:spPr>
          <a:xfrm>
            <a:off x="5433852" y="3136465"/>
            <a:ext cx="704941" cy="292608"/>
          </a:xfrm>
          <a:prstGeom prst="rect">
            <a:avLst/>
          </a:prstGeom>
          <a:solidFill>
            <a:srgbClr val="FFFFFF"/>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18億円</a:t>
            </a:r>
            <a:endParaRPr lang="ja-JP" sz="1400" dirty="0"/>
          </a:p>
        </p:txBody>
      </p:sp>
      <p:sp>
        <p:nvSpPr>
          <p:cNvPr id="25" name="Text 21"/>
          <p:cNvSpPr txBox="1"/>
          <p:nvPr/>
        </p:nvSpPr>
        <p:spPr>
          <a:xfrm>
            <a:off x="6680119" y="2212116"/>
            <a:ext cx="787359" cy="292608"/>
          </a:xfrm>
          <a:prstGeom prst="rect">
            <a:avLst/>
          </a:prstGeom>
          <a:solidFill>
            <a:srgbClr val="FFFFFF"/>
          </a:solidFill>
          <a:ln/>
        </p:spPr>
        <p:txBody>
          <a:bodyPr wrap="square" lIns="0" tIns="0" rIns="0" bIns="0" rtlCol="0" anchor="ctr"/>
          <a:lstStyle/>
          <a:p>
            <a:pPr algn="ctr" indent="0" marL="0">
              <a:buNone/>
            </a:pPr>
            <a:r>
              <a:rPr lang="ja-JP" altLang="en-US" sz="1600" b="1" dirty="0">
                <a:solidFill>
                  <a:srgbClr val="8C6D3F"/>
                </a:solidFill>
                <a:latin typeface="Yu Gothic" pitchFamily="34" charset="0"/>
                <a:ea typeface="Yu Gothic" charset="-128"/>
                <a:cs typeface="Yu Gothic" pitchFamily="34" charset="-120"/>
              </a:rPr>
              <a:t>30億円</a:t>
            </a:r>
            <a:endParaRPr lang="ja-JP" sz="1600" dirty="0"/>
          </a:p>
        </p:txBody>
      </p:sp>
      <p:sp>
        <p:nvSpPr>
          <p:cNvPr id="26" name="Shape 22"/>
          <p:cNvSpPr/>
          <p:nvPr/>
        </p:nvSpPr>
        <p:spPr>
          <a:xfrm>
            <a:off x="8183880" y="1737360"/>
            <a:ext cx="3456432" cy="3840480"/>
          </a:xfrm>
          <a:prstGeom prst="rect">
            <a:avLst/>
          </a:prstGeom>
          <a:solidFill>
            <a:srgbClr val="F3F5F8"/>
          </a:solidFill>
          <a:ln/>
        </p:spPr>
      </p:sp>
      <p:sp>
        <p:nvSpPr>
          <p:cNvPr id="27" name="Text 23"/>
          <p:cNvSpPr txBox="1"/>
          <p:nvPr/>
        </p:nvSpPr>
        <p:spPr>
          <a:xfrm>
            <a:off x="8412480" y="1874520"/>
            <a:ext cx="3063240" cy="274320"/>
          </a:xfrm>
          <a:prstGeom prst="rect">
            <a:avLst/>
          </a:prstGeom>
          <a:noFill/>
          <a:ln/>
        </p:spPr>
        <p:txBody>
          <a:bodyPr wrap="square" lIns="0" tIns="0" rIns="0" bIns="0" rtlCol="0" anchor="ctr"/>
          <a:lstStyle/>
          <a:p>
            <a:pPr algn="l" indent="0" marL="0">
              <a:buNone/>
            </a:pPr>
            <a:r>
              <a:rPr lang="ja-JP" altLang="en-US" sz="1300" b="1" dirty="0">
                <a:solidFill>
                  <a:srgbClr val="14284B"/>
                </a:solidFill>
                <a:latin typeface="Yu Gothic" pitchFamily="34" charset="0"/>
                <a:ea typeface="Yu Gothic" charset="-128"/>
                <a:cs typeface="Yu Gothic" pitchFamily="34" charset="-120"/>
              </a:rPr>
              <a:t>成長倍率（FY2027→FY2031）</a:t>
            </a:r>
            <a:endParaRPr lang="ja-JP" sz="1300" dirty="0"/>
          </a:p>
        </p:txBody>
      </p:sp>
      <p:sp>
        <p:nvSpPr>
          <p:cNvPr id="28" name="Text 24"/>
          <p:cNvSpPr txBox="1"/>
          <p:nvPr/>
        </p:nvSpPr>
        <p:spPr>
          <a:xfrm>
            <a:off x="8412480" y="2130552"/>
            <a:ext cx="3017520" cy="932688"/>
          </a:xfrm>
          <a:prstGeom prst="rect">
            <a:avLst/>
          </a:prstGeom>
          <a:noFill/>
          <a:ln/>
        </p:spPr>
        <p:txBody>
          <a:bodyPr wrap="square" lIns="0" tIns="0" rIns="0" bIns="0" rtlCol="0" anchor="ctr"/>
          <a:lstStyle/>
          <a:p>
            <a:pPr algn="l" indent="0" marL="0">
              <a:buNone/>
            </a:pPr>
            <a:r>
              <a:rPr lang="en-US" altLang="en-US" sz="6000" b="1" dirty="0">
                <a:solidFill>
                  <a:srgbClr val="14284B"/>
                </a:solidFill>
                <a:latin typeface="Cambria" pitchFamily="34" charset="0"/>
                <a:ea typeface="Cambria" charset="-128"/>
                <a:cs typeface="Cambria" pitchFamily="34" charset="-120"/>
              </a:rPr>
              <a:t>×15</a:t>
            </a:r>
            <a:endParaRPr lang="en-US" sz="6000" dirty="0"/>
          </a:p>
        </p:txBody>
      </p:sp>
      <p:sp>
        <p:nvSpPr>
          <p:cNvPr id="29" name="Text 25"/>
          <p:cNvSpPr txBox="1"/>
          <p:nvPr/>
        </p:nvSpPr>
        <p:spPr>
          <a:xfrm>
            <a:off x="8412480" y="3035808"/>
            <a:ext cx="3063240" cy="256032"/>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2億円 → 30億円（4期間）</a:t>
            </a:r>
            <a:endParaRPr lang="ja-JP" sz="1200" dirty="0"/>
          </a:p>
        </p:txBody>
      </p:sp>
      <p:sp>
        <p:nvSpPr>
          <p:cNvPr id="30" name="Text 26"/>
          <p:cNvSpPr txBox="1"/>
          <p:nvPr/>
        </p:nvSpPr>
        <p:spPr>
          <a:xfrm>
            <a:off x="8412480" y="3401568"/>
            <a:ext cx="100584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年度</a:t>
            </a:r>
            <a:endParaRPr lang="ja-JP" sz="1100" dirty="0"/>
          </a:p>
        </p:txBody>
      </p:sp>
      <p:sp>
        <p:nvSpPr>
          <p:cNvPr id="31" name="Text 27"/>
          <p:cNvSpPr txBox="1"/>
          <p:nvPr/>
        </p:nvSpPr>
        <p:spPr>
          <a:xfrm>
            <a:off x="9464040" y="3401568"/>
            <a:ext cx="100584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暫定売上</a:t>
            </a:r>
            <a:endParaRPr lang="ja-JP" sz="1100" dirty="0"/>
          </a:p>
        </p:txBody>
      </p:sp>
      <p:sp>
        <p:nvSpPr>
          <p:cNvPr id="32" name="Text 28"/>
          <p:cNvSpPr txBox="1"/>
          <p:nvPr/>
        </p:nvSpPr>
        <p:spPr>
          <a:xfrm>
            <a:off x="10515600" y="3401568"/>
            <a:ext cx="914400" cy="237744"/>
          </a:xfrm>
          <a:prstGeom prst="rect">
            <a:avLst/>
          </a:prstGeom>
          <a:noFill/>
          <a:ln/>
        </p:spPr>
        <p:txBody>
          <a:bodyPr wrap="square" lIns="0" tIns="0" rIns="0" bIns="0" rtlCol="0" anchor="ctr"/>
          <a:lstStyle/>
          <a:p>
            <a:pPr algn="r" indent="0" marL="0">
              <a:buNone/>
            </a:pPr>
            <a:r>
              <a:rPr lang="ja-JP" altLang="en-US" sz="1100" dirty="0">
                <a:solidFill>
                  <a:srgbClr val="5B6675"/>
                </a:solidFill>
                <a:latin typeface="Yu Gothic Medium" pitchFamily="34" charset="0"/>
                <a:ea typeface="Yu Gothic Medium" charset="-128"/>
                <a:cs typeface="Yu Gothic Medium" pitchFamily="34" charset="-120"/>
              </a:rPr>
              <a:t>前年比</a:t>
            </a:r>
            <a:endParaRPr lang="ja-JP" sz="1100" dirty="0"/>
          </a:p>
        </p:txBody>
      </p:sp>
      <p:sp>
        <p:nvSpPr>
          <p:cNvPr id="33" name="Shape 29"/>
          <p:cNvSpPr/>
          <p:nvPr/>
        </p:nvSpPr>
        <p:spPr>
          <a:xfrm>
            <a:off x="8412480" y="3675888"/>
            <a:ext cx="3017520" cy="0"/>
          </a:xfrm>
          <a:prstGeom prst="line">
            <a:avLst/>
          </a:prstGeom>
          <a:noFill/>
          <a:ln w="9525">
            <a:solidFill>
              <a:srgbClr val="14284B"/>
            </a:solidFill>
            <a:prstDash val="solid"/>
          </a:ln>
        </p:spPr>
      </p:sp>
      <p:sp>
        <p:nvSpPr>
          <p:cNvPr id="34" name="Text 30"/>
          <p:cNvSpPr txBox="1"/>
          <p:nvPr/>
        </p:nvSpPr>
        <p:spPr>
          <a:xfrm>
            <a:off x="8412480" y="3712464"/>
            <a:ext cx="1005840" cy="274320"/>
          </a:xfrm>
          <a:prstGeom prst="rect">
            <a:avLst/>
          </a:prstGeom>
          <a:noFill/>
          <a:ln/>
        </p:spPr>
        <p:txBody>
          <a:bodyPr wrap="square" lIns="0" tIns="0" rIns="0" bIns="0" rtlCol="0" anchor="ctr"/>
          <a:lstStyle/>
          <a:p>
            <a:pPr algn="l" indent="0" marL="0">
              <a:buNone/>
            </a:pPr>
            <a:r>
              <a:rPr lang="en-US" altLang="en-US" sz="1200" dirty="0">
                <a:solidFill>
                  <a:srgbClr val="1B1F27"/>
                </a:solidFill>
                <a:latin typeface="Arial" pitchFamily="34" charset="0"/>
                <a:ea typeface="Arial" charset="-128"/>
                <a:cs typeface="Arial" pitchFamily="34" charset="-120"/>
              </a:rPr>
              <a:t>FY2027</a:t>
            </a:r>
            <a:endParaRPr lang="en-US" sz="1200" dirty="0"/>
          </a:p>
        </p:txBody>
      </p:sp>
      <p:sp>
        <p:nvSpPr>
          <p:cNvPr id="35" name="Text 31"/>
          <p:cNvSpPr txBox="1"/>
          <p:nvPr/>
        </p:nvSpPr>
        <p:spPr>
          <a:xfrm>
            <a:off x="9464040" y="3712464"/>
            <a:ext cx="100584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2億円</a:t>
            </a:r>
            <a:endParaRPr lang="ja-JP" sz="1200" dirty="0"/>
          </a:p>
        </p:txBody>
      </p:sp>
      <p:sp>
        <p:nvSpPr>
          <p:cNvPr id="36" name="Text 32"/>
          <p:cNvSpPr txBox="1"/>
          <p:nvPr/>
        </p:nvSpPr>
        <p:spPr>
          <a:xfrm>
            <a:off x="10515600" y="3712464"/>
            <a:ext cx="914400" cy="274320"/>
          </a:xfrm>
          <a:prstGeom prst="rect">
            <a:avLst/>
          </a:prstGeom>
          <a:noFill/>
          <a:ln/>
        </p:spPr>
        <p:txBody>
          <a:bodyPr wrap="square" lIns="0" tIns="0" rIns="0" bIns="0" rtlCol="0" anchor="ctr"/>
          <a:lstStyle/>
          <a:p>
            <a:pPr algn="r" indent="0" marL="0">
              <a:buNone/>
            </a:pPr>
            <a:r>
              <a:rPr lang="ja-JP" altLang="en-US" sz="1200" dirty="0">
                <a:solidFill>
                  <a:srgbClr val="1B1F27"/>
                </a:solidFill>
                <a:latin typeface="Yu Gothic Medium" pitchFamily="34" charset="0"/>
                <a:ea typeface="Yu Gothic Medium" charset="-128"/>
                <a:cs typeface="Yu Gothic Medium" pitchFamily="34" charset="-120"/>
              </a:rPr>
              <a:t>—</a:t>
            </a:r>
            <a:endParaRPr lang="ja-JP" sz="1200" dirty="0"/>
          </a:p>
        </p:txBody>
      </p:sp>
      <p:sp>
        <p:nvSpPr>
          <p:cNvPr id="37" name="Shape 33"/>
          <p:cNvSpPr/>
          <p:nvPr/>
        </p:nvSpPr>
        <p:spPr>
          <a:xfrm>
            <a:off x="8412480" y="3995928"/>
            <a:ext cx="3017520" cy="0"/>
          </a:xfrm>
          <a:prstGeom prst="line">
            <a:avLst/>
          </a:prstGeom>
          <a:noFill/>
          <a:ln w="6350">
            <a:solidFill>
              <a:srgbClr val="C9D1DC"/>
            </a:solidFill>
            <a:prstDash val="solid"/>
          </a:ln>
        </p:spPr>
      </p:sp>
      <p:sp>
        <p:nvSpPr>
          <p:cNvPr id="38" name="Text 34"/>
          <p:cNvSpPr txBox="1"/>
          <p:nvPr/>
        </p:nvSpPr>
        <p:spPr>
          <a:xfrm>
            <a:off x="8412480" y="4005072"/>
            <a:ext cx="1005840" cy="274320"/>
          </a:xfrm>
          <a:prstGeom prst="rect">
            <a:avLst/>
          </a:prstGeom>
          <a:noFill/>
          <a:ln/>
        </p:spPr>
        <p:txBody>
          <a:bodyPr wrap="square" lIns="0" tIns="0" rIns="0" bIns="0" rtlCol="0" anchor="ctr"/>
          <a:lstStyle/>
          <a:p>
            <a:pPr algn="l" indent="0" marL="0">
              <a:buNone/>
            </a:pPr>
            <a:r>
              <a:rPr lang="en-US" altLang="en-US" sz="1200" dirty="0">
                <a:solidFill>
                  <a:srgbClr val="1B1F27"/>
                </a:solidFill>
                <a:latin typeface="Arial" pitchFamily="34" charset="0"/>
                <a:ea typeface="Arial" charset="-128"/>
                <a:cs typeface="Arial" pitchFamily="34" charset="-120"/>
              </a:rPr>
              <a:t>FY2028</a:t>
            </a:r>
            <a:endParaRPr lang="en-US" sz="1200" dirty="0"/>
          </a:p>
        </p:txBody>
      </p:sp>
      <p:sp>
        <p:nvSpPr>
          <p:cNvPr id="39" name="Text 35"/>
          <p:cNvSpPr txBox="1"/>
          <p:nvPr/>
        </p:nvSpPr>
        <p:spPr>
          <a:xfrm>
            <a:off x="9464040" y="4005072"/>
            <a:ext cx="100584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5億円</a:t>
            </a:r>
            <a:endParaRPr lang="ja-JP" sz="1200" dirty="0"/>
          </a:p>
        </p:txBody>
      </p:sp>
      <p:sp>
        <p:nvSpPr>
          <p:cNvPr id="40" name="Text 36"/>
          <p:cNvSpPr txBox="1"/>
          <p:nvPr/>
        </p:nvSpPr>
        <p:spPr>
          <a:xfrm>
            <a:off x="10515600" y="4005072"/>
            <a:ext cx="914400" cy="274320"/>
          </a:xfrm>
          <a:prstGeom prst="rect">
            <a:avLst/>
          </a:prstGeom>
          <a:noFill/>
          <a:ln/>
        </p:spPr>
        <p:txBody>
          <a:bodyPr wrap="square" lIns="0" tIns="0" rIns="0" bIns="0" rtlCol="0" anchor="ctr"/>
          <a:lstStyle/>
          <a:p>
            <a:pPr algn="r" indent="0" marL="0">
              <a:buNone/>
            </a:pPr>
            <a:r>
              <a:rPr lang="en-US" altLang="en-US" sz="1200" dirty="0">
                <a:solidFill>
                  <a:srgbClr val="1B1F27"/>
                </a:solidFill>
                <a:latin typeface="Arial" pitchFamily="34" charset="0"/>
                <a:ea typeface="Arial" charset="-128"/>
                <a:cs typeface="Arial" pitchFamily="34" charset="-120"/>
              </a:rPr>
              <a:t>×2.5</a:t>
            </a:r>
            <a:endParaRPr lang="en-US" sz="1200" dirty="0"/>
          </a:p>
        </p:txBody>
      </p:sp>
      <p:sp>
        <p:nvSpPr>
          <p:cNvPr id="41" name="Shape 37"/>
          <p:cNvSpPr/>
          <p:nvPr/>
        </p:nvSpPr>
        <p:spPr>
          <a:xfrm>
            <a:off x="8412480" y="4288536"/>
            <a:ext cx="3017520" cy="0"/>
          </a:xfrm>
          <a:prstGeom prst="line">
            <a:avLst/>
          </a:prstGeom>
          <a:noFill/>
          <a:ln w="6350">
            <a:solidFill>
              <a:srgbClr val="C9D1DC"/>
            </a:solidFill>
            <a:prstDash val="solid"/>
          </a:ln>
        </p:spPr>
      </p:sp>
      <p:sp>
        <p:nvSpPr>
          <p:cNvPr id="42" name="Text 38"/>
          <p:cNvSpPr txBox="1"/>
          <p:nvPr/>
        </p:nvSpPr>
        <p:spPr>
          <a:xfrm>
            <a:off x="8412480" y="4297680"/>
            <a:ext cx="1005840" cy="274320"/>
          </a:xfrm>
          <a:prstGeom prst="rect">
            <a:avLst/>
          </a:prstGeom>
          <a:noFill/>
          <a:ln/>
        </p:spPr>
        <p:txBody>
          <a:bodyPr wrap="square" lIns="0" tIns="0" rIns="0" bIns="0" rtlCol="0" anchor="ctr"/>
          <a:lstStyle/>
          <a:p>
            <a:pPr algn="l" indent="0" marL="0">
              <a:buNone/>
            </a:pPr>
            <a:r>
              <a:rPr lang="en-US" altLang="en-US" sz="1200" dirty="0">
                <a:solidFill>
                  <a:srgbClr val="1B1F27"/>
                </a:solidFill>
                <a:latin typeface="Arial" pitchFamily="34" charset="0"/>
                <a:ea typeface="Arial" charset="-128"/>
                <a:cs typeface="Arial" pitchFamily="34" charset="-120"/>
              </a:rPr>
              <a:t>FY2029</a:t>
            </a:r>
            <a:endParaRPr lang="en-US" sz="1200" dirty="0"/>
          </a:p>
        </p:txBody>
      </p:sp>
      <p:sp>
        <p:nvSpPr>
          <p:cNvPr id="43" name="Text 39"/>
          <p:cNvSpPr txBox="1"/>
          <p:nvPr/>
        </p:nvSpPr>
        <p:spPr>
          <a:xfrm>
            <a:off x="9464040" y="4297680"/>
            <a:ext cx="100584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10億円</a:t>
            </a:r>
            <a:endParaRPr lang="ja-JP" sz="1200" dirty="0"/>
          </a:p>
        </p:txBody>
      </p:sp>
      <p:sp>
        <p:nvSpPr>
          <p:cNvPr id="44" name="Text 40"/>
          <p:cNvSpPr txBox="1"/>
          <p:nvPr/>
        </p:nvSpPr>
        <p:spPr>
          <a:xfrm>
            <a:off x="10515600" y="4297680"/>
            <a:ext cx="914400" cy="274320"/>
          </a:xfrm>
          <a:prstGeom prst="rect">
            <a:avLst/>
          </a:prstGeom>
          <a:noFill/>
          <a:ln/>
        </p:spPr>
        <p:txBody>
          <a:bodyPr wrap="square" lIns="0" tIns="0" rIns="0" bIns="0" rtlCol="0" anchor="ctr"/>
          <a:lstStyle/>
          <a:p>
            <a:pPr algn="r" indent="0" marL="0">
              <a:buNone/>
            </a:pPr>
            <a:r>
              <a:rPr lang="en-US" altLang="en-US" sz="1200" dirty="0">
                <a:solidFill>
                  <a:srgbClr val="1B1F27"/>
                </a:solidFill>
                <a:latin typeface="Arial" pitchFamily="34" charset="0"/>
                <a:ea typeface="Arial" charset="-128"/>
                <a:cs typeface="Arial" pitchFamily="34" charset="-120"/>
              </a:rPr>
              <a:t>×2.0</a:t>
            </a:r>
            <a:endParaRPr lang="en-US" sz="1200" dirty="0"/>
          </a:p>
        </p:txBody>
      </p:sp>
      <p:sp>
        <p:nvSpPr>
          <p:cNvPr id="45" name="Shape 41"/>
          <p:cNvSpPr/>
          <p:nvPr/>
        </p:nvSpPr>
        <p:spPr>
          <a:xfrm>
            <a:off x="8412480" y="4581144"/>
            <a:ext cx="3017520" cy="0"/>
          </a:xfrm>
          <a:prstGeom prst="line">
            <a:avLst/>
          </a:prstGeom>
          <a:noFill/>
          <a:ln w="6350">
            <a:solidFill>
              <a:srgbClr val="C9D1DC"/>
            </a:solidFill>
            <a:prstDash val="solid"/>
          </a:ln>
        </p:spPr>
      </p:sp>
      <p:sp>
        <p:nvSpPr>
          <p:cNvPr id="46" name="Text 42"/>
          <p:cNvSpPr txBox="1"/>
          <p:nvPr/>
        </p:nvSpPr>
        <p:spPr>
          <a:xfrm>
            <a:off x="8412480" y="4590288"/>
            <a:ext cx="1005840" cy="274320"/>
          </a:xfrm>
          <a:prstGeom prst="rect">
            <a:avLst/>
          </a:prstGeom>
          <a:noFill/>
          <a:ln/>
        </p:spPr>
        <p:txBody>
          <a:bodyPr wrap="square" lIns="0" tIns="0" rIns="0" bIns="0" rtlCol="0" anchor="ctr"/>
          <a:lstStyle/>
          <a:p>
            <a:pPr algn="l" indent="0" marL="0">
              <a:buNone/>
            </a:pPr>
            <a:r>
              <a:rPr lang="en-US" altLang="en-US" sz="1200" dirty="0">
                <a:solidFill>
                  <a:srgbClr val="1B1F27"/>
                </a:solidFill>
                <a:latin typeface="Arial" pitchFamily="34" charset="0"/>
                <a:ea typeface="Arial" charset="-128"/>
                <a:cs typeface="Arial" pitchFamily="34" charset="-120"/>
              </a:rPr>
              <a:t>FY2030</a:t>
            </a:r>
            <a:endParaRPr lang="en-US" sz="1200" dirty="0"/>
          </a:p>
        </p:txBody>
      </p:sp>
      <p:sp>
        <p:nvSpPr>
          <p:cNvPr id="47" name="Text 43"/>
          <p:cNvSpPr txBox="1"/>
          <p:nvPr/>
        </p:nvSpPr>
        <p:spPr>
          <a:xfrm>
            <a:off x="9464040" y="4590288"/>
            <a:ext cx="100584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18億円</a:t>
            </a:r>
            <a:endParaRPr lang="ja-JP" sz="1200" dirty="0"/>
          </a:p>
        </p:txBody>
      </p:sp>
      <p:sp>
        <p:nvSpPr>
          <p:cNvPr id="48" name="Text 44"/>
          <p:cNvSpPr txBox="1"/>
          <p:nvPr/>
        </p:nvSpPr>
        <p:spPr>
          <a:xfrm>
            <a:off x="10515600" y="4590288"/>
            <a:ext cx="914400" cy="274320"/>
          </a:xfrm>
          <a:prstGeom prst="rect">
            <a:avLst/>
          </a:prstGeom>
          <a:noFill/>
          <a:ln/>
        </p:spPr>
        <p:txBody>
          <a:bodyPr wrap="square" lIns="0" tIns="0" rIns="0" bIns="0" rtlCol="0" anchor="ctr"/>
          <a:lstStyle/>
          <a:p>
            <a:pPr algn="r" indent="0" marL="0">
              <a:buNone/>
            </a:pPr>
            <a:r>
              <a:rPr lang="en-US" altLang="en-US" sz="1200" dirty="0">
                <a:solidFill>
                  <a:srgbClr val="1B1F27"/>
                </a:solidFill>
                <a:latin typeface="Arial" pitchFamily="34" charset="0"/>
                <a:ea typeface="Arial" charset="-128"/>
                <a:cs typeface="Arial" pitchFamily="34" charset="-120"/>
              </a:rPr>
              <a:t>×1.8</a:t>
            </a:r>
            <a:endParaRPr lang="en-US" sz="1200" dirty="0"/>
          </a:p>
        </p:txBody>
      </p:sp>
      <p:sp>
        <p:nvSpPr>
          <p:cNvPr id="49" name="Shape 45"/>
          <p:cNvSpPr/>
          <p:nvPr/>
        </p:nvSpPr>
        <p:spPr>
          <a:xfrm>
            <a:off x="8412480" y="4873752"/>
            <a:ext cx="3017520" cy="0"/>
          </a:xfrm>
          <a:prstGeom prst="line">
            <a:avLst/>
          </a:prstGeom>
          <a:noFill/>
          <a:ln w="6350">
            <a:solidFill>
              <a:srgbClr val="C9D1DC"/>
            </a:solidFill>
            <a:prstDash val="solid"/>
          </a:ln>
        </p:spPr>
      </p:sp>
      <p:sp>
        <p:nvSpPr>
          <p:cNvPr id="50" name="Text 46"/>
          <p:cNvSpPr txBox="1"/>
          <p:nvPr/>
        </p:nvSpPr>
        <p:spPr>
          <a:xfrm>
            <a:off x="8412480" y="4882896"/>
            <a:ext cx="1005840" cy="274320"/>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FY2031</a:t>
            </a:r>
            <a:endParaRPr lang="en-US" sz="1200" dirty="0"/>
          </a:p>
        </p:txBody>
      </p:sp>
      <p:sp>
        <p:nvSpPr>
          <p:cNvPr id="51" name="Text 47"/>
          <p:cNvSpPr txBox="1"/>
          <p:nvPr/>
        </p:nvSpPr>
        <p:spPr>
          <a:xfrm>
            <a:off x="9464040" y="4882896"/>
            <a:ext cx="1005840" cy="274320"/>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30億円</a:t>
            </a:r>
            <a:endParaRPr lang="ja-JP" sz="1200" dirty="0"/>
          </a:p>
        </p:txBody>
      </p:sp>
      <p:sp>
        <p:nvSpPr>
          <p:cNvPr id="52" name="Text 48"/>
          <p:cNvSpPr txBox="1"/>
          <p:nvPr/>
        </p:nvSpPr>
        <p:spPr>
          <a:xfrm>
            <a:off x="10515600" y="4882896"/>
            <a:ext cx="914400" cy="274320"/>
          </a:xfrm>
          <a:prstGeom prst="rect">
            <a:avLst/>
          </a:prstGeom>
          <a:noFill/>
          <a:ln/>
        </p:spPr>
        <p:txBody>
          <a:bodyPr wrap="square" lIns="0" tIns="0" rIns="0" bIns="0" rtlCol="0" anchor="ctr"/>
          <a:lstStyle/>
          <a:p>
            <a:pPr algn="r" indent="0" marL="0">
              <a:buNone/>
            </a:pPr>
            <a:r>
              <a:rPr lang="en-US" altLang="en-US" sz="1200" b="1" dirty="0">
                <a:solidFill>
                  <a:srgbClr val="14284B"/>
                </a:solidFill>
                <a:latin typeface="Arial" pitchFamily="34" charset="0"/>
                <a:ea typeface="Arial" charset="-128"/>
                <a:cs typeface="Arial" pitchFamily="34" charset="-120"/>
              </a:rPr>
              <a:t>×1.7</a:t>
            </a:r>
            <a:endParaRPr lang="en-US" sz="1200" dirty="0"/>
          </a:p>
        </p:txBody>
      </p:sp>
      <p:sp>
        <p:nvSpPr>
          <p:cNvPr id="53" name="Text 49"/>
          <p:cNvSpPr txBox="1"/>
          <p:nvPr/>
        </p:nvSpPr>
        <p:spPr>
          <a:xfrm>
            <a:off x="8412480" y="5212080"/>
            <a:ext cx="3017520" cy="237744"/>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倍率は暫定目標値からの算出</a:t>
            </a:r>
            <a:endParaRPr lang="ja-JP" sz="1000" dirty="0"/>
          </a:p>
        </p:txBody>
      </p:sp>
      <p:sp>
        <p:nvSpPr>
          <p:cNvPr id="54" name="Text 50"/>
          <p:cNvSpPr txBox="1"/>
          <p:nvPr/>
        </p:nvSpPr>
        <p:spPr>
          <a:xfrm>
            <a:off x="548640" y="5705856"/>
            <a:ext cx="11094415" cy="237744"/>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 FY＝10月〜翌9月（FY2027＝2026.10–2027.9）。FY2027は親会社設立（2028.3）前のためROOTIVE単体。数値はすべて暫定経営目標（財務モデル策定後に確定）。</a:t>
            </a:r>
            <a:endParaRPr lang="ja-JP"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07</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GROWTH ENGINE</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3つの成長エンジンを重ね、グループとして成長する。</a:t>
            </a:r>
            <a:endParaRPr lang="ja-JP" sz="2600" dirty="0"/>
          </a:p>
        </p:txBody>
      </p:sp>
      <p:sp>
        <p:nvSpPr>
          <p:cNvPr id="4" name="Text 2"/>
          <p:cNvSpPr txBox="1"/>
          <p:nvPr/>
        </p:nvSpPr>
        <p:spPr>
          <a:xfrm>
            <a:off x="548640" y="1325880"/>
            <a:ext cx="11094415" cy="329184"/>
          </a:xfrm>
          <a:prstGeom prst="rect">
            <a:avLst/>
          </a:prstGeom>
          <a:noFill/>
          <a:ln/>
        </p:spPr>
        <p:txBody>
          <a:bodyPr wrap="square" lIns="0" tIns="0" rIns="0" bIns="0" rtlCol="0" anchor="ctr"/>
          <a:lstStyle/>
          <a:p>
            <a:pPr algn="l" indent="0" marL="0">
              <a:buNone/>
            </a:pPr>
            <a:r>
              <a:rPr lang="ja-JP" altLang="en-US" sz="1400" dirty="0">
                <a:solidFill>
                  <a:srgbClr val="5B6675"/>
                </a:solidFill>
                <a:latin typeface="Yu Gothic Medium" pitchFamily="34" charset="0"/>
                <a:ea typeface="Yu Gothic Medium" charset="-128"/>
                <a:cs typeface="Yu Gothic Medium" pitchFamily="34" charset="-120"/>
              </a:rPr>
              <a:t>30億円を物流単体だけで作る計画ではない。既存事業・新規事業・M&amp;Aを時間とともに重ね、グループ売上を形成する。</a:t>
            </a:r>
            <a:endParaRPr lang="ja-JP" sz="1400" dirty="0"/>
          </a:p>
        </p:txBody>
      </p:sp>
      <p:sp>
        <p:nvSpPr>
          <p:cNvPr id="5" name="Shape 3"/>
          <p:cNvSpPr/>
          <p:nvPr/>
        </p:nvSpPr>
        <p:spPr>
          <a:xfrm>
            <a:off x="8880856" y="585216"/>
            <a:ext cx="436880" cy="0"/>
          </a:xfrm>
          <a:prstGeom prst="line">
            <a:avLst/>
          </a:prstGeom>
          <a:noFill/>
          <a:ln w="19050">
            <a:solidFill>
              <a:srgbClr val="B08D57"/>
            </a:solidFill>
            <a:prstDash val="solid"/>
          </a:ln>
        </p:spPr>
      </p:sp>
      <p:sp>
        <p:nvSpPr>
          <p:cNvPr id="6" name="Shape 4"/>
          <p:cNvSpPr/>
          <p:nvPr/>
        </p:nvSpPr>
        <p:spPr>
          <a:xfrm>
            <a:off x="9878771" y="585216"/>
            <a:ext cx="444805" cy="0"/>
          </a:xfrm>
          <a:prstGeom prst="line">
            <a:avLst/>
          </a:prstGeom>
          <a:noFill/>
          <a:ln w="19050">
            <a:solidFill>
              <a:srgbClr val="B08D57"/>
            </a:solidFill>
            <a:prstDash val="solid"/>
          </a:ln>
        </p:spPr>
      </p:sp>
      <p:sp>
        <p:nvSpPr>
          <p:cNvPr id="7" name="Shape 5"/>
          <p:cNvSpPr/>
          <p:nvPr/>
        </p:nvSpPr>
        <p:spPr>
          <a:xfrm>
            <a:off x="10884611" y="585216"/>
            <a:ext cx="353365" cy="0"/>
          </a:xfrm>
          <a:prstGeom prst="line">
            <a:avLst/>
          </a:prstGeom>
          <a:noFill/>
          <a:ln w="12700">
            <a:solidFill>
              <a:srgbClr val="C9D1DC"/>
            </a:solidFill>
            <a:prstDash val="sysDash"/>
          </a:ln>
        </p:spPr>
      </p:sp>
      <p:sp>
        <p:nvSpPr>
          <p:cNvPr id="8" name="Shape 6"/>
          <p:cNvSpPr/>
          <p:nvPr/>
        </p:nvSpPr>
        <p:spPr>
          <a:xfrm>
            <a:off x="8348472" y="539496"/>
            <a:ext cx="91440" cy="91440"/>
          </a:xfrm>
          <a:prstGeom prst="ellipse">
            <a:avLst/>
          </a:prstGeom>
          <a:solidFill>
            <a:srgbClr val="B08D57"/>
          </a:solidFill>
          <a:ln/>
        </p:spPr>
      </p:sp>
      <p:sp>
        <p:nvSpPr>
          <p:cNvPr id="9" name="Text 7"/>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10" name="Shape 8"/>
          <p:cNvSpPr/>
          <p:nvPr/>
        </p:nvSpPr>
        <p:spPr>
          <a:xfrm>
            <a:off x="9354312" y="539496"/>
            <a:ext cx="91440" cy="91440"/>
          </a:xfrm>
          <a:prstGeom prst="ellipse">
            <a:avLst/>
          </a:prstGeom>
          <a:solidFill>
            <a:srgbClr val="B08D57"/>
          </a:solidFill>
          <a:ln/>
        </p:spPr>
      </p:sp>
      <p:sp>
        <p:nvSpPr>
          <p:cNvPr id="11" name="Text 9"/>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2" name="Shape 10"/>
          <p:cNvSpPr/>
          <p:nvPr/>
        </p:nvSpPr>
        <p:spPr>
          <a:xfrm>
            <a:off x="10360152" y="539496"/>
            <a:ext cx="91440" cy="91440"/>
          </a:xfrm>
          <a:prstGeom prst="ellipse">
            <a:avLst/>
          </a:prstGeom>
          <a:solidFill>
            <a:srgbClr val="B08D57"/>
          </a:solidFill>
          <a:ln/>
        </p:spPr>
      </p:sp>
      <p:sp>
        <p:nvSpPr>
          <p:cNvPr id="13" name="Text 11"/>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4" name="Shape 12"/>
          <p:cNvSpPr/>
          <p:nvPr/>
        </p:nvSpPr>
        <p:spPr>
          <a:xfrm>
            <a:off x="11274552" y="539496"/>
            <a:ext cx="91440" cy="91440"/>
          </a:xfrm>
          <a:prstGeom prst="ellipse">
            <a:avLst/>
          </a:prstGeom>
          <a:solidFill>
            <a:srgbClr val="C5CCD6"/>
          </a:solidFill>
          <a:ln/>
        </p:spPr>
      </p:sp>
      <p:sp>
        <p:nvSpPr>
          <p:cNvPr id="15" name="Text 13"/>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6" name="Text 14"/>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7" name="Text 15"/>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07</a:t>
            </a:r>
            <a:endParaRPr lang="en-US" sz="1000" dirty="0"/>
          </a:p>
        </p:txBody>
      </p:sp>
      <p:sp>
        <p:nvSpPr>
          <p:cNvPr id="19" name="Shape 16"/>
          <p:cNvSpPr/>
          <p:nvPr/>
        </p:nvSpPr>
        <p:spPr>
          <a:xfrm>
            <a:off x="2971800" y="1783080"/>
            <a:ext cx="1325880" cy="3703320"/>
          </a:xfrm>
          <a:prstGeom prst="rect">
            <a:avLst/>
          </a:prstGeom>
          <a:solidFill>
            <a:srgbClr val="F7F8FA"/>
          </a:solidFill>
          <a:ln/>
        </p:spPr>
      </p:sp>
      <p:sp>
        <p:nvSpPr>
          <p:cNvPr id="20" name="Text 17"/>
          <p:cNvSpPr txBox="1"/>
          <p:nvPr/>
        </p:nvSpPr>
        <p:spPr>
          <a:xfrm>
            <a:off x="3017520" y="1828800"/>
            <a:ext cx="1234440" cy="237744"/>
          </a:xfrm>
          <a:prstGeom prst="rect">
            <a:avLst/>
          </a:prstGeom>
          <a:noFill/>
          <a:ln/>
        </p:spPr>
        <p:txBody>
          <a:bodyPr wrap="square" lIns="0" tIns="0" rIns="0" bIns="0" rtlCol="0" anchor="ctr"/>
          <a:lstStyle/>
          <a:p>
            <a:pPr algn="ctr" indent="0" marL="0">
              <a:buNone/>
            </a:pPr>
            <a:r>
              <a:rPr lang="en-US" altLang="en-US" sz="1100" b="1" dirty="0">
                <a:solidFill>
                  <a:srgbClr val="14284B"/>
                </a:solidFill>
                <a:latin typeface="Arial" pitchFamily="34" charset="0"/>
                <a:ea typeface="Arial" charset="-128"/>
                <a:cs typeface="Arial" pitchFamily="34" charset="-120"/>
              </a:rPr>
              <a:t>YEAR 1</a:t>
            </a:r>
            <a:endParaRPr lang="en-US" sz="1100" dirty="0"/>
          </a:p>
        </p:txBody>
      </p:sp>
      <p:sp>
        <p:nvSpPr>
          <p:cNvPr id="21" name="Text 18"/>
          <p:cNvSpPr txBox="1"/>
          <p:nvPr/>
        </p:nvSpPr>
        <p:spPr>
          <a:xfrm>
            <a:off x="3017520" y="2057400"/>
            <a:ext cx="1234440" cy="219456"/>
          </a:xfrm>
          <a:prstGeom prst="rect">
            <a:avLst/>
          </a:prstGeom>
          <a:noFill/>
          <a:ln/>
        </p:spPr>
        <p:txBody>
          <a:bodyPr wrap="square" lIns="0" tIns="0" rIns="0" bIns="0" rtlCol="0" anchor="ctr"/>
          <a:lstStyle/>
          <a:p>
            <a:pPr algn="ctr" indent="0" marL="0">
              <a:buNone/>
            </a:pPr>
            <a:r>
              <a:rPr lang="en-US" altLang="en-US" sz="1000" dirty="0">
                <a:solidFill>
                  <a:srgbClr val="5B6675"/>
                </a:solidFill>
                <a:latin typeface="Arial" pitchFamily="34" charset="0"/>
                <a:ea typeface="Arial" charset="-128"/>
                <a:cs typeface="Arial" pitchFamily="34" charset="-120"/>
              </a:rPr>
              <a:t>FY2027</a:t>
            </a:r>
            <a:endParaRPr lang="en-US" sz="1000" dirty="0"/>
          </a:p>
        </p:txBody>
      </p:sp>
      <p:sp>
        <p:nvSpPr>
          <p:cNvPr id="22" name="Text 19"/>
          <p:cNvSpPr txBox="1"/>
          <p:nvPr/>
        </p:nvSpPr>
        <p:spPr>
          <a:xfrm>
            <a:off x="4343400" y="1828800"/>
            <a:ext cx="1234440" cy="237744"/>
          </a:xfrm>
          <a:prstGeom prst="rect">
            <a:avLst/>
          </a:prstGeom>
          <a:noFill/>
          <a:ln/>
        </p:spPr>
        <p:txBody>
          <a:bodyPr wrap="square" lIns="0" tIns="0" rIns="0" bIns="0" rtlCol="0" anchor="ctr"/>
          <a:lstStyle/>
          <a:p>
            <a:pPr algn="ctr" indent="0" marL="0">
              <a:buNone/>
            </a:pPr>
            <a:r>
              <a:rPr lang="en-US" altLang="en-US" sz="1100" b="1" dirty="0">
                <a:solidFill>
                  <a:srgbClr val="14284B"/>
                </a:solidFill>
                <a:latin typeface="Arial" pitchFamily="34" charset="0"/>
                <a:ea typeface="Arial" charset="-128"/>
                <a:cs typeface="Arial" pitchFamily="34" charset="-120"/>
              </a:rPr>
              <a:t>YEAR 2</a:t>
            </a:r>
            <a:endParaRPr lang="en-US" sz="1100" dirty="0"/>
          </a:p>
        </p:txBody>
      </p:sp>
      <p:sp>
        <p:nvSpPr>
          <p:cNvPr id="23" name="Text 20"/>
          <p:cNvSpPr txBox="1"/>
          <p:nvPr/>
        </p:nvSpPr>
        <p:spPr>
          <a:xfrm>
            <a:off x="4343400" y="2057400"/>
            <a:ext cx="1234440" cy="219456"/>
          </a:xfrm>
          <a:prstGeom prst="rect">
            <a:avLst/>
          </a:prstGeom>
          <a:noFill/>
          <a:ln/>
        </p:spPr>
        <p:txBody>
          <a:bodyPr wrap="square" lIns="0" tIns="0" rIns="0" bIns="0" rtlCol="0" anchor="ctr"/>
          <a:lstStyle/>
          <a:p>
            <a:pPr algn="ctr" indent="0" marL="0">
              <a:buNone/>
            </a:pPr>
            <a:r>
              <a:rPr lang="en-US" altLang="en-US" sz="1000" dirty="0">
                <a:solidFill>
                  <a:srgbClr val="5B6675"/>
                </a:solidFill>
                <a:latin typeface="Arial" pitchFamily="34" charset="0"/>
                <a:ea typeface="Arial" charset="-128"/>
                <a:cs typeface="Arial" pitchFamily="34" charset="-120"/>
              </a:rPr>
              <a:t>FY2028</a:t>
            </a:r>
            <a:endParaRPr lang="en-US" sz="1000" dirty="0"/>
          </a:p>
        </p:txBody>
      </p:sp>
      <p:sp>
        <p:nvSpPr>
          <p:cNvPr id="24" name="Shape 21"/>
          <p:cNvSpPr/>
          <p:nvPr/>
        </p:nvSpPr>
        <p:spPr>
          <a:xfrm>
            <a:off x="5623560" y="1783080"/>
            <a:ext cx="1325880" cy="3703320"/>
          </a:xfrm>
          <a:prstGeom prst="rect">
            <a:avLst/>
          </a:prstGeom>
          <a:solidFill>
            <a:srgbClr val="F7F8FA"/>
          </a:solidFill>
          <a:ln/>
        </p:spPr>
      </p:sp>
      <p:sp>
        <p:nvSpPr>
          <p:cNvPr id="25" name="Text 22"/>
          <p:cNvSpPr txBox="1"/>
          <p:nvPr/>
        </p:nvSpPr>
        <p:spPr>
          <a:xfrm>
            <a:off x="5669280" y="1828800"/>
            <a:ext cx="1234440" cy="237744"/>
          </a:xfrm>
          <a:prstGeom prst="rect">
            <a:avLst/>
          </a:prstGeom>
          <a:noFill/>
          <a:ln/>
        </p:spPr>
        <p:txBody>
          <a:bodyPr wrap="square" lIns="0" tIns="0" rIns="0" bIns="0" rtlCol="0" anchor="ctr"/>
          <a:lstStyle/>
          <a:p>
            <a:pPr algn="ctr" indent="0" marL="0">
              <a:buNone/>
            </a:pPr>
            <a:r>
              <a:rPr lang="en-US" altLang="en-US" sz="1100" b="1" dirty="0">
                <a:solidFill>
                  <a:srgbClr val="14284B"/>
                </a:solidFill>
                <a:latin typeface="Arial" pitchFamily="34" charset="0"/>
                <a:ea typeface="Arial" charset="-128"/>
                <a:cs typeface="Arial" pitchFamily="34" charset="-120"/>
              </a:rPr>
              <a:t>YEAR 3</a:t>
            </a:r>
            <a:endParaRPr lang="en-US" sz="1100" dirty="0"/>
          </a:p>
        </p:txBody>
      </p:sp>
      <p:sp>
        <p:nvSpPr>
          <p:cNvPr id="26" name="Text 23"/>
          <p:cNvSpPr txBox="1"/>
          <p:nvPr/>
        </p:nvSpPr>
        <p:spPr>
          <a:xfrm>
            <a:off x="5669280" y="2057400"/>
            <a:ext cx="1234440" cy="219456"/>
          </a:xfrm>
          <a:prstGeom prst="rect">
            <a:avLst/>
          </a:prstGeom>
          <a:noFill/>
          <a:ln/>
        </p:spPr>
        <p:txBody>
          <a:bodyPr wrap="square" lIns="0" tIns="0" rIns="0" bIns="0" rtlCol="0" anchor="ctr"/>
          <a:lstStyle/>
          <a:p>
            <a:pPr algn="ctr" indent="0" marL="0">
              <a:buNone/>
            </a:pPr>
            <a:r>
              <a:rPr lang="en-US" altLang="en-US" sz="1000" dirty="0">
                <a:solidFill>
                  <a:srgbClr val="5B6675"/>
                </a:solidFill>
                <a:latin typeface="Arial" pitchFamily="34" charset="0"/>
                <a:ea typeface="Arial" charset="-128"/>
                <a:cs typeface="Arial" pitchFamily="34" charset="-120"/>
              </a:rPr>
              <a:t>FY2029</a:t>
            </a:r>
            <a:endParaRPr lang="en-US" sz="1000" dirty="0"/>
          </a:p>
        </p:txBody>
      </p:sp>
      <p:sp>
        <p:nvSpPr>
          <p:cNvPr id="27" name="Text 24"/>
          <p:cNvSpPr txBox="1"/>
          <p:nvPr/>
        </p:nvSpPr>
        <p:spPr>
          <a:xfrm>
            <a:off x="6995160" y="1828800"/>
            <a:ext cx="1234440" cy="237744"/>
          </a:xfrm>
          <a:prstGeom prst="rect">
            <a:avLst/>
          </a:prstGeom>
          <a:noFill/>
          <a:ln/>
        </p:spPr>
        <p:txBody>
          <a:bodyPr wrap="square" lIns="0" tIns="0" rIns="0" bIns="0" rtlCol="0" anchor="ctr"/>
          <a:lstStyle/>
          <a:p>
            <a:pPr algn="ctr" indent="0" marL="0">
              <a:buNone/>
            </a:pPr>
            <a:r>
              <a:rPr lang="en-US" altLang="en-US" sz="1100" b="1" dirty="0">
                <a:solidFill>
                  <a:srgbClr val="14284B"/>
                </a:solidFill>
                <a:latin typeface="Arial" pitchFamily="34" charset="0"/>
                <a:ea typeface="Arial" charset="-128"/>
                <a:cs typeface="Arial" pitchFamily="34" charset="-120"/>
              </a:rPr>
              <a:t>YEAR 4</a:t>
            </a:r>
            <a:endParaRPr lang="en-US" sz="1100" dirty="0"/>
          </a:p>
        </p:txBody>
      </p:sp>
      <p:sp>
        <p:nvSpPr>
          <p:cNvPr id="28" name="Text 25"/>
          <p:cNvSpPr txBox="1"/>
          <p:nvPr/>
        </p:nvSpPr>
        <p:spPr>
          <a:xfrm>
            <a:off x="6995160" y="2057400"/>
            <a:ext cx="1234440" cy="219456"/>
          </a:xfrm>
          <a:prstGeom prst="rect">
            <a:avLst/>
          </a:prstGeom>
          <a:noFill/>
          <a:ln/>
        </p:spPr>
        <p:txBody>
          <a:bodyPr wrap="square" lIns="0" tIns="0" rIns="0" bIns="0" rtlCol="0" anchor="ctr"/>
          <a:lstStyle/>
          <a:p>
            <a:pPr algn="ctr" indent="0" marL="0">
              <a:buNone/>
            </a:pPr>
            <a:r>
              <a:rPr lang="en-US" altLang="en-US" sz="1000" dirty="0">
                <a:solidFill>
                  <a:srgbClr val="5B6675"/>
                </a:solidFill>
                <a:latin typeface="Arial" pitchFamily="34" charset="0"/>
                <a:ea typeface="Arial" charset="-128"/>
                <a:cs typeface="Arial" pitchFamily="34" charset="-120"/>
              </a:rPr>
              <a:t>FY2030</a:t>
            </a:r>
            <a:endParaRPr lang="en-US" sz="1000" dirty="0"/>
          </a:p>
        </p:txBody>
      </p:sp>
      <p:sp>
        <p:nvSpPr>
          <p:cNvPr id="29" name="Shape 26"/>
          <p:cNvSpPr/>
          <p:nvPr/>
        </p:nvSpPr>
        <p:spPr>
          <a:xfrm>
            <a:off x="8275320" y="1783080"/>
            <a:ext cx="1325880" cy="3703320"/>
          </a:xfrm>
          <a:prstGeom prst="rect">
            <a:avLst/>
          </a:prstGeom>
          <a:solidFill>
            <a:srgbClr val="F7F8FA"/>
          </a:solidFill>
          <a:ln/>
        </p:spPr>
      </p:sp>
      <p:sp>
        <p:nvSpPr>
          <p:cNvPr id="30" name="Text 27"/>
          <p:cNvSpPr txBox="1"/>
          <p:nvPr/>
        </p:nvSpPr>
        <p:spPr>
          <a:xfrm>
            <a:off x="8321040" y="1828800"/>
            <a:ext cx="1234440" cy="237744"/>
          </a:xfrm>
          <a:prstGeom prst="rect">
            <a:avLst/>
          </a:prstGeom>
          <a:noFill/>
          <a:ln/>
        </p:spPr>
        <p:txBody>
          <a:bodyPr wrap="square" lIns="0" tIns="0" rIns="0" bIns="0" rtlCol="0" anchor="ctr"/>
          <a:lstStyle/>
          <a:p>
            <a:pPr algn="ctr" indent="0" marL="0">
              <a:buNone/>
            </a:pPr>
            <a:r>
              <a:rPr lang="en-US" altLang="en-US" sz="1100" b="1" dirty="0">
                <a:solidFill>
                  <a:srgbClr val="14284B"/>
                </a:solidFill>
                <a:latin typeface="Arial" pitchFamily="34" charset="0"/>
                <a:ea typeface="Arial" charset="-128"/>
                <a:cs typeface="Arial" pitchFamily="34" charset="-120"/>
              </a:rPr>
              <a:t>YEAR 5</a:t>
            </a:r>
            <a:endParaRPr lang="en-US" sz="1100" dirty="0"/>
          </a:p>
        </p:txBody>
      </p:sp>
      <p:sp>
        <p:nvSpPr>
          <p:cNvPr id="31" name="Text 28"/>
          <p:cNvSpPr txBox="1"/>
          <p:nvPr/>
        </p:nvSpPr>
        <p:spPr>
          <a:xfrm>
            <a:off x="8321040" y="2057400"/>
            <a:ext cx="1234440" cy="219456"/>
          </a:xfrm>
          <a:prstGeom prst="rect">
            <a:avLst/>
          </a:prstGeom>
          <a:noFill/>
          <a:ln/>
        </p:spPr>
        <p:txBody>
          <a:bodyPr wrap="square" lIns="0" tIns="0" rIns="0" bIns="0" rtlCol="0" anchor="ctr"/>
          <a:lstStyle/>
          <a:p>
            <a:pPr algn="ctr" indent="0" marL="0">
              <a:buNone/>
            </a:pPr>
            <a:r>
              <a:rPr lang="en-US" altLang="en-US" sz="1000" dirty="0">
                <a:solidFill>
                  <a:srgbClr val="5B6675"/>
                </a:solidFill>
                <a:latin typeface="Arial" pitchFamily="34" charset="0"/>
                <a:ea typeface="Arial" charset="-128"/>
                <a:cs typeface="Arial" pitchFamily="34" charset="-120"/>
              </a:rPr>
              <a:t>FY2031</a:t>
            </a:r>
            <a:endParaRPr lang="en-US" sz="1000" dirty="0"/>
          </a:p>
        </p:txBody>
      </p:sp>
      <p:sp>
        <p:nvSpPr>
          <p:cNvPr id="32" name="Shape 29"/>
          <p:cNvSpPr/>
          <p:nvPr/>
        </p:nvSpPr>
        <p:spPr>
          <a:xfrm>
            <a:off x="548640" y="2313432"/>
            <a:ext cx="2240280" cy="822960"/>
          </a:xfrm>
          <a:prstGeom prst="rect">
            <a:avLst/>
          </a:prstGeom>
          <a:solidFill>
            <a:srgbClr val="F3F5F8"/>
          </a:solidFill>
          <a:ln/>
        </p:spPr>
      </p:sp>
      <p:sp>
        <p:nvSpPr>
          <p:cNvPr id="33" name="Text 30"/>
          <p:cNvSpPr txBox="1"/>
          <p:nvPr/>
        </p:nvSpPr>
        <p:spPr>
          <a:xfrm>
            <a:off x="731520" y="2414016"/>
            <a:ext cx="1965960" cy="274320"/>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ORGANIC GROWTH</a:t>
            </a:r>
            <a:endParaRPr lang="en-US" sz="1200" dirty="0"/>
          </a:p>
        </p:txBody>
      </p:sp>
      <p:sp>
        <p:nvSpPr>
          <p:cNvPr id="34" name="Text 31"/>
          <p:cNvSpPr txBox="1"/>
          <p:nvPr/>
        </p:nvSpPr>
        <p:spPr>
          <a:xfrm>
            <a:off x="731520" y="2706624"/>
            <a:ext cx="196596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ROOTIVE既存事業</a:t>
            </a:r>
            <a:endParaRPr lang="ja-JP" sz="1200" dirty="0"/>
          </a:p>
        </p:txBody>
      </p:sp>
      <p:sp>
        <p:nvSpPr>
          <p:cNvPr id="35" name="Shape 32"/>
          <p:cNvSpPr/>
          <p:nvPr/>
        </p:nvSpPr>
        <p:spPr>
          <a:xfrm>
            <a:off x="548640" y="3364992"/>
            <a:ext cx="2240280" cy="822960"/>
          </a:xfrm>
          <a:prstGeom prst="rect">
            <a:avLst/>
          </a:prstGeom>
          <a:solidFill>
            <a:srgbClr val="F3F5F8"/>
          </a:solidFill>
          <a:ln/>
        </p:spPr>
      </p:sp>
      <p:sp>
        <p:nvSpPr>
          <p:cNvPr id="36" name="Text 33"/>
          <p:cNvSpPr txBox="1"/>
          <p:nvPr/>
        </p:nvSpPr>
        <p:spPr>
          <a:xfrm>
            <a:off x="731520" y="3465576"/>
            <a:ext cx="1965960" cy="274320"/>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NEW BUSINESS</a:t>
            </a:r>
            <a:endParaRPr lang="en-US" sz="1200" dirty="0"/>
          </a:p>
        </p:txBody>
      </p:sp>
      <p:sp>
        <p:nvSpPr>
          <p:cNvPr id="37" name="Text 34"/>
          <p:cNvSpPr txBox="1"/>
          <p:nvPr/>
        </p:nvSpPr>
        <p:spPr>
          <a:xfrm>
            <a:off x="731520" y="3758184"/>
            <a:ext cx="196596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自社立ち上げ事業</a:t>
            </a:r>
            <a:endParaRPr lang="ja-JP" sz="1200" dirty="0"/>
          </a:p>
        </p:txBody>
      </p:sp>
      <p:sp>
        <p:nvSpPr>
          <p:cNvPr id="38" name="Shape 35"/>
          <p:cNvSpPr/>
          <p:nvPr/>
        </p:nvSpPr>
        <p:spPr>
          <a:xfrm>
            <a:off x="548640" y="4416552"/>
            <a:ext cx="2240280" cy="822960"/>
          </a:xfrm>
          <a:prstGeom prst="rect">
            <a:avLst/>
          </a:prstGeom>
          <a:solidFill>
            <a:srgbClr val="F3F5F8"/>
          </a:solidFill>
          <a:ln/>
        </p:spPr>
      </p:sp>
      <p:sp>
        <p:nvSpPr>
          <p:cNvPr id="39" name="Text 36"/>
          <p:cNvSpPr txBox="1"/>
          <p:nvPr/>
        </p:nvSpPr>
        <p:spPr>
          <a:xfrm>
            <a:off x="731520" y="4517136"/>
            <a:ext cx="1965960" cy="274320"/>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M&amp;A</a:t>
            </a:r>
            <a:endParaRPr lang="en-US" sz="1200" dirty="0"/>
          </a:p>
        </p:txBody>
      </p:sp>
      <p:sp>
        <p:nvSpPr>
          <p:cNvPr id="40" name="Text 37"/>
          <p:cNvSpPr txBox="1"/>
          <p:nvPr/>
        </p:nvSpPr>
        <p:spPr>
          <a:xfrm>
            <a:off x="731520" y="4809744"/>
            <a:ext cx="1965960" cy="27432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異業種企業の買収</a:t>
            </a:r>
            <a:endParaRPr lang="ja-JP" sz="1200" dirty="0"/>
          </a:p>
        </p:txBody>
      </p:sp>
      <p:sp>
        <p:nvSpPr>
          <p:cNvPr id="41" name="Shape 38"/>
          <p:cNvSpPr/>
          <p:nvPr/>
        </p:nvSpPr>
        <p:spPr>
          <a:xfrm>
            <a:off x="3017520" y="2377440"/>
            <a:ext cx="6537960" cy="694944"/>
          </a:xfrm>
          <a:prstGeom prst="rect">
            <a:avLst/>
          </a:prstGeom>
          <a:solidFill>
            <a:srgbClr val="14284B"/>
          </a:solidFill>
          <a:ln/>
        </p:spPr>
      </p:sp>
      <p:sp>
        <p:nvSpPr>
          <p:cNvPr id="42" name="Text 39"/>
          <p:cNvSpPr txBox="1"/>
          <p:nvPr/>
        </p:nvSpPr>
        <p:spPr>
          <a:xfrm>
            <a:off x="3200400" y="2377440"/>
            <a:ext cx="4572000" cy="694944"/>
          </a:xfrm>
          <a:prstGeom prst="rect">
            <a:avLst/>
          </a:prstGeom>
          <a:noFill/>
          <a:ln/>
        </p:spPr>
        <p:txBody>
          <a:bodyPr wrap="square" lIns="0" tIns="0" rIns="0" bIns="0" rtlCol="0" anchor="ctr"/>
          <a:lstStyle/>
          <a:p>
            <a:pPr algn="l" indent="0" marL="0">
              <a:buNone/>
            </a:pPr>
            <a:r>
              <a:rPr lang="ja-JP" altLang="en-US" sz="1300" b="1" dirty="0">
                <a:solidFill>
                  <a:srgbClr val="FFFFFF"/>
                </a:solidFill>
                <a:latin typeface="Yu Gothic" pitchFamily="34" charset="0"/>
                <a:ea typeface="Yu Gothic" charset="-128"/>
                <a:cs typeface="Yu Gothic" pitchFamily="34" charset="-120"/>
              </a:rPr>
              <a:t>既存事業の継続的な成長</a:t>
            </a:r>
            <a:endParaRPr lang="ja-JP" sz="1300" dirty="0"/>
          </a:p>
        </p:txBody>
      </p:sp>
      <p:sp>
        <p:nvSpPr>
          <p:cNvPr id="43" name="Text 40"/>
          <p:cNvSpPr txBox="1"/>
          <p:nvPr/>
        </p:nvSpPr>
        <p:spPr>
          <a:xfrm>
            <a:off x="4343400" y="3429000"/>
            <a:ext cx="1234440" cy="694944"/>
          </a:xfrm>
          <a:prstGeom prst="rect">
            <a:avLst/>
          </a:prstGeom>
          <a:noFill/>
          <a:ln w="12700">
            <a:solidFill>
              <a:srgbClr val="4A6280"/>
            </a:solidFill>
          </a:ln>
        </p:spPr>
        <p:txBody>
          <a:bodyPr wrap="square" lIns="0" tIns="0" rIns="0" bIns="0" rtlCol="0" anchor="ctr"/>
          <a:lstStyle/>
          <a:p>
            <a:pPr algn="ctr" indent="0" marL="0">
              <a:buNone/>
            </a:pPr>
            <a:r>
              <a:rPr lang="ja-JP" altLang="en-US" sz="1200" b="1" dirty="0">
                <a:solidFill>
                  <a:srgbClr val="4A6280"/>
                </a:solidFill>
                <a:latin typeface="Yu Gothic" pitchFamily="34" charset="0"/>
                <a:ea typeface="Yu Gothic" charset="-128"/>
                <a:cs typeface="Yu Gothic" pitchFamily="34" charset="-120"/>
              </a:rPr>
              <a:t>新規事業検討</a:t>
            </a:r>
            <a:endParaRPr lang="ja-JP" sz="1200" dirty="0"/>
          </a:p>
        </p:txBody>
      </p:sp>
      <p:sp>
        <p:nvSpPr>
          <p:cNvPr id="44" name="Shape 41"/>
          <p:cNvSpPr/>
          <p:nvPr/>
        </p:nvSpPr>
        <p:spPr>
          <a:xfrm>
            <a:off x="5577840" y="3776472"/>
            <a:ext cx="2743200" cy="0"/>
          </a:xfrm>
          <a:prstGeom prst="line">
            <a:avLst/>
          </a:prstGeom>
          <a:noFill/>
          <a:ln w="15875">
            <a:solidFill>
              <a:srgbClr val="4A6280"/>
            </a:solidFill>
            <a:prstDash val="sysDash"/>
          </a:ln>
        </p:spPr>
      </p:sp>
      <p:sp>
        <p:nvSpPr>
          <p:cNvPr id="45" name="Text 42"/>
          <p:cNvSpPr txBox="1"/>
          <p:nvPr/>
        </p:nvSpPr>
        <p:spPr>
          <a:xfrm>
            <a:off x="8321040" y="3429000"/>
            <a:ext cx="1234440" cy="694944"/>
          </a:xfrm>
          <a:prstGeom prst="rect">
            <a:avLst/>
          </a:prstGeom>
          <a:solidFill>
            <a:srgbClr val="22375C"/>
          </a:solidFill>
          <a:ln/>
        </p:spPr>
        <p:txBody>
          <a:bodyPr wrap="square" lIns="0" tIns="0" rIns="0" bIns="0" rtlCol="0" anchor="ctr"/>
          <a:lstStyle/>
          <a:p>
            <a:pPr algn="ctr" indent="0" marL="0">
              <a:lnSpc>
                <a:spcPts val="1700"/>
              </a:lnSpc>
              <a:buNone/>
            </a:pPr>
            <a:r>
              <a:rPr lang="ja-JP" altLang="en-US" sz="1200" b="1" dirty="0">
                <a:solidFill>
                  <a:srgbClr val="FFFFFF"/>
                </a:solidFill>
                <a:latin typeface="Yu Gothic" pitchFamily="34" charset="0"/>
                <a:ea typeface="Yu Gothic" charset="-128"/>
                <a:cs typeface="Yu Gothic" pitchFamily="34" charset="-120"/>
              </a:rPr>
              <a:t>新規事業の</a:t>
            </a:r>
            <a:endParaRPr lang="ja-JP" sz="1200" dirty="0"/>
          </a:p>
          <a:p>
            <a:pPr algn="ctr" indent="0" marL="0">
              <a:lnSpc>
                <a:spcPts val="1700"/>
              </a:lnSpc>
              <a:buNone/>
            </a:pPr>
            <a:r>
              <a:rPr lang="ja-JP" altLang="en-US" sz="1200" b="1" dirty="0">
                <a:solidFill>
                  <a:srgbClr val="FFFFFF"/>
                </a:solidFill>
                <a:latin typeface="Yu Gothic" pitchFamily="34" charset="0"/>
                <a:ea typeface="Yu Gothic" charset="-128"/>
                <a:cs typeface="Yu Gothic" pitchFamily="34" charset="-120"/>
              </a:rPr>
              <a:t>創出</a:t>
            </a:r>
            <a:endParaRPr lang="ja-JP" sz="1200" dirty="0"/>
          </a:p>
        </p:txBody>
      </p:sp>
      <p:sp>
        <p:nvSpPr>
          <p:cNvPr id="46" name="Text 43"/>
          <p:cNvSpPr txBox="1"/>
          <p:nvPr/>
        </p:nvSpPr>
        <p:spPr>
          <a:xfrm>
            <a:off x="4343400" y="4480560"/>
            <a:ext cx="1234440" cy="694944"/>
          </a:xfrm>
          <a:prstGeom prst="rect">
            <a:avLst/>
          </a:prstGeom>
          <a:noFill/>
          <a:ln w="12700">
            <a:solidFill>
              <a:srgbClr val="B08D57"/>
            </a:solidFill>
          </a:ln>
        </p:spPr>
        <p:txBody>
          <a:bodyPr wrap="square" lIns="0" tIns="0" rIns="0" bIns="0" rtlCol="0" anchor="ctr"/>
          <a:lstStyle/>
          <a:p>
            <a:pPr algn="ctr" indent="0" marL="0">
              <a:lnSpc>
                <a:spcPts val="1700"/>
              </a:lnSpc>
              <a:buNone/>
            </a:pPr>
            <a:r>
              <a:rPr lang="ja-JP" altLang="en-US" sz="1200" b="1" dirty="0">
                <a:solidFill>
                  <a:srgbClr val="8C6D3F"/>
                </a:solidFill>
                <a:latin typeface="Yu Gothic" pitchFamily="34" charset="0"/>
                <a:ea typeface="Yu Gothic" charset="-128"/>
                <a:cs typeface="Yu Gothic" pitchFamily="34" charset="-120"/>
              </a:rPr>
              <a:t>ソーシング・</a:t>
            </a:r>
            <a:endParaRPr lang="ja-JP" sz="1200" dirty="0"/>
          </a:p>
          <a:p>
            <a:pPr algn="ctr" indent="0" marL="0">
              <a:lnSpc>
                <a:spcPts val="1700"/>
              </a:lnSpc>
              <a:buNone/>
            </a:pPr>
            <a:r>
              <a:rPr lang="ja-JP" altLang="en-US" sz="1200" b="1" dirty="0">
                <a:solidFill>
                  <a:srgbClr val="8C6D3F"/>
                </a:solidFill>
                <a:latin typeface="Yu Gothic" pitchFamily="34" charset="0"/>
                <a:ea typeface="Yu Gothic" charset="-128"/>
                <a:cs typeface="Yu Gothic" pitchFamily="34" charset="-120"/>
              </a:rPr>
              <a:t>融資準備</a:t>
            </a:r>
            <a:endParaRPr lang="ja-JP" sz="1200" dirty="0"/>
          </a:p>
        </p:txBody>
      </p:sp>
      <p:sp>
        <p:nvSpPr>
          <p:cNvPr id="47" name="Text 44"/>
          <p:cNvSpPr txBox="1"/>
          <p:nvPr/>
        </p:nvSpPr>
        <p:spPr>
          <a:xfrm>
            <a:off x="5669280" y="4480560"/>
            <a:ext cx="1234440" cy="694944"/>
          </a:xfrm>
          <a:prstGeom prst="rect">
            <a:avLst/>
          </a:prstGeom>
          <a:solidFill>
            <a:srgbClr val="C9A96E"/>
          </a:solidFill>
          <a:ln/>
        </p:spPr>
        <p:txBody>
          <a:bodyPr wrap="square" lIns="0" tIns="0" rIns="0" bIns="0" rtlCol="0" anchor="ctr"/>
          <a:lstStyle/>
          <a:p>
            <a:pPr algn="ctr" indent="0" marL="0">
              <a:buNone/>
            </a:pPr>
            <a:r>
              <a:rPr lang="ja-JP" altLang="en-US" sz="1200" b="1" dirty="0">
                <a:solidFill>
                  <a:srgbClr val="14284B"/>
                </a:solidFill>
                <a:latin typeface="Yu Gothic" pitchFamily="34" charset="0"/>
                <a:ea typeface="Yu Gothic" charset="-128"/>
                <a:cs typeface="Yu Gothic" pitchFamily="34" charset="-120"/>
              </a:rPr>
              <a:t>最初のM&amp;A</a:t>
            </a:r>
            <a:endParaRPr lang="ja-JP" sz="1200" dirty="0"/>
          </a:p>
        </p:txBody>
      </p:sp>
      <p:sp>
        <p:nvSpPr>
          <p:cNvPr id="48" name="Text 45"/>
          <p:cNvSpPr txBox="1"/>
          <p:nvPr/>
        </p:nvSpPr>
        <p:spPr>
          <a:xfrm>
            <a:off x="6995160" y="4480560"/>
            <a:ext cx="1234440" cy="694944"/>
          </a:xfrm>
          <a:prstGeom prst="rect">
            <a:avLst/>
          </a:prstGeom>
          <a:solidFill>
            <a:srgbClr val="C9A96E"/>
          </a:solidFill>
          <a:ln/>
        </p:spPr>
        <p:txBody>
          <a:bodyPr wrap="square" lIns="0" tIns="0" rIns="0" bIns="0" rtlCol="0" anchor="ctr"/>
          <a:lstStyle/>
          <a:p>
            <a:pPr algn="ctr" indent="0" marL="0">
              <a:buNone/>
            </a:pPr>
            <a:r>
              <a:rPr lang="ja-JP" altLang="en-US" sz="1200" b="1" dirty="0">
                <a:solidFill>
                  <a:srgbClr val="14284B"/>
                </a:solidFill>
                <a:latin typeface="Yu Gothic" pitchFamily="34" charset="0"/>
                <a:ea typeface="Yu Gothic" charset="-128"/>
                <a:cs typeface="Yu Gothic" pitchFamily="34" charset="-120"/>
              </a:rPr>
              <a:t>再現性構築</a:t>
            </a:r>
            <a:endParaRPr lang="ja-JP" sz="1200" dirty="0"/>
          </a:p>
        </p:txBody>
      </p:sp>
      <p:sp>
        <p:nvSpPr>
          <p:cNvPr id="49" name="Text 46"/>
          <p:cNvSpPr txBox="1"/>
          <p:nvPr/>
        </p:nvSpPr>
        <p:spPr>
          <a:xfrm>
            <a:off x="8321040" y="4480560"/>
            <a:ext cx="1234440" cy="694944"/>
          </a:xfrm>
          <a:prstGeom prst="rect">
            <a:avLst/>
          </a:prstGeom>
          <a:solidFill>
            <a:srgbClr val="C9A96E"/>
          </a:solidFill>
          <a:ln/>
        </p:spPr>
        <p:txBody>
          <a:bodyPr wrap="square" lIns="0" tIns="0" rIns="0" bIns="0" rtlCol="0" anchor="ctr"/>
          <a:lstStyle/>
          <a:p>
            <a:pPr algn="ctr" indent="0" marL="0">
              <a:buNone/>
            </a:pPr>
            <a:r>
              <a:rPr lang="ja-JP" altLang="en-US" sz="1200" b="1" dirty="0">
                <a:solidFill>
                  <a:srgbClr val="14284B"/>
                </a:solidFill>
                <a:latin typeface="Yu Gothic" pitchFamily="34" charset="0"/>
                <a:ea typeface="Yu Gothic" charset="-128"/>
                <a:cs typeface="Yu Gothic" pitchFamily="34" charset="-120"/>
              </a:rPr>
              <a:t>継続M&amp;A</a:t>
            </a:r>
            <a:endParaRPr lang="ja-JP" sz="1200" dirty="0"/>
          </a:p>
        </p:txBody>
      </p:sp>
      <p:sp>
        <p:nvSpPr>
          <p:cNvPr id="50" name="Shape 47"/>
          <p:cNvSpPr/>
          <p:nvPr/>
        </p:nvSpPr>
        <p:spPr>
          <a:xfrm>
            <a:off x="9555480" y="2724912"/>
            <a:ext cx="182880" cy="0"/>
          </a:xfrm>
          <a:prstGeom prst="line">
            <a:avLst/>
          </a:prstGeom>
          <a:noFill/>
          <a:ln w="15875">
            <a:solidFill>
              <a:srgbClr val="14284B"/>
            </a:solidFill>
            <a:prstDash val="solid"/>
          </a:ln>
        </p:spPr>
      </p:sp>
      <p:sp>
        <p:nvSpPr>
          <p:cNvPr id="51" name="Shape 48"/>
          <p:cNvSpPr/>
          <p:nvPr/>
        </p:nvSpPr>
        <p:spPr>
          <a:xfrm>
            <a:off x="9555480" y="3776472"/>
            <a:ext cx="182880" cy="0"/>
          </a:xfrm>
          <a:prstGeom prst="line">
            <a:avLst/>
          </a:prstGeom>
          <a:noFill/>
          <a:ln w="15875">
            <a:solidFill>
              <a:srgbClr val="14284B"/>
            </a:solidFill>
            <a:prstDash val="solid"/>
          </a:ln>
        </p:spPr>
      </p:sp>
      <p:sp>
        <p:nvSpPr>
          <p:cNvPr id="52" name="Shape 49"/>
          <p:cNvSpPr/>
          <p:nvPr/>
        </p:nvSpPr>
        <p:spPr>
          <a:xfrm>
            <a:off x="9555480" y="4828032"/>
            <a:ext cx="182880" cy="0"/>
          </a:xfrm>
          <a:prstGeom prst="line">
            <a:avLst/>
          </a:prstGeom>
          <a:noFill/>
          <a:ln w="15875">
            <a:solidFill>
              <a:srgbClr val="14284B"/>
            </a:solidFill>
            <a:prstDash val="solid"/>
          </a:ln>
        </p:spPr>
      </p:sp>
      <p:sp>
        <p:nvSpPr>
          <p:cNvPr id="53" name="Shape 50"/>
          <p:cNvSpPr/>
          <p:nvPr/>
        </p:nvSpPr>
        <p:spPr>
          <a:xfrm>
            <a:off x="9738360" y="2724912"/>
            <a:ext cx="0" cy="2103120"/>
          </a:xfrm>
          <a:prstGeom prst="line">
            <a:avLst/>
          </a:prstGeom>
          <a:noFill/>
          <a:ln w="15875">
            <a:solidFill>
              <a:srgbClr val="14284B"/>
            </a:solidFill>
            <a:prstDash val="solid"/>
          </a:ln>
        </p:spPr>
      </p:sp>
      <p:sp>
        <p:nvSpPr>
          <p:cNvPr id="54" name="Shape 51"/>
          <p:cNvSpPr/>
          <p:nvPr/>
        </p:nvSpPr>
        <p:spPr>
          <a:xfrm>
            <a:off x="9738360" y="3776472"/>
            <a:ext cx="210312" cy="0"/>
          </a:xfrm>
          <a:prstGeom prst="line">
            <a:avLst/>
          </a:prstGeom>
          <a:noFill/>
          <a:ln w="19050">
            <a:solidFill>
              <a:srgbClr val="14284B"/>
            </a:solidFill>
            <a:prstDash val="solid"/>
            <a:tailEnd type="triangle"/>
          </a:ln>
        </p:spPr>
      </p:sp>
      <p:sp>
        <p:nvSpPr>
          <p:cNvPr id="55" name="Shape 52"/>
          <p:cNvSpPr/>
          <p:nvPr/>
        </p:nvSpPr>
        <p:spPr>
          <a:xfrm>
            <a:off x="9966960" y="2313432"/>
            <a:ext cx="1673352" cy="2926080"/>
          </a:xfrm>
          <a:prstGeom prst="rect">
            <a:avLst/>
          </a:prstGeom>
          <a:solidFill>
            <a:srgbClr val="14284B"/>
          </a:solidFill>
          <a:ln/>
        </p:spPr>
      </p:sp>
      <p:sp>
        <p:nvSpPr>
          <p:cNvPr id="56" name="Text 53"/>
          <p:cNvSpPr txBox="1"/>
          <p:nvPr/>
        </p:nvSpPr>
        <p:spPr>
          <a:xfrm>
            <a:off x="9966960" y="2615184"/>
            <a:ext cx="1673352" cy="420624"/>
          </a:xfrm>
          <a:prstGeom prst="rect">
            <a:avLst/>
          </a:prstGeom>
          <a:noFill/>
          <a:ln/>
        </p:spPr>
        <p:txBody>
          <a:bodyPr wrap="square" lIns="0" tIns="0" rIns="0" bIns="0" rtlCol="0" anchor="t"/>
          <a:lstStyle/>
          <a:p>
            <a:pPr algn="ctr" indent="0" marL="0">
              <a:lnSpc>
                <a:spcPts val="1500"/>
              </a:lnSpc>
              <a:buNone/>
            </a:pPr>
            <a:r>
              <a:rPr lang="en-US" altLang="en-US" sz="1100" b="1" spc="100" kern="0" dirty="0">
                <a:solidFill>
                  <a:srgbClr val="C9A96E"/>
                </a:solidFill>
                <a:latin typeface="Arial" pitchFamily="34" charset="0"/>
                <a:ea typeface="Arial" charset="-128"/>
                <a:cs typeface="Arial" pitchFamily="34" charset="-120"/>
              </a:rPr>
              <a:t>GROUP</a:t>
            </a:r>
            <a:endParaRPr lang="en-US" sz="1100" dirty="0"/>
          </a:p>
          <a:p>
            <a:pPr algn="ctr" indent="0" marL="0">
              <a:lnSpc>
                <a:spcPts val="1500"/>
              </a:lnSpc>
              <a:buNone/>
            </a:pPr>
            <a:r>
              <a:rPr lang="en-US" altLang="en-US" sz="1100" b="1" spc="100" kern="0" dirty="0">
                <a:solidFill>
                  <a:srgbClr val="C9A96E"/>
                </a:solidFill>
                <a:latin typeface="Arial" pitchFamily="34" charset="0"/>
                <a:ea typeface="Arial" charset="-128"/>
                <a:cs typeface="Arial" pitchFamily="34" charset="-120"/>
              </a:rPr>
              <a:t>REVENUE</a:t>
            </a:r>
            <a:endParaRPr lang="en-US" sz="1100" dirty="0"/>
          </a:p>
        </p:txBody>
      </p:sp>
      <p:sp>
        <p:nvSpPr>
          <p:cNvPr id="57" name="Text 54"/>
          <p:cNvSpPr txBox="1"/>
          <p:nvPr/>
        </p:nvSpPr>
        <p:spPr>
          <a:xfrm>
            <a:off x="9966960" y="3145536"/>
            <a:ext cx="1673352" cy="640080"/>
          </a:xfrm>
          <a:prstGeom prst="rect">
            <a:avLst/>
          </a:prstGeom>
          <a:noFill/>
          <a:ln/>
        </p:spPr>
        <p:txBody>
          <a:bodyPr wrap="square" lIns="0" tIns="0" rIns="0" bIns="0" rtlCol="0" anchor="t"/>
          <a:lstStyle/>
          <a:p>
            <a:pPr algn="ctr" indent="0" marL="0">
              <a:lnSpc>
                <a:spcPts val="2200"/>
              </a:lnSpc>
              <a:buNone/>
            </a:pPr>
            <a:r>
              <a:rPr lang="ja-JP" altLang="en-US" sz="1500" b="1" dirty="0">
                <a:solidFill>
                  <a:srgbClr val="FFFFFF"/>
                </a:solidFill>
                <a:latin typeface="Yu Gothic" pitchFamily="34" charset="0"/>
                <a:ea typeface="Yu Gothic" charset="-128"/>
                <a:cs typeface="Yu Gothic" pitchFamily="34" charset="-120"/>
              </a:rPr>
              <a:t>グループ</a:t>
            </a:r>
            <a:endParaRPr lang="ja-JP" sz="1500" dirty="0"/>
          </a:p>
          <a:p>
            <a:pPr algn="ctr" indent="0" marL="0">
              <a:lnSpc>
                <a:spcPts val="2200"/>
              </a:lnSpc>
              <a:buNone/>
            </a:pPr>
            <a:r>
              <a:rPr lang="ja-JP" altLang="en-US" sz="1500" b="1" dirty="0">
                <a:solidFill>
                  <a:srgbClr val="FFFFFF"/>
                </a:solidFill>
                <a:latin typeface="Yu Gothic" pitchFamily="34" charset="0"/>
                <a:ea typeface="Yu Gothic" charset="-128"/>
                <a:cs typeface="Yu Gothic" pitchFamily="34" charset="-120"/>
              </a:rPr>
              <a:t>連結売上</a:t>
            </a:r>
            <a:endParaRPr lang="ja-JP" sz="1500" dirty="0"/>
          </a:p>
        </p:txBody>
      </p:sp>
      <p:sp>
        <p:nvSpPr>
          <p:cNvPr id="58" name="Text 55"/>
          <p:cNvSpPr txBox="1"/>
          <p:nvPr/>
        </p:nvSpPr>
        <p:spPr>
          <a:xfrm>
            <a:off x="9966960" y="3968496"/>
            <a:ext cx="1673352" cy="237744"/>
          </a:xfrm>
          <a:prstGeom prst="rect">
            <a:avLst/>
          </a:prstGeom>
          <a:noFill/>
          <a:ln/>
        </p:spPr>
        <p:txBody>
          <a:bodyPr wrap="square" lIns="0" tIns="0" rIns="0" bIns="0" rtlCol="0" anchor="ctr"/>
          <a:lstStyle/>
          <a:p>
            <a:pPr algn="ctr" indent="0" marL="0">
              <a:buNone/>
            </a:pPr>
            <a:r>
              <a:rPr lang="en-US" altLang="en-US" sz="1100" dirty="0">
                <a:solidFill>
                  <a:srgbClr val="A7B0BE"/>
                </a:solidFill>
                <a:latin typeface="Arial" pitchFamily="34" charset="0"/>
                <a:ea typeface="Arial" charset="-128"/>
                <a:cs typeface="Arial" pitchFamily="34" charset="-120"/>
              </a:rPr>
              <a:t>FY2031</a:t>
            </a:r>
            <a:endParaRPr lang="en-US" sz="1100" dirty="0"/>
          </a:p>
        </p:txBody>
      </p:sp>
      <p:sp>
        <p:nvSpPr>
          <p:cNvPr id="59" name="Text 56"/>
          <p:cNvSpPr txBox="1"/>
          <p:nvPr/>
        </p:nvSpPr>
        <p:spPr>
          <a:xfrm>
            <a:off x="9966960" y="4224528"/>
            <a:ext cx="1673352" cy="457200"/>
          </a:xfrm>
          <a:prstGeom prst="rect">
            <a:avLst/>
          </a:prstGeom>
          <a:noFill/>
          <a:ln/>
        </p:spPr>
        <p:txBody>
          <a:bodyPr wrap="square" lIns="0" tIns="0" rIns="0" bIns="0" rtlCol="0" anchor="ctr"/>
          <a:lstStyle/>
          <a:p>
            <a:pPr algn="ctr" indent="0" marL="0">
              <a:buNone/>
            </a:pPr>
            <a:r>
              <a:rPr lang="ja-JP" altLang="en-US" sz="2400" b="1" dirty="0">
                <a:solidFill>
                  <a:srgbClr val="FFFFFF"/>
                </a:solidFill>
                <a:latin typeface="Yu Gothic" pitchFamily="34" charset="0"/>
                <a:ea typeface="Yu Gothic" charset="-128"/>
                <a:cs typeface="Yu Gothic" pitchFamily="34" charset="-120"/>
              </a:rPr>
              <a:t>30億円</a:t>
            </a:r>
            <a:endParaRPr lang="ja-JP" sz="2400" dirty="0"/>
          </a:p>
        </p:txBody>
      </p:sp>
      <p:sp>
        <p:nvSpPr>
          <p:cNvPr id="60" name="Text 57"/>
          <p:cNvSpPr txBox="1"/>
          <p:nvPr/>
        </p:nvSpPr>
        <p:spPr>
          <a:xfrm>
            <a:off x="9966960" y="4727448"/>
            <a:ext cx="1673352" cy="237744"/>
          </a:xfrm>
          <a:prstGeom prst="rect">
            <a:avLst/>
          </a:prstGeom>
          <a:noFill/>
          <a:ln/>
        </p:spPr>
        <p:txBody>
          <a:bodyPr wrap="square" lIns="0" tIns="0" rIns="0" bIns="0" rtlCol="0" anchor="ctr"/>
          <a:lstStyle/>
          <a:p>
            <a:pPr algn="ctr" indent="0" marL="0">
              <a:buNone/>
            </a:pPr>
            <a:r>
              <a:rPr lang="ja-JP" altLang="en-US" sz="1000" dirty="0">
                <a:solidFill>
                  <a:srgbClr val="A7B0BE"/>
                </a:solidFill>
                <a:latin typeface="Yu Gothic Medium" pitchFamily="34" charset="0"/>
                <a:ea typeface="Yu Gothic Medium" charset="-128"/>
                <a:cs typeface="Yu Gothic Medium" pitchFamily="34" charset="-120"/>
              </a:rPr>
              <a:t>（暫定経営目標）</a:t>
            </a:r>
            <a:endParaRPr lang="ja-JP" sz="1000" dirty="0"/>
          </a:p>
        </p:txBody>
      </p:sp>
      <p:sp>
        <p:nvSpPr>
          <p:cNvPr id="61" name="Text 58"/>
          <p:cNvSpPr txBox="1"/>
          <p:nvPr/>
        </p:nvSpPr>
        <p:spPr>
          <a:xfrm>
            <a:off x="548640" y="5650992"/>
            <a:ext cx="11094415" cy="237744"/>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 各エンジンの構成比は定めていない（財務モデル策定後に確定）。時期は5カ年ロードマップ（P.08）に基づく。</a:t>
            </a:r>
            <a:endParaRPr lang="ja-JP"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08</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5 YEAR ROADMAP</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1年ごとに到達点を定め、グループ経営へ段階的に移行する。</a:t>
            </a:r>
            <a:endParaRPr lang="ja-JP" sz="2600" dirty="0"/>
          </a:p>
        </p:txBody>
      </p:sp>
      <p:sp>
        <p:nvSpPr>
          <p:cNvPr id="4" name="Shape 2"/>
          <p:cNvSpPr/>
          <p:nvPr/>
        </p:nvSpPr>
        <p:spPr>
          <a:xfrm>
            <a:off x="8880856" y="585216"/>
            <a:ext cx="436880" cy="0"/>
          </a:xfrm>
          <a:prstGeom prst="line">
            <a:avLst/>
          </a:prstGeom>
          <a:noFill/>
          <a:ln w="19050">
            <a:solidFill>
              <a:srgbClr val="B08D57"/>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B08D57"/>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08</a:t>
            </a:r>
            <a:endParaRPr lang="en-US" sz="1000" dirty="0"/>
          </a:p>
        </p:txBody>
      </p:sp>
      <p:sp>
        <p:nvSpPr>
          <p:cNvPr id="18" name="Text 15"/>
          <p:cNvSpPr txBox="1"/>
          <p:nvPr/>
        </p:nvSpPr>
        <p:spPr>
          <a:xfrm>
            <a:off x="548640" y="1664208"/>
            <a:ext cx="4572000" cy="237744"/>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FIRST 18 MONTHS</a:t>
            </a:r>
            <a:pPr algn="l" indent="0" marL="0">
              <a:buNone/>
            </a:pPr>
            <a:r>
              <a:rPr lang="en-US" altLang="en-US" sz="1100" dirty="0">
                <a:solidFill>
                  <a:srgbClr val="5B6675"/>
                </a:solidFill>
                <a:latin typeface="Arial" pitchFamily="34" charset="0"/>
                <a:ea typeface="Arial" charset="-128"/>
                <a:cs typeface="Arial" pitchFamily="34" charset="-120"/>
              </a:rPr>
              <a:t>   2026.10–2028.3</a:t>
            </a:r>
            <a:endParaRPr lang="ja-JP" sz="1100" dirty="0"/>
          </a:p>
        </p:txBody>
      </p:sp>
      <p:sp>
        <p:nvSpPr>
          <p:cNvPr id="19" name="Shape 16"/>
          <p:cNvSpPr/>
          <p:nvPr/>
        </p:nvSpPr>
        <p:spPr>
          <a:xfrm>
            <a:off x="548640" y="1956816"/>
            <a:ext cx="3273552" cy="0"/>
          </a:xfrm>
          <a:prstGeom prst="line">
            <a:avLst/>
          </a:prstGeom>
          <a:noFill/>
          <a:ln w="12700">
            <a:solidFill>
              <a:srgbClr val="B08D57"/>
            </a:solidFill>
            <a:prstDash val="solid"/>
          </a:ln>
        </p:spPr>
      </p:sp>
      <p:sp>
        <p:nvSpPr>
          <p:cNvPr id="20" name="Shape 17"/>
          <p:cNvSpPr/>
          <p:nvPr/>
        </p:nvSpPr>
        <p:spPr>
          <a:xfrm>
            <a:off x="548640" y="1956816"/>
            <a:ext cx="0" cy="91440"/>
          </a:xfrm>
          <a:prstGeom prst="line">
            <a:avLst/>
          </a:prstGeom>
          <a:noFill/>
          <a:ln w="12700">
            <a:solidFill>
              <a:srgbClr val="B08D57"/>
            </a:solidFill>
            <a:prstDash val="solid"/>
          </a:ln>
        </p:spPr>
      </p:sp>
      <p:sp>
        <p:nvSpPr>
          <p:cNvPr id="21" name="Shape 18"/>
          <p:cNvSpPr/>
          <p:nvPr/>
        </p:nvSpPr>
        <p:spPr>
          <a:xfrm>
            <a:off x="3822192" y="1956816"/>
            <a:ext cx="0" cy="91440"/>
          </a:xfrm>
          <a:prstGeom prst="line">
            <a:avLst/>
          </a:prstGeom>
          <a:noFill/>
          <a:ln w="12700">
            <a:solidFill>
              <a:srgbClr val="B08D57"/>
            </a:solidFill>
            <a:prstDash val="solid"/>
          </a:ln>
        </p:spPr>
      </p:sp>
      <p:sp>
        <p:nvSpPr>
          <p:cNvPr id="22" name="Text 19"/>
          <p:cNvSpPr txBox="1"/>
          <p:nvPr/>
        </p:nvSpPr>
        <p:spPr>
          <a:xfrm>
            <a:off x="548640" y="2103120"/>
            <a:ext cx="1999793" cy="347472"/>
          </a:xfrm>
          <a:prstGeom prst="rect">
            <a:avLst/>
          </a:prstGeom>
          <a:noFill/>
          <a:ln/>
        </p:spPr>
        <p:txBody>
          <a:bodyPr wrap="square" lIns="0" tIns="0" rIns="0" bIns="0" rtlCol="0" anchor="ctr"/>
          <a:lstStyle/>
          <a:p>
            <a:pPr algn="ctr" indent="0" marL="0">
              <a:buNone/>
            </a:pPr>
            <a:r>
              <a:rPr lang="en-US" altLang="en-US" sz="2000" b="1" dirty="0">
                <a:solidFill>
                  <a:srgbClr val="14284B"/>
                </a:solidFill>
                <a:latin typeface="Cambria" pitchFamily="34" charset="0"/>
                <a:ea typeface="Cambria" charset="-128"/>
                <a:cs typeface="Cambria" pitchFamily="34" charset="-120"/>
              </a:rPr>
              <a:t>YEAR 1</a:t>
            </a:r>
            <a:endParaRPr lang="en-US" sz="2000" dirty="0"/>
          </a:p>
        </p:txBody>
      </p:sp>
      <p:sp>
        <p:nvSpPr>
          <p:cNvPr id="23" name="Text 20"/>
          <p:cNvSpPr txBox="1"/>
          <p:nvPr/>
        </p:nvSpPr>
        <p:spPr>
          <a:xfrm>
            <a:off x="548640" y="2450592"/>
            <a:ext cx="1999793" cy="237744"/>
          </a:xfrm>
          <a:prstGeom prst="rect">
            <a:avLst/>
          </a:prstGeom>
          <a:noFill/>
          <a:ln/>
        </p:spPr>
        <p:txBody>
          <a:bodyPr wrap="square" lIns="0" tIns="0" rIns="0" bIns="0" rtlCol="0" anchor="ctr"/>
          <a:lstStyle/>
          <a:p>
            <a:pPr algn="ctr" indent="0" marL="0">
              <a:buNone/>
            </a:pPr>
            <a:r>
              <a:rPr lang="en-US" altLang="en-US" sz="1200" dirty="0">
                <a:solidFill>
                  <a:srgbClr val="5B6675"/>
                </a:solidFill>
                <a:latin typeface="Arial" pitchFamily="34" charset="0"/>
                <a:ea typeface="Arial" charset="-128"/>
                <a:cs typeface="Arial" pitchFamily="34" charset="-120"/>
              </a:rPr>
              <a:t>2026.10–2027.9</a:t>
            </a:r>
            <a:endParaRPr lang="en-US" sz="1200" dirty="0"/>
          </a:p>
        </p:txBody>
      </p:sp>
      <p:sp>
        <p:nvSpPr>
          <p:cNvPr id="24" name="Text 21"/>
          <p:cNvSpPr txBox="1"/>
          <p:nvPr/>
        </p:nvSpPr>
        <p:spPr>
          <a:xfrm>
            <a:off x="2822296" y="2103120"/>
            <a:ext cx="1999793" cy="347472"/>
          </a:xfrm>
          <a:prstGeom prst="rect">
            <a:avLst/>
          </a:prstGeom>
          <a:noFill/>
          <a:ln/>
        </p:spPr>
        <p:txBody>
          <a:bodyPr wrap="square" lIns="0" tIns="0" rIns="0" bIns="0" rtlCol="0" anchor="ctr"/>
          <a:lstStyle/>
          <a:p>
            <a:pPr algn="ctr" indent="0" marL="0">
              <a:buNone/>
            </a:pPr>
            <a:r>
              <a:rPr lang="en-US" altLang="en-US" sz="2000" b="1" dirty="0">
                <a:solidFill>
                  <a:srgbClr val="14284B"/>
                </a:solidFill>
                <a:latin typeface="Cambria" pitchFamily="34" charset="0"/>
                <a:ea typeface="Cambria" charset="-128"/>
                <a:cs typeface="Cambria" pitchFamily="34" charset="-120"/>
              </a:rPr>
              <a:t>YEAR 2</a:t>
            </a:r>
            <a:endParaRPr lang="en-US" sz="2000" dirty="0"/>
          </a:p>
        </p:txBody>
      </p:sp>
      <p:sp>
        <p:nvSpPr>
          <p:cNvPr id="25" name="Text 22"/>
          <p:cNvSpPr txBox="1"/>
          <p:nvPr/>
        </p:nvSpPr>
        <p:spPr>
          <a:xfrm>
            <a:off x="2822296" y="2450592"/>
            <a:ext cx="1999793" cy="237744"/>
          </a:xfrm>
          <a:prstGeom prst="rect">
            <a:avLst/>
          </a:prstGeom>
          <a:noFill/>
          <a:ln/>
        </p:spPr>
        <p:txBody>
          <a:bodyPr wrap="square" lIns="0" tIns="0" rIns="0" bIns="0" rtlCol="0" anchor="ctr"/>
          <a:lstStyle/>
          <a:p>
            <a:pPr algn="ctr" indent="0" marL="0">
              <a:buNone/>
            </a:pPr>
            <a:r>
              <a:rPr lang="en-US" altLang="en-US" sz="1200" dirty="0">
                <a:solidFill>
                  <a:srgbClr val="5B6675"/>
                </a:solidFill>
                <a:latin typeface="Arial" pitchFamily="34" charset="0"/>
                <a:ea typeface="Arial" charset="-128"/>
                <a:cs typeface="Arial" pitchFamily="34" charset="-120"/>
              </a:rPr>
              <a:t>2027.10–2028.9</a:t>
            </a:r>
            <a:endParaRPr lang="en-US" sz="1200" dirty="0"/>
          </a:p>
        </p:txBody>
      </p:sp>
      <p:sp>
        <p:nvSpPr>
          <p:cNvPr id="26" name="Text 23"/>
          <p:cNvSpPr txBox="1"/>
          <p:nvPr/>
        </p:nvSpPr>
        <p:spPr>
          <a:xfrm>
            <a:off x="5095951" y="2103120"/>
            <a:ext cx="1999793" cy="347472"/>
          </a:xfrm>
          <a:prstGeom prst="rect">
            <a:avLst/>
          </a:prstGeom>
          <a:noFill/>
          <a:ln/>
        </p:spPr>
        <p:txBody>
          <a:bodyPr wrap="square" lIns="0" tIns="0" rIns="0" bIns="0" rtlCol="0" anchor="ctr"/>
          <a:lstStyle/>
          <a:p>
            <a:pPr algn="ctr" indent="0" marL="0">
              <a:buNone/>
            </a:pPr>
            <a:r>
              <a:rPr lang="en-US" altLang="en-US" sz="2000" b="1" dirty="0">
                <a:solidFill>
                  <a:srgbClr val="14284B"/>
                </a:solidFill>
                <a:latin typeface="Cambria" pitchFamily="34" charset="0"/>
                <a:ea typeface="Cambria" charset="-128"/>
                <a:cs typeface="Cambria" pitchFamily="34" charset="-120"/>
              </a:rPr>
              <a:t>YEAR 3</a:t>
            </a:r>
            <a:endParaRPr lang="en-US" sz="2000" dirty="0"/>
          </a:p>
        </p:txBody>
      </p:sp>
      <p:sp>
        <p:nvSpPr>
          <p:cNvPr id="27" name="Text 24"/>
          <p:cNvSpPr txBox="1"/>
          <p:nvPr/>
        </p:nvSpPr>
        <p:spPr>
          <a:xfrm>
            <a:off x="5095951" y="2450592"/>
            <a:ext cx="1999793" cy="237744"/>
          </a:xfrm>
          <a:prstGeom prst="rect">
            <a:avLst/>
          </a:prstGeom>
          <a:noFill/>
          <a:ln/>
        </p:spPr>
        <p:txBody>
          <a:bodyPr wrap="square" lIns="0" tIns="0" rIns="0" bIns="0" rtlCol="0" anchor="ctr"/>
          <a:lstStyle/>
          <a:p>
            <a:pPr algn="ctr" indent="0" marL="0">
              <a:buNone/>
            </a:pPr>
            <a:r>
              <a:rPr lang="en-US" altLang="en-US" sz="1200" dirty="0">
                <a:solidFill>
                  <a:srgbClr val="5B6675"/>
                </a:solidFill>
                <a:latin typeface="Arial" pitchFamily="34" charset="0"/>
                <a:ea typeface="Arial" charset="-128"/>
                <a:cs typeface="Arial" pitchFamily="34" charset="-120"/>
              </a:rPr>
              <a:t>2028.10–2029.9</a:t>
            </a:r>
            <a:endParaRPr lang="en-US" sz="1200" dirty="0"/>
          </a:p>
        </p:txBody>
      </p:sp>
      <p:sp>
        <p:nvSpPr>
          <p:cNvPr id="28" name="Text 25"/>
          <p:cNvSpPr txBox="1"/>
          <p:nvPr/>
        </p:nvSpPr>
        <p:spPr>
          <a:xfrm>
            <a:off x="7369607" y="2103120"/>
            <a:ext cx="1999793" cy="347472"/>
          </a:xfrm>
          <a:prstGeom prst="rect">
            <a:avLst/>
          </a:prstGeom>
          <a:noFill/>
          <a:ln/>
        </p:spPr>
        <p:txBody>
          <a:bodyPr wrap="square" lIns="0" tIns="0" rIns="0" bIns="0" rtlCol="0" anchor="ctr"/>
          <a:lstStyle/>
          <a:p>
            <a:pPr algn="ctr" indent="0" marL="0">
              <a:buNone/>
            </a:pPr>
            <a:r>
              <a:rPr lang="en-US" altLang="en-US" sz="2000" b="1" dirty="0">
                <a:solidFill>
                  <a:srgbClr val="14284B"/>
                </a:solidFill>
                <a:latin typeface="Cambria" pitchFamily="34" charset="0"/>
                <a:ea typeface="Cambria" charset="-128"/>
                <a:cs typeface="Cambria" pitchFamily="34" charset="-120"/>
              </a:rPr>
              <a:t>YEAR 4</a:t>
            </a:r>
            <a:endParaRPr lang="en-US" sz="2000" dirty="0"/>
          </a:p>
        </p:txBody>
      </p:sp>
      <p:sp>
        <p:nvSpPr>
          <p:cNvPr id="29" name="Text 26"/>
          <p:cNvSpPr txBox="1"/>
          <p:nvPr/>
        </p:nvSpPr>
        <p:spPr>
          <a:xfrm>
            <a:off x="7369607" y="2450592"/>
            <a:ext cx="1999793" cy="237744"/>
          </a:xfrm>
          <a:prstGeom prst="rect">
            <a:avLst/>
          </a:prstGeom>
          <a:noFill/>
          <a:ln/>
        </p:spPr>
        <p:txBody>
          <a:bodyPr wrap="square" lIns="0" tIns="0" rIns="0" bIns="0" rtlCol="0" anchor="ctr"/>
          <a:lstStyle/>
          <a:p>
            <a:pPr algn="ctr" indent="0" marL="0">
              <a:buNone/>
            </a:pPr>
            <a:r>
              <a:rPr lang="en-US" altLang="en-US" sz="1200" dirty="0">
                <a:solidFill>
                  <a:srgbClr val="5B6675"/>
                </a:solidFill>
                <a:latin typeface="Arial" pitchFamily="34" charset="0"/>
                <a:ea typeface="Arial" charset="-128"/>
                <a:cs typeface="Arial" pitchFamily="34" charset="-120"/>
              </a:rPr>
              <a:t>2029.10–2030.9</a:t>
            </a:r>
            <a:endParaRPr lang="en-US" sz="1200" dirty="0"/>
          </a:p>
        </p:txBody>
      </p:sp>
      <p:sp>
        <p:nvSpPr>
          <p:cNvPr id="30" name="Text 27"/>
          <p:cNvSpPr txBox="1"/>
          <p:nvPr/>
        </p:nvSpPr>
        <p:spPr>
          <a:xfrm>
            <a:off x="9643262" y="2103120"/>
            <a:ext cx="1999793" cy="347472"/>
          </a:xfrm>
          <a:prstGeom prst="rect">
            <a:avLst/>
          </a:prstGeom>
          <a:noFill/>
          <a:ln/>
        </p:spPr>
        <p:txBody>
          <a:bodyPr wrap="square" lIns="0" tIns="0" rIns="0" bIns="0" rtlCol="0" anchor="ctr"/>
          <a:lstStyle/>
          <a:p>
            <a:pPr algn="ctr" indent="0" marL="0">
              <a:buNone/>
            </a:pPr>
            <a:r>
              <a:rPr lang="en-US" altLang="en-US" sz="2000" b="1" dirty="0">
                <a:solidFill>
                  <a:srgbClr val="14284B"/>
                </a:solidFill>
                <a:latin typeface="Cambria" pitchFamily="34" charset="0"/>
                <a:ea typeface="Cambria" charset="-128"/>
                <a:cs typeface="Cambria" pitchFamily="34" charset="-120"/>
              </a:rPr>
              <a:t>YEAR 5</a:t>
            </a:r>
            <a:endParaRPr lang="en-US" sz="2000" dirty="0"/>
          </a:p>
        </p:txBody>
      </p:sp>
      <p:sp>
        <p:nvSpPr>
          <p:cNvPr id="31" name="Text 28"/>
          <p:cNvSpPr txBox="1"/>
          <p:nvPr/>
        </p:nvSpPr>
        <p:spPr>
          <a:xfrm>
            <a:off x="9643262" y="2450592"/>
            <a:ext cx="1999793" cy="237744"/>
          </a:xfrm>
          <a:prstGeom prst="rect">
            <a:avLst/>
          </a:prstGeom>
          <a:noFill/>
          <a:ln/>
        </p:spPr>
        <p:txBody>
          <a:bodyPr wrap="square" lIns="0" tIns="0" rIns="0" bIns="0" rtlCol="0" anchor="ctr"/>
          <a:lstStyle/>
          <a:p>
            <a:pPr algn="ctr" indent="0" marL="0">
              <a:buNone/>
            </a:pPr>
            <a:r>
              <a:rPr lang="en-US" altLang="en-US" sz="1200" dirty="0">
                <a:solidFill>
                  <a:srgbClr val="5B6675"/>
                </a:solidFill>
                <a:latin typeface="Arial" pitchFamily="34" charset="0"/>
                <a:ea typeface="Arial" charset="-128"/>
                <a:cs typeface="Arial" pitchFamily="34" charset="-120"/>
              </a:rPr>
              <a:t>2030.10–2031.9</a:t>
            </a:r>
            <a:endParaRPr lang="en-US" sz="1200" dirty="0"/>
          </a:p>
        </p:txBody>
      </p:sp>
      <p:sp>
        <p:nvSpPr>
          <p:cNvPr id="32" name="Shape 29"/>
          <p:cNvSpPr/>
          <p:nvPr/>
        </p:nvSpPr>
        <p:spPr>
          <a:xfrm>
            <a:off x="548640" y="2880360"/>
            <a:ext cx="11094415" cy="0"/>
          </a:xfrm>
          <a:prstGeom prst="line">
            <a:avLst/>
          </a:prstGeom>
          <a:noFill/>
          <a:ln w="19050">
            <a:solidFill>
              <a:srgbClr val="B08D57"/>
            </a:solidFill>
            <a:prstDash val="solid"/>
            <a:tailEnd type="triangle"/>
          </a:ln>
        </p:spPr>
      </p:sp>
      <p:sp>
        <p:nvSpPr>
          <p:cNvPr id="33" name="Shape 30"/>
          <p:cNvSpPr/>
          <p:nvPr/>
        </p:nvSpPr>
        <p:spPr>
          <a:xfrm>
            <a:off x="1457096" y="2788920"/>
            <a:ext cx="182880" cy="182880"/>
          </a:xfrm>
          <a:prstGeom prst="ellipse">
            <a:avLst/>
          </a:prstGeom>
          <a:solidFill>
            <a:srgbClr val="B08D57"/>
          </a:solidFill>
          <a:ln/>
        </p:spPr>
      </p:sp>
      <p:sp>
        <p:nvSpPr>
          <p:cNvPr id="34" name="Shape 31"/>
          <p:cNvSpPr/>
          <p:nvPr/>
        </p:nvSpPr>
        <p:spPr>
          <a:xfrm>
            <a:off x="3675888" y="2734056"/>
            <a:ext cx="292608" cy="292608"/>
          </a:xfrm>
          <a:prstGeom prst="diamond">
            <a:avLst/>
          </a:prstGeom>
          <a:solidFill>
            <a:srgbClr val="B08D57"/>
          </a:solidFill>
          <a:ln/>
        </p:spPr>
      </p:sp>
      <p:sp>
        <p:nvSpPr>
          <p:cNvPr id="35" name="Shape 32"/>
          <p:cNvSpPr/>
          <p:nvPr/>
        </p:nvSpPr>
        <p:spPr>
          <a:xfrm>
            <a:off x="6004408" y="2788920"/>
            <a:ext cx="182880" cy="182880"/>
          </a:xfrm>
          <a:prstGeom prst="ellipse">
            <a:avLst/>
          </a:prstGeom>
          <a:solidFill>
            <a:srgbClr val="B08D57"/>
          </a:solidFill>
          <a:ln/>
        </p:spPr>
      </p:sp>
      <p:sp>
        <p:nvSpPr>
          <p:cNvPr id="36" name="Shape 33"/>
          <p:cNvSpPr/>
          <p:nvPr/>
        </p:nvSpPr>
        <p:spPr>
          <a:xfrm>
            <a:off x="8278063" y="2788920"/>
            <a:ext cx="182880" cy="182880"/>
          </a:xfrm>
          <a:prstGeom prst="ellipse">
            <a:avLst/>
          </a:prstGeom>
          <a:solidFill>
            <a:srgbClr val="B08D57"/>
          </a:solidFill>
          <a:ln/>
        </p:spPr>
      </p:sp>
      <p:sp>
        <p:nvSpPr>
          <p:cNvPr id="37" name="Shape 34"/>
          <p:cNvSpPr/>
          <p:nvPr/>
        </p:nvSpPr>
        <p:spPr>
          <a:xfrm>
            <a:off x="10515143" y="2752344"/>
            <a:ext cx="256032" cy="256032"/>
          </a:xfrm>
          <a:prstGeom prst="ellipse">
            <a:avLst/>
          </a:prstGeom>
          <a:solidFill>
            <a:srgbClr val="14284B"/>
          </a:solidFill>
          <a:ln/>
        </p:spPr>
      </p:sp>
      <p:sp>
        <p:nvSpPr>
          <p:cNvPr id="38" name="Shape 35"/>
          <p:cNvSpPr/>
          <p:nvPr/>
        </p:nvSpPr>
        <p:spPr>
          <a:xfrm>
            <a:off x="548640" y="3154680"/>
            <a:ext cx="1999793" cy="2743200"/>
          </a:xfrm>
          <a:prstGeom prst="rect">
            <a:avLst/>
          </a:prstGeom>
          <a:solidFill>
            <a:srgbClr val="F3F5F8"/>
          </a:solidFill>
          <a:ln/>
        </p:spPr>
      </p:sp>
      <p:sp>
        <p:nvSpPr>
          <p:cNvPr id="39" name="Text 36"/>
          <p:cNvSpPr txBox="1"/>
          <p:nvPr/>
        </p:nvSpPr>
        <p:spPr>
          <a:xfrm>
            <a:off x="731520" y="3255264"/>
            <a:ext cx="731520" cy="365760"/>
          </a:xfrm>
          <a:prstGeom prst="rect">
            <a:avLst/>
          </a:prstGeom>
          <a:noFill/>
          <a:ln/>
        </p:spPr>
        <p:txBody>
          <a:bodyPr wrap="square" lIns="0" tIns="0" rIns="0" bIns="0" rtlCol="0" anchor="ctr"/>
          <a:lstStyle/>
          <a:p>
            <a:pPr algn="l" indent="0" marL="0">
              <a:buNone/>
            </a:pPr>
            <a:r>
              <a:rPr lang="en-US" altLang="en-US" sz="2200" b="1" dirty="0">
                <a:solidFill>
                  <a:srgbClr val="8C6D3F"/>
                </a:solidFill>
                <a:latin typeface="Cambria" pitchFamily="34" charset="0"/>
                <a:ea typeface="Cambria" charset="-128"/>
                <a:cs typeface="Cambria" pitchFamily="34" charset="-120"/>
              </a:rPr>
              <a:t>01</a:t>
            </a:r>
            <a:endParaRPr lang="en-US" sz="2200" dirty="0"/>
          </a:p>
        </p:txBody>
      </p:sp>
      <p:sp>
        <p:nvSpPr>
          <p:cNvPr id="40" name="Text 37"/>
          <p:cNvSpPr txBox="1"/>
          <p:nvPr/>
        </p:nvSpPr>
        <p:spPr>
          <a:xfrm>
            <a:off x="731520" y="3675888"/>
            <a:ext cx="1737360" cy="914400"/>
          </a:xfrm>
          <a:prstGeom prst="rect">
            <a:avLst/>
          </a:prstGeom>
          <a:noFill/>
          <a:ln/>
        </p:spPr>
        <p:txBody>
          <a:bodyPr wrap="square" lIns="0" tIns="0" rIns="0" bIns="0" rtlCol="0" anchor="t"/>
          <a:lstStyle/>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ROOTIVE</a:t>
            </a:r>
            <a:endParaRPr lang="ja-JP" sz="1500" dirty="0"/>
          </a:p>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経営基盤構築</a:t>
            </a:r>
            <a:endParaRPr lang="ja-JP" sz="1500" dirty="0"/>
          </a:p>
        </p:txBody>
      </p:sp>
      <p:sp>
        <p:nvSpPr>
          <p:cNvPr id="41" name="Text 38"/>
          <p:cNvSpPr txBox="1"/>
          <p:nvPr/>
        </p:nvSpPr>
        <p:spPr>
          <a:xfrm>
            <a:off x="731520" y="4828032"/>
            <a:ext cx="173736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ROOTIVE売上（暫定）</a:t>
            </a:r>
            <a:endParaRPr lang="ja-JP" sz="1100" dirty="0"/>
          </a:p>
        </p:txBody>
      </p:sp>
      <p:sp>
        <p:nvSpPr>
          <p:cNvPr id="42" name="Text 39"/>
          <p:cNvSpPr txBox="1"/>
          <p:nvPr/>
        </p:nvSpPr>
        <p:spPr>
          <a:xfrm>
            <a:off x="731520" y="5047488"/>
            <a:ext cx="1737360" cy="457200"/>
          </a:xfrm>
          <a:prstGeom prst="rect">
            <a:avLst/>
          </a:prstGeom>
          <a:noFill/>
          <a:ln/>
        </p:spPr>
        <p:txBody>
          <a:bodyPr wrap="square" lIns="0" tIns="0" rIns="0" bIns="0" rtlCol="0" anchor="ctr"/>
          <a:lstStyle/>
          <a:p>
            <a:pPr algn="l" indent="0" marL="0">
              <a:buNone/>
            </a:pPr>
            <a:r>
              <a:rPr lang="en-US" altLang="en-US" sz="2600" b="1" dirty="0">
                <a:solidFill>
                  <a:srgbClr val="14284B"/>
                </a:solidFill>
                <a:latin typeface="Cambria" pitchFamily="34" charset="0"/>
                <a:ea typeface="Cambria" charset="-128"/>
                <a:cs typeface="Cambria" pitchFamily="34" charset="-120"/>
              </a:rPr>
              <a:t>2</a:t>
            </a:r>
            <a:pPr algn="l"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43" name="Text 40"/>
          <p:cNvSpPr txBox="1"/>
          <p:nvPr/>
        </p:nvSpPr>
        <p:spPr>
          <a:xfrm>
            <a:off x="731520" y="5504688"/>
            <a:ext cx="1737360" cy="219456"/>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詳細 P.10</a:t>
            </a:r>
            <a:endParaRPr lang="ja-JP" sz="1000" dirty="0"/>
          </a:p>
        </p:txBody>
      </p:sp>
      <p:sp>
        <p:nvSpPr>
          <p:cNvPr id="44" name="Shape 41"/>
          <p:cNvSpPr/>
          <p:nvPr/>
        </p:nvSpPr>
        <p:spPr>
          <a:xfrm>
            <a:off x="2822296" y="3154680"/>
            <a:ext cx="1999793" cy="2743200"/>
          </a:xfrm>
          <a:prstGeom prst="rect">
            <a:avLst/>
          </a:prstGeom>
          <a:solidFill>
            <a:srgbClr val="F3F5F8"/>
          </a:solidFill>
          <a:ln/>
        </p:spPr>
      </p:sp>
      <p:sp>
        <p:nvSpPr>
          <p:cNvPr id="45" name="Text 42"/>
          <p:cNvSpPr txBox="1"/>
          <p:nvPr/>
        </p:nvSpPr>
        <p:spPr>
          <a:xfrm>
            <a:off x="3005176" y="3255264"/>
            <a:ext cx="731520" cy="365760"/>
          </a:xfrm>
          <a:prstGeom prst="rect">
            <a:avLst/>
          </a:prstGeom>
          <a:noFill/>
          <a:ln/>
        </p:spPr>
        <p:txBody>
          <a:bodyPr wrap="square" lIns="0" tIns="0" rIns="0" bIns="0" rtlCol="0" anchor="ctr"/>
          <a:lstStyle/>
          <a:p>
            <a:pPr algn="l" indent="0" marL="0">
              <a:buNone/>
            </a:pPr>
            <a:r>
              <a:rPr lang="en-US" altLang="en-US" sz="2200" b="1" dirty="0">
                <a:solidFill>
                  <a:srgbClr val="8C6D3F"/>
                </a:solidFill>
                <a:latin typeface="Cambria" pitchFamily="34" charset="0"/>
                <a:ea typeface="Cambria" charset="-128"/>
                <a:cs typeface="Cambria" pitchFamily="34" charset="-120"/>
              </a:rPr>
              <a:t>02</a:t>
            </a:r>
            <a:endParaRPr lang="en-US" sz="2200" dirty="0"/>
          </a:p>
        </p:txBody>
      </p:sp>
      <p:sp>
        <p:nvSpPr>
          <p:cNvPr id="46" name="Text 43"/>
          <p:cNvSpPr txBox="1"/>
          <p:nvPr/>
        </p:nvSpPr>
        <p:spPr>
          <a:xfrm>
            <a:off x="3005176" y="3675888"/>
            <a:ext cx="1737360" cy="914400"/>
          </a:xfrm>
          <a:prstGeom prst="rect">
            <a:avLst/>
          </a:prstGeom>
          <a:noFill/>
          <a:ln/>
        </p:spPr>
        <p:txBody>
          <a:bodyPr wrap="square" lIns="0" tIns="0" rIns="0" bIns="0" rtlCol="0" anchor="t"/>
          <a:lstStyle/>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親会社設立・</a:t>
            </a:r>
            <a:endParaRPr lang="ja-JP" sz="1500" dirty="0"/>
          </a:p>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グループ化開始</a:t>
            </a:r>
            <a:endParaRPr lang="ja-JP" sz="1500" dirty="0"/>
          </a:p>
        </p:txBody>
      </p:sp>
      <p:sp>
        <p:nvSpPr>
          <p:cNvPr id="47" name="Text 44"/>
          <p:cNvSpPr txBox="1"/>
          <p:nvPr/>
        </p:nvSpPr>
        <p:spPr>
          <a:xfrm>
            <a:off x="3005176" y="4425696"/>
            <a:ext cx="1600200" cy="274320"/>
          </a:xfrm>
          <a:prstGeom prst="rect">
            <a:avLst/>
          </a:prstGeom>
          <a:noFill/>
          <a:ln w="12700">
            <a:solidFill>
              <a:srgbClr val="8C6D3F"/>
            </a:solidFill>
          </a:ln>
        </p:spPr>
        <p:txBody>
          <a:bodyPr wrap="square" lIns="0" tIns="0" rIns="0" bIns="0" rtlCol="0" anchor="ctr"/>
          <a:lstStyle/>
          <a:p>
            <a:pPr algn="ctr" indent="0" marL="0">
              <a:buNone/>
            </a:pPr>
            <a:r>
              <a:rPr lang="ja-JP" altLang="en-US" sz="1100" b="1" dirty="0">
                <a:solidFill>
                  <a:srgbClr val="8C6D3F"/>
                </a:solidFill>
                <a:latin typeface="Yu Gothic" pitchFamily="34" charset="0"/>
                <a:ea typeface="Yu Gothic" charset="-128"/>
                <a:cs typeface="Yu Gothic" pitchFamily="34" charset="-120"/>
              </a:rPr>
              <a:t>2028.3 親会社設立</a:t>
            </a:r>
            <a:endParaRPr lang="ja-JP" sz="1100" dirty="0"/>
          </a:p>
        </p:txBody>
      </p:sp>
      <p:sp>
        <p:nvSpPr>
          <p:cNvPr id="48" name="Text 45"/>
          <p:cNvSpPr txBox="1"/>
          <p:nvPr/>
        </p:nvSpPr>
        <p:spPr>
          <a:xfrm>
            <a:off x="3005176" y="4828032"/>
            <a:ext cx="173736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グループ売上（暫定）</a:t>
            </a:r>
            <a:endParaRPr lang="ja-JP" sz="1100" dirty="0"/>
          </a:p>
        </p:txBody>
      </p:sp>
      <p:sp>
        <p:nvSpPr>
          <p:cNvPr id="49" name="Text 46"/>
          <p:cNvSpPr txBox="1"/>
          <p:nvPr/>
        </p:nvSpPr>
        <p:spPr>
          <a:xfrm>
            <a:off x="3005176" y="5047488"/>
            <a:ext cx="1737360" cy="457200"/>
          </a:xfrm>
          <a:prstGeom prst="rect">
            <a:avLst/>
          </a:prstGeom>
          <a:noFill/>
          <a:ln/>
        </p:spPr>
        <p:txBody>
          <a:bodyPr wrap="square" lIns="0" tIns="0" rIns="0" bIns="0" rtlCol="0" anchor="ctr"/>
          <a:lstStyle/>
          <a:p>
            <a:pPr algn="l" indent="0" marL="0">
              <a:buNone/>
            </a:pPr>
            <a:r>
              <a:rPr lang="en-US" altLang="en-US" sz="2600" b="1" dirty="0">
                <a:solidFill>
                  <a:srgbClr val="14284B"/>
                </a:solidFill>
                <a:latin typeface="Cambria" pitchFamily="34" charset="0"/>
                <a:ea typeface="Cambria" charset="-128"/>
                <a:cs typeface="Cambria" pitchFamily="34" charset="-120"/>
              </a:rPr>
              <a:t>5</a:t>
            </a:r>
            <a:pPr algn="l"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50" name="Text 47"/>
          <p:cNvSpPr txBox="1"/>
          <p:nvPr/>
        </p:nvSpPr>
        <p:spPr>
          <a:xfrm>
            <a:off x="3005176" y="5504688"/>
            <a:ext cx="1737360" cy="219456"/>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詳細 P.11</a:t>
            </a:r>
            <a:endParaRPr lang="ja-JP" sz="1000" dirty="0"/>
          </a:p>
        </p:txBody>
      </p:sp>
      <p:sp>
        <p:nvSpPr>
          <p:cNvPr id="51" name="Shape 48"/>
          <p:cNvSpPr/>
          <p:nvPr/>
        </p:nvSpPr>
        <p:spPr>
          <a:xfrm>
            <a:off x="5095951" y="3154680"/>
            <a:ext cx="1999793" cy="2743200"/>
          </a:xfrm>
          <a:prstGeom prst="rect">
            <a:avLst/>
          </a:prstGeom>
          <a:solidFill>
            <a:srgbClr val="F3F5F8"/>
          </a:solidFill>
          <a:ln/>
        </p:spPr>
      </p:sp>
      <p:sp>
        <p:nvSpPr>
          <p:cNvPr id="52" name="Text 49"/>
          <p:cNvSpPr txBox="1"/>
          <p:nvPr/>
        </p:nvSpPr>
        <p:spPr>
          <a:xfrm>
            <a:off x="5278831" y="3255264"/>
            <a:ext cx="731520" cy="365760"/>
          </a:xfrm>
          <a:prstGeom prst="rect">
            <a:avLst/>
          </a:prstGeom>
          <a:noFill/>
          <a:ln/>
        </p:spPr>
        <p:txBody>
          <a:bodyPr wrap="square" lIns="0" tIns="0" rIns="0" bIns="0" rtlCol="0" anchor="ctr"/>
          <a:lstStyle/>
          <a:p>
            <a:pPr algn="l" indent="0" marL="0">
              <a:buNone/>
            </a:pPr>
            <a:r>
              <a:rPr lang="en-US" altLang="en-US" sz="2200" b="1" dirty="0">
                <a:solidFill>
                  <a:srgbClr val="8C6D3F"/>
                </a:solidFill>
                <a:latin typeface="Cambria" pitchFamily="34" charset="0"/>
                <a:ea typeface="Cambria" charset="-128"/>
                <a:cs typeface="Cambria" pitchFamily="34" charset="-120"/>
              </a:rPr>
              <a:t>03</a:t>
            </a:r>
            <a:endParaRPr lang="en-US" sz="2200" dirty="0"/>
          </a:p>
        </p:txBody>
      </p:sp>
      <p:sp>
        <p:nvSpPr>
          <p:cNvPr id="53" name="Text 50"/>
          <p:cNvSpPr txBox="1"/>
          <p:nvPr/>
        </p:nvSpPr>
        <p:spPr>
          <a:xfrm>
            <a:off x="5278831" y="3675888"/>
            <a:ext cx="1737360" cy="914400"/>
          </a:xfrm>
          <a:prstGeom prst="rect">
            <a:avLst/>
          </a:prstGeom>
          <a:noFill/>
          <a:ln/>
        </p:spPr>
        <p:txBody>
          <a:bodyPr wrap="square" lIns="0" tIns="0" rIns="0" bIns="0" rtlCol="0" anchor="t"/>
          <a:lstStyle/>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M&amp;Aモデル</a:t>
            </a:r>
            <a:endParaRPr lang="ja-JP" sz="1500" dirty="0"/>
          </a:p>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確立</a:t>
            </a:r>
            <a:endParaRPr lang="ja-JP" sz="1500" dirty="0"/>
          </a:p>
        </p:txBody>
      </p:sp>
      <p:sp>
        <p:nvSpPr>
          <p:cNvPr id="54" name="Text 51"/>
          <p:cNvSpPr txBox="1"/>
          <p:nvPr/>
        </p:nvSpPr>
        <p:spPr>
          <a:xfrm>
            <a:off x="5278831" y="4828032"/>
            <a:ext cx="173736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グループ売上（暫定）</a:t>
            </a:r>
            <a:endParaRPr lang="ja-JP" sz="1100" dirty="0"/>
          </a:p>
        </p:txBody>
      </p:sp>
      <p:sp>
        <p:nvSpPr>
          <p:cNvPr id="55" name="Text 52"/>
          <p:cNvSpPr txBox="1"/>
          <p:nvPr/>
        </p:nvSpPr>
        <p:spPr>
          <a:xfrm>
            <a:off x="5278831" y="5047488"/>
            <a:ext cx="1737360" cy="457200"/>
          </a:xfrm>
          <a:prstGeom prst="rect">
            <a:avLst/>
          </a:prstGeom>
          <a:noFill/>
          <a:ln/>
        </p:spPr>
        <p:txBody>
          <a:bodyPr wrap="square" lIns="0" tIns="0" rIns="0" bIns="0" rtlCol="0" anchor="ctr"/>
          <a:lstStyle/>
          <a:p>
            <a:pPr algn="l" indent="0" marL="0">
              <a:buNone/>
            </a:pPr>
            <a:r>
              <a:rPr lang="en-US" altLang="en-US" sz="2600" b="1" dirty="0">
                <a:solidFill>
                  <a:srgbClr val="14284B"/>
                </a:solidFill>
                <a:latin typeface="Cambria" pitchFamily="34" charset="0"/>
                <a:ea typeface="Cambria" charset="-128"/>
                <a:cs typeface="Cambria" pitchFamily="34" charset="-120"/>
              </a:rPr>
              <a:t>10</a:t>
            </a:r>
            <a:pPr algn="l"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56" name="Text 53"/>
          <p:cNvSpPr txBox="1"/>
          <p:nvPr/>
        </p:nvSpPr>
        <p:spPr>
          <a:xfrm>
            <a:off x="5278831" y="5504688"/>
            <a:ext cx="1737360" cy="219456"/>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詳細 P.12</a:t>
            </a:r>
            <a:endParaRPr lang="ja-JP" sz="1000" dirty="0"/>
          </a:p>
        </p:txBody>
      </p:sp>
      <p:sp>
        <p:nvSpPr>
          <p:cNvPr id="57" name="Shape 54"/>
          <p:cNvSpPr/>
          <p:nvPr/>
        </p:nvSpPr>
        <p:spPr>
          <a:xfrm>
            <a:off x="7369607" y="3154680"/>
            <a:ext cx="1999793" cy="2743200"/>
          </a:xfrm>
          <a:prstGeom prst="rect">
            <a:avLst/>
          </a:prstGeom>
          <a:solidFill>
            <a:srgbClr val="F3F5F8"/>
          </a:solidFill>
          <a:ln/>
        </p:spPr>
      </p:sp>
      <p:sp>
        <p:nvSpPr>
          <p:cNvPr id="58" name="Text 55"/>
          <p:cNvSpPr txBox="1"/>
          <p:nvPr/>
        </p:nvSpPr>
        <p:spPr>
          <a:xfrm>
            <a:off x="7552487" y="3255264"/>
            <a:ext cx="731520" cy="365760"/>
          </a:xfrm>
          <a:prstGeom prst="rect">
            <a:avLst/>
          </a:prstGeom>
          <a:noFill/>
          <a:ln/>
        </p:spPr>
        <p:txBody>
          <a:bodyPr wrap="square" lIns="0" tIns="0" rIns="0" bIns="0" rtlCol="0" anchor="ctr"/>
          <a:lstStyle/>
          <a:p>
            <a:pPr algn="l" indent="0" marL="0">
              <a:buNone/>
            </a:pPr>
            <a:r>
              <a:rPr lang="en-US" altLang="en-US" sz="2200" b="1" dirty="0">
                <a:solidFill>
                  <a:srgbClr val="8C6D3F"/>
                </a:solidFill>
                <a:latin typeface="Cambria" pitchFamily="34" charset="0"/>
                <a:ea typeface="Cambria" charset="-128"/>
                <a:cs typeface="Cambria" pitchFamily="34" charset="-120"/>
              </a:rPr>
              <a:t>04</a:t>
            </a:r>
            <a:endParaRPr lang="en-US" sz="2200" dirty="0"/>
          </a:p>
        </p:txBody>
      </p:sp>
      <p:sp>
        <p:nvSpPr>
          <p:cNvPr id="59" name="Text 56"/>
          <p:cNvSpPr txBox="1"/>
          <p:nvPr/>
        </p:nvSpPr>
        <p:spPr>
          <a:xfrm>
            <a:off x="7552487" y="3675888"/>
            <a:ext cx="1737360" cy="914400"/>
          </a:xfrm>
          <a:prstGeom prst="rect">
            <a:avLst/>
          </a:prstGeom>
          <a:noFill/>
          <a:ln/>
        </p:spPr>
        <p:txBody>
          <a:bodyPr wrap="square" lIns="0" tIns="0" rIns="0" bIns="0" rtlCol="0" anchor="t"/>
          <a:lstStyle/>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M&amp;A</a:t>
            </a:r>
            <a:endParaRPr lang="ja-JP" sz="1500" dirty="0"/>
          </a:p>
          <a:p>
            <a:pPr algn="l" indent="0" marL="0">
              <a:lnSpc>
                <a:spcPts val="2200"/>
              </a:lnSpc>
              <a:buNone/>
            </a:pPr>
            <a:r>
              <a:rPr lang="ja-JP" altLang="en-US" sz="1500" b="1" dirty="0">
                <a:solidFill>
                  <a:srgbClr val="14284B"/>
                </a:solidFill>
                <a:latin typeface="Yu Gothic" pitchFamily="34" charset="0"/>
                <a:ea typeface="Yu Gothic" charset="-128"/>
                <a:cs typeface="Yu Gothic" pitchFamily="34" charset="-120"/>
              </a:rPr>
              <a:t>再現性構築</a:t>
            </a:r>
            <a:endParaRPr lang="ja-JP" sz="1500" dirty="0"/>
          </a:p>
        </p:txBody>
      </p:sp>
      <p:sp>
        <p:nvSpPr>
          <p:cNvPr id="60" name="Text 57"/>
          <p:cNvSpPr txBox="1"/>
          <p:nvPr/>
        </p:nvSpPr>
        <p:spPr>
          <a:xfrm>
            <a:off x="7552487" y="4828032"/>
            <a:ext cx="1737360" cy="237744"/>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グループ売上（暫定）</a:t>
            </a:r>
            <a:endParaRPr lang="ja-JP" sz="1100" dirty="0"/>
          </a:p>
        </p:txBody>
      </p:sp>
      <p:sp>
        <p:nvSpPr>
          <p:cNvPr id="61" name="Text 58"/>
          <p:cNvSpPr txBox="1"/>
          <p:nvPr/>
        </p:nvSpPr>
        <p:spPr>
          <a:xfrm>
            <a:off x="7552487" y="5047488"/>
            <a:ext cx="1737360" cy="457200"/>
          </a:xfrm>
          <a:prstGeom prst="rect">
            <a:avLst/>
          </a:prstGeom>
          <a:noFill/>
          <a:ln/>
        </p:spPr>
        <p:txBody>
          <a:bodyPr wrap="square" lIns="0" tIns="0" rIns="0" bIns="0" rtlCol="0" anchor="ctr"/>
          <a:lstStyle/>
          <a:p>
            <a:pPr algn="l" indent="0" marL="0">
              <a:buNone/>
            </a:pPr>
            <a:r>
              <a:rPr lang="en-US" altLang="en-US" sz="2600" b="1" dirty="0">
                <a:solidFill>
                  <a:srgbClr val="14284B"/>
                </a:solidFill>
                <a:latin typeface="Cambria" pitchFamily="34" charset="0"/>
                <a:ea typeface="Cambria" charset="-128"/>
                <a:cs typeface="Cambria" pitchFamily="34" charset="-120"/>
              </a:rPr>
              <a:t>18</a:t>
            </a:r>
            <a:pPr algn="l"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62" name="Text 59"/>
          <p:cNvSpPr txBox="1"/>
          <p:nvPr/>
        </p:nvSpPr>
        <p:spPr>
          <a:xfrm>
            <a:off x="7552487" y="5504688"/>
            <a:ext cx="1737360" cy="219456"/>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詳細 P.13</a:t>
            </a:r>
            <a:endParaRPr lang="ja-JP" sz="1000" dirty="0"/>
          </a:p>
        </p:txBody>
      </p:sp>
      <p:sp>
        <p:nvSpPr>
          <p:cNvPr id="63" name="Shape 60"/>
          <p:cNvSpPr/>
          <p:nvPr/>
        </p:nvSpPr>
        <p:spPr>
          <a:xfrm>
            <a:off x="9643262" y="3154680"/>
            <a:ext cx="1999793" cy="2743200"/>
          </a:xfrm>
          <a:prstGeom prst="rect">
            <a:avLst/>
          </a:prstGeom>
          <a:solidFill>
            <a:srgbClr val="14284B"/>
          </a:solidFill>
          <a:ln/>
        </p:spPr>
      </p:sp>
      <p:sp>
        <p:nvSpPr>
          <p:cNvPr id="64" name="Text 61"/>
          <p:cNvSpPr txBox="1"/>
          <p:nvPr/>
        </p:nvSpPr>
        <p:spPr>
          <a:xfrm>
            <a:off x="9826142" y="3255264"/>
            <a:ext cx="731520" cy="36576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05</a:t>
            </a:r>
            <a:endParaRPr lang="en-US" sz="2200" dirty="0"/>
          </a:p>
        </p:txBody>
      </p:sp>
      <p:sp>
        <p:nvSpPr>
          <p:cNvPr id="65" name="Text 62"/>
          <p:cNvSpPr txBox="1"/>
          <p:nvPr/>
        </p:nvSpPr>
        <p:spPr>
          <a:xfrm>
            <a:off x="9826142" y="3675888"/>
            <a:ext cx="1737360" cy="914400"/>
          </a:xfrm>
          <a:prstGeom prst="rect">
            <a:avLst/>
          </a:prstGeom>
          <a:noFill/>
          <a:ln/>
        </p:spPr>
        <p:txBody>
          <a:bodyPr wrap="square" lIns="0" tIns="0" rIns="0" bIns="0" rtlCol="0" anchor="t"/>
          <a:lstStyle/>
          <a:p>
            <a:pPr algn="l" indent="0" marL="0">
              <a:lnSpc>
                <a:spcPts val="2200"/>
              </a:lnSpc>
              <a:buNone/>
            </a:pPr>
            <a:r>
              <a:rPr lang="ja-JP" altLang="en-US" sz="1500" b="1" dirty="0">
                <a:solidFill>
                  <a:srgbClr val="FFFFFF"/>
                </a:solidFill>
                <a:latin typeface="Yu Gothic" pitchFamily="34" charset="0"/>
                <a:ea typeface="Yu Gothic" charset="-128"/>
                <a:cs typeface="Yu Gothic" pitchFamily="34" charset="-120"/>
              </a:rPr>
              <a:t>連結30億・</a:t>
            </a:r>
            <a:endParaRPr lang="ja-JP" sz="1500" dirty="0"/>
          </a:p>
          <a:p>
            <a:pPr algn="l" indent="0" marL="0">
              <a:lnSpc>
                <a:spcPts val="2200"/>
              </a:lnSpc>
              <a:buNone/>
            </a:pPr>
            <a:r>
              <a:rPr lang="ja-JP" altLang="en-US" sz="1500" b="1" dirty="0">
                <a:solidFill>
                  <a:srgbClr val="FFFFFF"/>
                </a:solidFill>
                <a:latin typeface="Yu Gothic" pitchFamily="34" charset="0"/>
                <a:ea typeface="Yu Gothic" charset="-128"/>
                <a:cs typeface="Yu Gothic" pitchFamily="34" charset="-120"/>
              </a:rPr>
              <a:t>グループ経営</a:t>
            </a:r>
            <a:endParaRPr lang="ja-JP" sz="1500" dirty="0"/>
          </a:p>
          <a:p>
            <a:pPr algn="l" indent="0" marL="0">
              <a:lnSpc>
                <a:spcPts val="2200"/>
              </a:lnSpc>
              <a:buNone/>
            </a:pPr>
            <a:r>
              <a:rPr lang="ja-JP" altLang="en-US" sz="1500" b="1" dirty="0">
                <a:solidFill>
                  <a:srgbClr val="FFFFFF"/>
                </a:solidFill>
                <a:latin typeface="Yu Gothic" pitchFamily="34" charset="0"/>
                <a:ea typeface="Yu Gothic" charset="-128"/>
                <a:cs typeface="Yu Gothic" pitchFamily="34" charset="-120"/>
              </a:rPr>
              <a:t>基盤完成</a:t>
            </a:r>
            <a:endParaRPr lang="ja-JP" sz="1500" dirty="0"/>
          </a:p>
        </p:txBody>
      </p:sp>
      <p:sp>
        <p:nvSpPr>
          <p:cNvPr id="66" name="Text 63"/>
          <p:cNvSpPr txBox="1"/>
          <p:nvPr/>
        </p:nvSpPr>
        <p:spPr>
          <a:xfrm>
            <a:off x="9826142" y="4828032"/>
            <a:ext cx="1737360" cy="237744"/>
          </a:xfrm>
          <a:prstGeom prst="rect">
            <a:avLst/>
          </a:prstGeom>
          <a:noFill/>
          <a:ln/>
        </p:spPr>
        <p:txBody>
          <a:bodyPr wrap="square" lIns="0" tIns="0" rIns="0" bIns="0" rtlCol="0" anchor="ctr"/>
          <a:lstStyle/>
          <a:p>
            <a:pPr algn="l" indent="0" marL="0">
              <a:buNone/>
            </a:pPr>
            <a:r>
              <a:rPr lang="ja-JP" altLang="en-US" sz="1100" dirty="0">
                <a:solidFill>
                  <a:srgbClr val="D5DBE3"/>
                </a:solidFill>
                <a:latin typeface="Yu Gothic Medium" pitchFamily="34" charset="0"/>
                <a:ea typeface="Yu Gothic Medium" charset="-128"/>
                <a:cs typeface="Yu Gothic Medium" pitchFamily="34" charset="-120"/>
              </a:rPr>
              <a:t>グループ売上（暫定）</a:t>
            </a:r>
            <a:endParaRPr lang="ja-JP" sz="1100" dirty="0"/>
          </a:p>
        </p:txBody>
      </p:sp>
      <p:sp>
        <p:nvSpPr>
          <p:cNvPr id="67" name="Text 64"/>
          <p:cNvSpPr txBox="1"/>
          <p:nvPr/>
        </p:nvSpPr>
        <p:spPr>
          <a:xfrm>
            <a:off x="9826142" y="5047488"/>
            <a:ext cx="1737360" cy="457200"/>
          </a:xfrm>
          <a:prstGeom prst="rect">
            <a:avLst/>
          </a:prstGeom>
          <a:noFill/>
          <a:ln/>
        </p:spPr>
        <p:txBody>
          <a:bodyPr wrap="square" lIns="0" tIns="0" rIns="0" bIns="0" rtlCol="0" anchor="ctr"/>
          <a:lstStyle/>
          <a:p>
            <a:pPr algn="l" indent="0" marL="0">
              <a:buNone/>
            </a:pPr>
            <a:r>
              <a:rPr lang="en-US" altLang="en-US" sz="2600" b="1" dirty="0">
                <a:solidFill>
                  <a:srgbClr val="FFFFFF"/>
                </a:solidFill>
                <a:latin typeface="Cambria" pitchFamily="34" charset="0"/>
                <a:ea typeface="Cambria" charset="-128"/>
                <a:cs typeface="Cambria" pitchFamily="34" charset="-120"/>
              </a:rPr>
              <a:t>30</a:t>
            </a:r>
            <a:pPr algn="l" indent="0" marL="0">
              <a:buNone/>
            </a:pPr>
            <a:r>
              <a:rPr lang="ja-JP" altLang="en-US" sz="1400" b="1" dirty="0">
                <a:solidFill>
                  <a:srgbClr val="FFFFFF"/>
                </a:solidFill>
                <a:latin typeface="Yu Gothic" pitchFamily="34" charset="0"/>
                <a:ea typeface="Yu Gothic" charset="-128"/>
                <a:cs typeface="Yu Gothic" pitchFamily="34" charset="-120"/>
              </a:rPr>
              <a:t>億円</a:t>
            </a:r>
            <a:endParaRPr lang="ja-JP" sz="1400" dirty="0"/>
          </a:p>
        </p:txBody>
      </p:sp>
      <p:sp>
        <p:nvSpPr>
          <p:cNvPr id="68" name="Text 65"/>
          <p:cNvSpPr txBox="1"/>
          <p:nvPr/>
        </p:nvSpPr>
        <p:spPr>
          <a:xfrm>
            <a:off x="9826142" y="5504688"/>
            <a:ext cx="1737360" cy="219456"/>
          </a:xfrm>
          <a:prstGeom prst="rect">
            <a:avLst/>
          </a:prstGeom>
          <a:noFill/>
          <a:ln/>
        </p:spPr>
        <p:txBody>
          <a:bodyPr wrap="square" lIns="0" tIns="0" rIns="0" bIns="0" rtlCol="0" anchor="ctr"/>
          <a:lstStyle/>
          <a:p>
            <a:pPr algn="l" indent="0" marL="0">
              <a:buNone/>
            </a:pPr>
            <a:r>
              <a:rPr lang="ja-JP" altLang="en-US" sz="1000" dirty="0">
                <a:solidFill>
                  <a:srgbClr val="A7B0BE"/>
                </a:solidFill>
                <a:latin typeface="Yu Gothic Medium" pitchFamily="34" charset="0"/>
                <a:ea typeface="Yu Gothic Medium" charset="-128"/>
                <a:cs typeface="Yu Gothic Medium" pitchFamily="34" charset="-120"/>
              </a:rPr>
              <a:t>詳細 P.14</a:t>
            </a:r>
            <a:endParaRPr lang="ja-JP"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09</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FIRST 18 MONTHS</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FFFFFF"/>
                </a:solidFill>
                <a:latin typeface="Yu Gothic" pitchFamily="34" charset="0"/>
                <a:ea typeface="Yu Gothic" charset="-128"/>
                <a:cs typeface="Yu Gothic" pitchFamily="34" charset="-120"/>
              </a:rPr>
              <a:t>最初の18か月は「次の会社を買える企業になる18か月」。</a:t>
            </a:r>
            <a:endParaRPr lang="ja-JP" sz="2600" dirty="0"/>
          </a:p>
        </p:txBody>
      </p:sp>
      <p:sp>
        <p:nvSpPr>
          <p:cNvPr id="4" name="Shape 2"/>
          <p:cNvSpPr/>
          <p:nvPr/>
        </p:nvSpPr>
        <p:spPr>
          <a:xfrm>
            <a:off x="8880856" y="585216"/>
            <a:ext cx="436880" cy="0"/>
          </a:xfrm>
          <a:prstGeom prst="line">
            <a:avLst/>
          </a:prstGeom>
          <a:noFill/>
          <a:ln w="19050">
            <a:solidFill>
              <a:srgbClr val="C9A96E"/>
            </a:solidFill>
            <a:prstDash val="solid"/>
          </a:ln>
        </p:spPr>
      </p:sp>
      <p:sp>
        <p:nvSpPr>
          <p:cNvPr id="5" name="Shape 3"/>
          <p:cNvSpPr/>
          <p:nvPr/>
        </p:nvSpPr>
        <p:spPr>
          <a:xfrm>
            <a:off x="9878771" y="585216"/>
            <a:ext cx="444805" cy="0"/>
          </a:xfrm>
          <a:prstGeom prst="line">
            <a:avLst/>
          </a:prstGeom>
          <a:noFill/>
          <a:ln w="12700">
            <a:solidFill>
              <a:srgbClr val="2E4468"/>
            </a:solidFill>
            <a:prstDash val="solid"/>
          </a:ln>
        </p:spPr>
      </p:sp>
      <p:sp>
        <p:nvSpPr>
          <p:cNvPr id="6" name="Shape 4"/>
          <p:cNvSpPr/>
          <p:nvPr/>
        </p:nvSpPr>
        <p:spPr>
          <a:xfrm>
            <a:off x="10884611" y="585216"/>
            <a:ext cx="353365" cy="0"/>
          </a:xfrm>
          <a:prstGeom prst="line">
            <a:avLst/>
          </a:prstGeom>
          <a:noFill/>
          <a:ln w="12700">
            <a:solidFill>
              <a:srgbClr val="2E4468"/>
            </a:solidFill>
            <a:prstDash val="sysDash"/>
          </a:ln>
        </p:spPr>
      </p:sp>
      <p:sp>
        <p:nvSpPr>
          <p:cNvPr id="7" name="Shape 5"/>
          <p:cNvSpPr/>
          <p:nvPr/>
        </p:nvSpPr>
        <p:spPr>
          <a:xfrm>
            <a:off x="8348472" y="539496"/>
            <a:ext cx="91440" cy="91440"/>
          </a:xfrm>
          <a:prstGeom prst="ellipse">
            <a:avLst/>
          </a:prstGeom>
          <a:solidFill>
            <a:srgbClr val="C9A96E"/>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9A96E"/>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6F829C"/>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6F829C"/>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09</a:t>
            </a:r>
            <a:endParaRPr lang="en-US" sz="1000" dirty="0"/>
          </a:p>
        </p:txBody>
      </p:sp>
      <p:sp>
        <p:nvSpPr>
          <p:cNvPr id="18" name="Text 15"/>
          <p:cNvSpPr txBox="1"/>
          <p:nvPr/>
        </p:nvSpPr>
        <p:spPr>
          <a:xfrm>
            <a:off x="548640" y="1700784"/>
            <a:ext cx="5303520" cy="969264"/>
          </a:xfrm>
          <a:prstGeom prst="rect">
            <a:avLst/>
          </a:prstGeom>
          <a:noFill/>
          <a:ln/>
        </p:spPr>
        <p:txBody>
          <a:bodyPr wrap="square" lIns="0" tIns="0" rIns="0" bIns="0" rtlCol="0" anchor="ctr"/>
          <a:lstStyle/>
          <a:p>
            <a:pPr algn="l" indent="0" marL="0">
              <a:buNone/>
            </a:pPr>
            <a:r>
              <a:rPr lang="en-US" altLang="en-US" sz="6000" b="1" dirty="0">
                <a:solidFill>
                  <a:srgbClr val="C9A96E"/>
                </a:solidFill>
                <a:latin typeface="Cambria" pitchFamily="34" charset="0"/>
                <a:ea typeface="Cambria" charset="-128"/>
                <a:cs typeface="Cambria" pitchFamily="34" charset="-120"/>
              </a:rPr>
              <a:t>2028</a:t>
            </a:r>
            <a:pPr algn="l" indent="0" marL="0">
              <a:buNone/>
            </a:pPr>
            <a:r>
              <a:rPr lang="ja-JP" altLang="en-US" sz="3400" dirty="0">
                <a:solidFill>
                  <a:srgbClr val="C9A96E"/>
                </a:solidFill>
                <a:latin typeface="Yu Mincho" pitchFamily="34" charset="0"/>
                <a:ea typeface="Yu Mincho" charset="-128"/>
                <a:cs typeface="Yu Mincho" pitchFamily="34" charset="-120"/>
              </a:rPr>
              <a:t>年3月</a:t>
            </a:r>
            <a:endParaRPr lang="ja-JP" sz="1400" dirty="0"/>
          </a:p>
        </p:txBody>
      </p:sp>
      <p:sp>
        <p:nvSpPr>
          <p:cNvPr id="19" name="Text 16"/>
          <p:cNvSpPr txBox="1"/>
          <p:nvPr/>
        </p:nvSpPr>
        <p:spPr>
          <a:xfrm>
            <a:off x="548640" y="2633472"/>
            <a:ext cx="5303520" cy="685800"/>
          </a:xfrm>
          <a:prstGeom prst="rect">
            <a:avLst/>
          </a:prstGeom>
          <a:noFill/>
          <a:ln/>
        </p:spPr>
        <p:txBody>
          <a:bodyPr wrap="square" lIns="0" tIns="0" rIns="0" bIns="0" rtlCol="0" anchor="ctr"/>
          <a:lstStyle/>
          <a:p>
            <a:pPr algn="l" indent="0" marL="0">
              <a:buNone/>
            </a:pPr>
            <a:r>
              <a:rPr lang="ja-JP" altLang="en-US" sz="4000" dirty="0">
                <a:solidFill>
                  <a:srgbClr val="FFFFFF"/>
                </a:solidFill>
                <a:latin typeface="Yu Mincho" pitchFamily="34" charset="0"/>
                <a:ea typeface="Yu Mincho" charset="-128"/>
                <a:cs typeface="Yu Mincho" pitchFamily="34" charset="-120"/>
              </a:rPr>
              <a:t>親会社設立</a:t>
            </a:r>
            <a:endParaRPr lang="ja-JP" sz="4000" dirty="0"/>
          </a:p>
        </p:txBody>
      </p:sp>
      <p:sp>
        <p:nvSpPr>
          <p:cNvPr id="20" name="Text 17"/>
          <p:cNvSpPr txBox="1"/>
          <p:nvPr/>
        </p:nvSpPr>
        <p:spPr>
          <a:xfrm>
            <a:off x="6309360" y="1783080"/>
            <a:ext cx="2743200" cy="256032"/>
          </a:xfrm>
          <a:prstGeom prst="rect">
            <a:avLst/>
          </a:prstGeom>
          <a:noFill/>
          <a:ln/>
        </p:spPr>
        <p:txBody>
          <a:bodyPr wrap="square" lIns="0" tIns="0" rIns="0" bIns="0" rtlCol="0" anchor="ctr"/>
          <a:lstStyle/>
          <a:p>
            <a:pPr algn="l" indent="0" marL="0">
              <a:buNone/>
            </a:pPr>
            <a:r>
              <a:rPr lang="en-US" altLang="en-US" sz="1200" b="1" spc="300" kern="0" dirty="0">
                <a:solidFill>
                  <a:srgbClr val="C9A96E"/>
                </a:solidFill>
                <a:latin typeface="Arial" pitchFamily="34" charset="0"/>
                <a:ea typeface="Arial" charset="-128"/>
                <a:cs typeface="Arial" pitchFamily="34" charset="-120"/>
              </a:rPr>
              <a:t>18 MONTHS</a:t>
            </a:r>
            <a:endParaRPr lang="en-US" sz="1200" dirty="0"/>
          </a:p>
        </p:txBody>
      </p:sp>
      <p:sp>
        <p:nvSpPr>
          <p:cNvPr id="21" name="Shape 18"/>
          <p:cNvSpPr/>
          <p:nvPr/>
        </p:nvSpPr>
        <p:spPr>
          <a:xfrm>
            <a:off x="6400800" y="2514600"/>
            <a:ext cx="5029200" cy="0"/>
          </a:xfrm>
          <a:prstGeom prst="line">
            <a:avLst/>
          </a:prstGeom>
          <a:noFill/>
          <a:ln w="19050">
            <a:solidFill>
              <a:srgbClr val="C9A96E"/>
            </a:solidFill>
            <a:prstDash val="solid"/>
          </a:ln>
        </p:spPr>
      </p:sp>
      <p:sp>
        <p:nvSpPr>
          <p:cNvPr id="22" name="Shape 19"/>
          <p:cNvSpPr/>
          <p:nvPr/>
        </p:nvSpPr>
        <p:spPr>
          <a:xfrm>
            <a:off x="6400800" y="2395728"/>
            <a:ext cx="0" cy="237744"/>
          </a:xfrm>
          <a:prstGeom prst="line">
            <a:avLst/>
          </a:prstGeom>
          <a:noFill/>
          <a:ln w="15875">
            <a:solidFill>
              <a:srgbClr val="C9A96E"/>
            </a:solidFill>
            <a:prstDash val="solid"/>
          </a:ln>
        </p:spPr>
      </p:sp>
      <p:sp>
        <p:nvSpPr>
          <p:cNvPr id="23" name="Shape 20"/>
          <p:cNvSpPr/>
          <p:nvPr/>
        </p:nvSpPr>
        <p:spPr>
          <a:xfrm>
            <a:off x="6680200" y="2459736"/>
            <a:ext cx="0" cy="109728"/>
          </a:xfrm>
          <a:prstGeom prst="line">
            <a:avLst/>
          </a:prstGeom>
          <a:noFill/>
          <a:ln w="9525">
            <a:solidFill>
              <a:srgbClr val="A7B0BE"/>
            </a:solidFill>
            <a:prstDash val="solid"/>
          </a:ln>
        </p:spPr>
      </p:sp>
      <p:sp>
        <p:nvSpPr>
          <p:cNvPr id="24" name="Shape 21"/>
          <p:cNvSpPr/>
          <p:nvPr/>
        </p:nvSpPr>
        <p:spPr>
          <a:xfrm>
            <a:off x="6959600" y="2459736"/>
            <a:ext cx="0" cy="109728"/>
          </a:xfrm>
          <a:prstGeom prst="line">
            <a:avLst/>
          </a:prstGeom>
          <a:noFill/>
          <a:ln w="9525">
            <a:solidFill>
              <a:srgbClr val="A7B0BE"/>
            </a:solidFill>
            <a:prstDash val="solid"/>
          </a:ln>
        </p:spPr>
      </p:sp>
      <p:sp>
        <p:nvSpPr>
          <p:cNvPr id="25" name="Shape 22"/>
          <p:cNvSpPr/>
          <p:nvPr/>
        </p:nvSpPr>
        <p:spPr>
          <a:xfrm>
            <a:off x="7239000" y="2459736"/>
            <a:ext cx="0" cy="109728"/>
          </a:xfrm>
          <a:prstGeom prst="line">
            <a:avLst/>
          </a:prstGeom>
          <a:noFill/>
          <a:ln w="9525">
            <a:solidFill>
              <a:srgbClr val="A7B0BE"/>
            </a:solidFill>
            <a:prstDash val="solid"/>
          </a:ln>
        </p:spPr>
      </p:sp>
      <p:sp>
        <p:nvSpPr>
          <p:cNvPr id="26" name="Shape 23"/>
          <p:cNvSpPr/>
          <p:nvPr/>
        </p:nvSpPr>
        <p:spPr>
          <a:xfrm>
            <a:off x="7518400" y="2459736"/>
            <a:ext cx="0" cy="109728"/>
          </a:xfrm>
          <a:prstGeom prst="line">
            <a:avLst/>
          </a:prstGeom>
          <a:noFill/>
          <a:ln w="9525">
            <a:solidFill>
              <a:srgbClr val="A7B0BE"/>
            </a:solidFill>
            <a:prstDash val="solid"/>
          </a:ln>
        </p:spPr>
      </p:sp>
      <p:sp>
        <p:nvSpPr>
          <p:cNvPr id="27" name="Shape 24"/>
          <p:cNvSpPr/>
          <p:nvPr/>
        </p:nvSpPr>
        <p:spPr>
          <a:xfrm>
            <a:off x="7797800" y="2459736"/>
            <a:ext cx="0" cy="109728"/>
          </a:xfrm>
          <a:prstGeom prst="line">
            <a:avLst/>
          </a:prstGeom>
          <a:noFill/>
          <a:ln w="9525">
            <a:solidFill>
              <a:srgbClr val="A7B0BE"/>
            </a:solidFill>
            <a:prstDash val="solid"/>
          </a:ln>
        </p:spPr>
      </p:sp>
      <p:sp>
        <p:nvSpPr>
          <p:cNvPr id="28" name="Shape 25"/>
          <p:cNvSpPr/>
          <p:nvPr/>
        </p:nvSpPr>
        <p:spPr>
          <a:xfrm>
            <a:off x="8077200" y="2459736"/>
            <a:ext cx="0" cy="109728"/>
          </a:xfrm>
          <a:prstGeom prst="line">
            <a:avLst/>
          </a:prstGeom>
          <a:noFill/>
          <a:ln w="9525">
            <a:solidFill>
              <a:srgbClr val="A7B0BE"/>
            </a:solidFill>
            <a:prstDash val="solid"/>
          </a:ln>
        </p:spPr>
      </p:sp>
      <p:sp>
        <p:nvSpPr>
          <p:cNvPr id="29" name="Shape 26"/>
          <p:cNvSpPr/>
          <p:nvPr/>
        </p:nvSpPr>
        <p:spPr>
          <a:xfrm>
            <a:off x="8356600" y="2459736"/>
            <a:ext cx="0" cy="109728"/>
          </a:xfrm>
          <a:prstGeom prst="line">
            <a:avLst/>
          </a:prstGeom>
          <a:noFill/>
          <a:ln w="9525">
            <a:solidFill>
              <a:srgbClr val="A7B0BE"/>
            </a:solidFill>
            <a:prstDash val="solid"/>
          </a:ln>
        </p:spPr>
      </p:sp>
      <p:sp>
        <p:nvSpPr>
          <p:cNvPr id="30" name="Shape 27"/>
          <p:cNvSpPr/>
          <p:nvPr/>
        </p:nvSpPr>
        <p:spPr>
          <a:xfrm>
            <a:off x="8636000" y="2459736"/>
            <a:ext cx="0" cy="109728"/>
          </a:xfrm>
          <a:prstGeom prst="line">
            <a:avLst/>
          </a:prstGeom>
          <a:noFill/>
          <a:ln w="9525">
            <a:solidFill>
              <a:srgbClr val="A7B0BE"/>
            </a:solidFill>
            <a:prstDash val="solid"/>
          </a:ln>
        </p:spPr>
      </p:sp>
      <p:sp>
        <p:nvSpPr>
          <p:cNvPr id="31" name="Shape 28"/>
          <p:cNvSpPr/>
          <p:nvPr/>
        </p:nvSpPr>
        <p:spPr>
          <a:xfrm>
            <a:off x="8915400" y="2459736"/>
            <a:ext cx="0" cy="109728"/>
          </a:xfrm>
          <a:prstGeom prst="line">
            <a:avLst/>
          </a:prstGeom>
          <a:noFill/>
          <a:ln w="9525">
            <a:solidFill>
              <a:srgbClr val="A7B0BE"/>
            </a:solidFill>
            <a:prstDash val="solid"/>
          </a:ln>
        </p:spPr>
      </p:sp>
      <p:sp>
        <p:nvSpPr>
          <p:cNvPr id="32" name="Shape 29"/>
          <p:cNvSpPr/>
          <p:nvPr/>
        </p:nvSpPr>
        <p:spPr>
          <a:xfrm>
            <a:off x="9194800" y="2459736"/>
            <a:ext cx="0" cy="109728"/>
          </a:xfrm>
          <a:prstGeom prst="line">
            <a:avLst/>
          </a:prstGeom>
          <a:noFill/>
          <a:ln w="9525">
            <a:solidFill>
              <a:srgbClr val="A7B0BE"/>
            </a:solidFill>
            <a:prstDash val="solid"/>
          </a:ln>
        </p:spPr>
      </p:sp>
      <p:sp>
        <p:nvSpPr>
          <p:cNvPr id="33" name="Shape 30"/>
          <p:cNvSpPr/>
          <p:nvPr/>
        </p:nvSpPr>
        <p:spPr>
          <a:xfrm>
            <a:off x="9474200" y="2459736"/>
            <a:ext cx="0" cy="109728"/>
          </a:xfrm>
          <a:prstGeom prst="line">
            <a:avLst/>
          </a:prstGeom>
          <a:noFill/>
          <a:ln w="9525">
            <a:solidFill>
              <a:srgbClr val="A7B0BE"/>
            </a:solidFill>
            <a:prstDash val="solid"/>
          </a:ln>
        </p:spPr>
      </p:sp>
      <p:sp>
        <p:nvSpPr>
          <p:cNvPr id="34" name="Shape 31"/>
          <p:cNvSpPr/>
          <p:nvPr/>
        </p:nvSpPr>
        <p:spPr>
          <a:xfrm>
            <a:off x="9753600" y="2395728"/>
            <a:ext cx="0" cy="237744"/>
          </a:xfrm>
          <a:prstGeom prst="line">
            <a:avLst/>
          </a:prstGeom>
          <a:noFill/>
          <a:ln w="15875">
            <a:solidFill>
              <a:srgbClr val="C9A96E"/>
            </a:solidFill>
            <a:prstDash val="solid"/>
          </a:ln>
        </p:spPr>
      </p:sp>
      <p:sp>
        <p:nvSpPr>
          <p:cNvPr id="35" name="Shape 32"/>
          <p:cNvSpPr/>
          <p:nvPr/>
        </p:nvSpPr>
        <p:spPr>
          <a:xfrm>
            <a:off x="10033000" y="2459736"/>
            <a:ext cx="0" cy="109728"/>
          </a:xfrm>
          <a:prstGeom prst="line">
            <a:avLst/>
          </a:prstGeom>
          <a:noFill/>
          <a:ln w="9525">
            <a:solidFill>
              <a:srgbClr val="A7B0BE"/>
            </a:solidFill>
            <a:prstDash val="solid"/>
          </a:ln>
        </p:spPr>
      </p:sp>
      <p:sp>
        <p:nvSpPr>
          <p:cNvPr id="36" name="Shape 33"/>
          <p:cNvSpPr/>
          <p:nvPr/>
        </p:nvSpPr>
        <p:spPr>
          <a:xfrm>
            <a:off x="10312400" y="2459736"/>
            <a:ext cx="0" cy="109728"/>
          </a:xfrm>
          <a:prstGeom prst="line">
            <a:avLst/>
          </a:prstGeom>
          <a:noFill/>
          <a:ln w="9525">
            <a:solidFill>
              <a:srgbClr val="A7B0BE"/>
            </a:solidFill>
            <a:prstDash val="solid"/>
          </a:ln>
        </p:spPr>
      </p:sp>
      <p:sp>
        <p:nvSpPr>
          <p:cNvPr id="37" name="Shape 34"/>
          <p:cNvSpPr/>
          <p:nvPr/>
        </p:nvSpPr>
        <p:spPr>
          <a:xfrm>
            <a:off x="10591800" y="2459736"/>
            <a:ext cx="0" cy="109728"/>
          </a:xfrm>
          <a:prstGeom prst="line">
            <a:avLst/>
          </a:prstGeom>
          <a:noFill/>
          <a:ln w="9525">
            <a:solidFill>
              <a:srgbClr val="A7B0BE"/>
            </a:solidFill>
            <a:prstDash val="solid"/>
          </a:ln>
        </p:spPr>
      </p:sp>
      <p:sp>
        <p:nvSpPr>
          <p:cNvPr id="38" name="Shape 35"/>
          <p:cNvSpPr/>
          <p:nvPr/>
        </p:nvSpPr>
        <p:spPr>
          <a:xfrm>
            <a:off x="10871200" y="2459736"/>
            <a:ext cx="0" cy="109728"/>
          </a:xfrm>
          <a:prstGeom prst="line">
            <a:avLst/>
          </a:prstGeom>
          <a:noFill/>
          <a:ln w="9525">
            <a:solidFill>
              <a:srgbClr val="A7B0BE"/>
            </a:solidFill>
            <a:prstDash val="solid"/>
          </a:ln>
        </p:spPr>
      </p:sp>
      <p:sp>
        <p:nvSpPr>
          <p:cNvPr id="39" name="Shape 36"/>
          <p:cNvSpPr/>
          <p:nvPr/>
        </p:nvSpPr>
        <p:spPr>
          <a:xfrm>
            <a:off x="11150600" y="2459736"/>
            <a:ext cx="0" cy="109728"/>
          </a:xfrm>
          <a:prstGeom prst="line">
            <a:avLst/>
          </a:prstGeom>
          <a:noFill/>
          <a:ln w="9525">
            <a:solidFill>
              <a:srgbClr val="A7B0BE"/>
            </a:solidFill>
            <a:prstDash val="solid"/>
          </a:ln>
        </p:spPr>
      </p:sp>
      <p:sp>
        <p:nvSpPr>
          <p:cNvPr id="40" name="Shape 37"/>
          <p:cNvSpPr/>
          <p:nvPr/>
        </p:nvSpPr>
        <p:spPr>
          <a:xfrm>
            <a:off x="6327648" y="2441448"/>
            <a:ext cx="146304" cy="146304"/>
          </a:xfrm>
          <a:prstGeom prst="ellipse">
            <a:avLst/>
          </a:prstGeom>
          <a:solidFill>
            <a:srgbClr val="C9A96E"/>
          </a:solidFill>
          <a:ln/>
        </p:spPr>
      </p:sp>
      <p:sp>
        <p:nvSpPr>
          <p:cNvPr id="41" name="Shape 38"/>
          <p:cNvSpPr/>
          <p:nvPr/>
        </p:nvSpPr>
        <p:spPr>
          <a:xfrm>
            <a:off x="11292840" y="2377440"/>
            <a:ext cx="274320" cy="274320"/>
          </a:xfrm>
          <a:prstGeom prst="diamond">
            <a:avLst/>
          </a:prstGeom>
          <a:solidFill>
            <a:srgbClr val="C9A96E"/>
          </a:solidFill>
          <a:ln/>
        </p:spPr>
      </p:sp>
      <p:sp>
        <p:nvSpPr>
          <p:cNvPr id="42" name="Text 39"/>
          <p:cNvSpPr txBox="1"/>
          <p:nvPr/>
        </p:nvSpPr>
        <p:spPr>
          <a:xfrm>
            <a:off x="6309360" y="2724912"/>
            <a:ext cx="1097280" cy="237744"/>
          </a:xfrm>
          <a:prstGeom prst="rect">
            <a:avLst/>
          </a:prstGeom>
          <a:noFill/>
          <a:ln/>
        </p:spPr>
        <p:txBody>
          <a:bodyPr wrap="square" lIns="0" tIns="0" rIns="0" bIns="0" rtlCol="0" anchor="ctr"/>
          <a:lstStyle/>
          <a:p>
            <a:pPr algn="l" indent="0" marL="0">
              <a:buNone/>
            </a:pPr>
            <a:r>
              <a:rPr lang="en-US" altLang="en-US" sz="1100" dirty="0">
                <a:solidFill>
                  <a:srgbClr val="A7B0BE"/>
                </a:solidFill>
                <a:latin typeface="Arial" pitchFamily="34" charset="0"/>
                <a:ea typeface="Arial" charset="-128"/>
                <a:cs typeface="Arial" pitchFamily="34" charset="-120"/>
              </a:rPr>
              <a:t>2026.10</a:t>
            </a:r>
            <a:endParaRPr lang="en-US" sz="1100" dirty="0"/>
          </a:p>
        </p:txBody>
      </p:sp>
      <p:sp>
        <p:nvSpPr>
          <p:cNvPr id="43" name="Text 40"/>
          <p:cNvSpPr txBox="1"/>
          <p:nvPr/>
        </p:nvSpPr>
        <p:spPr>
          <a:xfrm>
            <a:off x="6309360" y="2944368"/>
            <a:ext cx="1280160" cy="237744"/>
          </a:xfrm>
          <a:prstGeom prst="rect">
            <a:avLst/>
          </a:prstGeom>
          <a:noFill/>
          <a:ln/>
        </p:spPr>
        <p:txBody>
          <a:bodyPr wrap="square" lIns="0" tIns="0" rIns="0" bIns="0" rtlCol="0" anchor="ctr"/>
          <a:lstStyle/>
          <a:p>
            <a:pPr algn="l" indent="0" marL="0">
              <a:buNone/>
            </a:pPr>
            <a:r>
              <a:rPr lang="ja-JP" altLang="en-US" sz="1100" dirty="0">
                <a:solidFill>
                  <a:srgbClr val="A7B0BE"/>
                </a:solidFill>
                <a:latin typeface="Yu Gothic Medium" pitchFamily="34" charset="0"/>
                <a:ea typeface="Yu Gothic Medium" charset="-128"/>
                <a:cs typeface="Yu Gothic Medium" pitchFamily="34" charset="-120"/>
              </a:rPr>
              <a:t>YEAR 1 開始</a:t>
            </a:r>
            <a:endParaRPr lang="ja-JP" sz="1100" dirty="0"/>
          </a:p>
        </p:txBody>
      </p:sp>
      <p:sp>
        <p:nvSpPr>
          <p:cNvPr id="44" name="Text 41"/>
          <p:cNvSpPr txBox="1"/>
          <p:nvPr/>
        </p:nvSpPr>
        <p:spPr>
          <a:xfrm>
            <a:off x="9204960" y="2724912"/>
            <a:ext cx="1097280" cy="237744"/>
          </a:xfrm>
          <a:prstGeom prst="rect">
            <a:avLst/>
          </a:prstGeom>
          <a:noFill/>
          <a:ln/>
        </p:spPr>
        <p:txBody>
          <a:bodyPr wrap="square" lIns="0" tIns="0" rIns="0" bIns="0" rtlCol="0" anchor="ctr"/>
          <a:lstStyle/>
          <a:p>
            <a:pPr algn="ctr" indent="0" marL="0">
              <a:buNone/>
            </a:pPr>
            <a:r>
              <a:rPr lang="en-US" altLang="en-US" sz="1100" dirty="0">
                <a:solidFill>
                  <a:srgbClr val="A7B0BE"/>
                </a:solidFill>
                <a:latin typeface="Arial" pitchFamily="34" charset="0"/>
                <a:ea typeface="Arial" charset="-128"/>
                <a:cs typeface="Arial" pitchFamily="34" charset="-120"/>
              </a:rPr>
              <a:t>2027.9</a:t>
            </a:r>
            <a:endParaRPr lang="en-US" sz="1100" dirty="0"/>
          </a:p>
        </p:txBody>
      </p:sp>
      <p:sp>
        <p:nvSpPr>
          <p:cNvPr id="45" name="Text 42"/>
          <p:cNvSpPr txBox="1"/>
          <p:nvPr/>
        </p:nvSpPr>
        <p:spPr>
          <a:xfrm>
            <a:off x="9113520" y="2944368"/>
            <a:ext cx="1280160" cy="237744"/>
          </a:xfrm>
          <a:prstGeom prst="rect">
            <a:avLst/>
          </a:prstGeom>
          <a:noFill/>
          <a:ln/>
        </p:spPr>
        <p:txBody>
          <a:bodyPr wrap="square" lIns="0" tIns="0" rIns="0" bIns="0" rtlCol="0" anchor="ctr"/>
          <a:lstStyle/>
          <a:p>
            <a:pPr algn="ctr" indent="0" marL="0">
              <a:buNone/>
            </a:pPr>
            <a:r>
              <a:rPr lang="ja-JP" altLang="en-US" sz="1100" dirty="0">
                <a:solidFill>
                  <a:srgbClr val="A7B0BE"/>
                </a:solidFill>
                <a:latin typeface="Yu Gothic Medium" pitchFamily="34" charset="0"/>
                <a:ea typeface="Yu Gothic Medium" charset="-128"/>
                <a:cs typeface="Yu Gothic Medium" pitchFamily="34" charset="-120"/>
              </a:rPr>
              <a:t>YEAR 1 終了</a:t>
            </a:r>
            <a:endParaRPr lang="ja-JP" sz="1100" dirty="0"/>
          </a:p>
        </p:txBody>
      </p:sp>
      <p:sp>
        <p:nvSpPr>
          <p:cNvPr id="46" name="Text 43"/>
          <p:cNvSpPr txBox="1"/>
          <p:nvPr/>
        </p:nvSpPr>
        <p:spPr>
          <a:xfrm>
            <a:off x="10543032" y="2724912"/>
            <a:ext cx="1097280" cy="237744"/>
          </a:xfrm>
          <a:prstGeom prst="rect">
            <a:avLst/>
          </a:prstGeom>
          <a:noFill/>
          <a:ln/>
        </p:spPr>
        <p:txBody>
          <a:bodyPr wrap="square" lIns="0" tIns="0" rIns="0" bIns="0" rtlCol="0" anchor="ctr"/>
          <a:lstStyle/>
          <a:p>
            <a:pPr algn="r" indent="0" marL="0">
              <a:buNone/>
            </a:pPr>
            <a:r>
              <a:rPr lang="en-US" altLang="en-US" sz="1100" b="1" dirty="0">
                <a:solidFill>
                  <a:srgbClr val="C9A96E"/>
                </a:solidFill>
                <a:latin typeface="Arial" pitchFamily="34" charset="0"/>
                <a:ea typeface="Arial" charset="-128"/>
                <a:cs typeface="Arial" pitchFamily="34" charset="-120"/>
              </a:rPr>
              <a:t>2028.3</a:t>
            </a:r>
            <a:endParaRPr lang="en-US" sz="1100" dirty="0"/>
          </a:p>
        </p:txBody>
      </p:sp>
      <p:sp>
        <p:nvSpPr>
          <p:cNvPr id="47" name="Text 44"/>
          <p:cNvSpPr txBox="1"/>
          <p:nvPr/>
        </p:nvSpPr>
        <p:spPr>
          <a:xfrm>
            <a:off x="10360152" y="2944368"/>
            <a:ext cx="1280160" cy="237744"/>
          </a:xfrm>
          <a:prstGeom prst="rect">
            <a:avLst/>
          </a:prstGeom>
          <a:noFill/>
          <a:ln/>
        </p:spPr>
        <p:txBody>
          <a:bodyPr wrap="square" lIns="0" tIns="0" rIns="0" bIns="0" rtlCol="0" anchor="ctr"/>
          <a:lstStyle/>
          <a:p>
            <a:pPr algn="r" indent="0" marL="0">
              <a:buNone/>
            </a:pPr>
            <a:r>
              <a:rPr lang="ja-JP" altLang="en-US" sz="1100" b="1" dirty="0">
                <a:solidFill>
                  <a:srgbClr val="C9A96E"/>
                </a:solidFill>
                <a:latin typeface="Yu Gothic" pitchFamily="34" charset="0"/>
                <a:ea typeface="Yu Gothic" charset="-128"/>
                <a:cs typeface="Yu Gothic" pitchFamily="34" charset="-120"/>
              </a:rPr>
              <a:t>親会社設立</a:t>
            </a:r>
            <a:endParaRPr lang="ja-JP" sz="1100" dirty="0"/>
          </a:p>
        </p:txBody>
      </p:sp>
      <p:sp>
        <p:nvSpPr>
          <p:cNvPr id="48" name="Shape 45"/>
          <p:cNvSpPr/>
          <p:nvPr/>
        </p:nvSpPr>
        <p:spPr>
          <a:xfrm>
            <a:off x="548640" y="3474720"/>
            <a:ext cx="2602382" cy="2468880"/>
          </a:xfrm>
          <a:prstGeom prst="rect">
            <a:avLst/>
          </a:prstGeom>
          <a:solidFill>
            <a:srgbClr val="13243F"/>
          </a:solidFill>
          <a:ln/>
        </p:spPr>
      </p:sp>
      <p:sp>
        <p:nvSpPr>
          <p:cNvPr id="49" name="Text 46"/>
          <p:cNvSpPr txBox="1"/>
          <p:nvPr/>
        </p:nvSpPr>
        <p:spPr>
          <a:xfrm>
            <a:off x="777240" y="3611880"/>
            <a:ext cx="1463040" cy="329184"/>
          </a:xfrm>
          <a:prstGeom prst="rect">
            <a:avLst/>
          </a:prstGeom>
          <a:noFill/>
          <a:ln/>
        </p:spPr>
        <p:txBody>
          <a:bodyPr wrap="square" lIns="0" tIns="0" rIns="0" bIns="0" rtlCol="0" anchor="ctr"/>
          <a:lstStyle/>
          <a:p>
            <a:pPr algn="l" indent="0" marL="0">
              <a:buNone/>
            </a:pPr>
            <a:r>
              <a:rPr lang="en-US" altLang="en-US" sz="1300" b="1" spc="200" kern="0" dirty="0">
                <a:solidFill>
                  <a:srgbClr val="C9A96E"/>
                </a:solidFill>
                <a:latin typeface="Arial" pitchFamily="34" charset="0"/>
                <a:ea typeface="Arial" charset="-128"/>
                <a:cs typeface="Arial" pitchFamily="34" charset="-120"/>
              </a:rPr>
              <a:t>MONEY</a:t>
            </a:r>
            <a:endParaRPr lang="en-US" sz="1300" dirty="0"/>
          </a:p>
        </p:txBody>
      </p:sp>
      <p:sp>
        <p:nvSpPr>
          <p:cNvPr id="50" name="Text 47"/>
          <p:cNvSpPr txBox="1"/>
          <p:nvPr/>
        </p:nvSpPr>
        <p:spPr>
          <a:xfrm>
            <a:off x="1691640" y="3611880"/>
            <a:ext cx="1234440" cy="329184"/>
          </a:xfrm>
          <a:prstGeom prst="rect">
            <a:avLst/>
          </a:prstGeom>
          <a:noFill/>
          <a:ln/>
        </p:spPr>
        <p:txBody>
          <a:bodyPr wrap="square" lIns="0" tIns="0" rIns="0" bIns="0" rtlCol="0" anchor="ctr"/>
          <a:lstStyle/>
          <a:p>
            <a:pPr algn="r" indent="0" marL="0">
              <a:buNone/>
            </a:pPr>
            <a:r>
              <a:rPr lang="ja-JP" altLang="en-US" sz="1800" b="1" dirty="0">
                <a:solidFill>
                  <a:srgbClr val="FFFFFF"/>
                </a:solidFill>
                <a:latin typeface="Yu Gothic" pitchFamily="34" charset="0"/>
                <a:ea typeface="Yu Gothic" charset="-128"/>
                <a:cs typeface="Yu Gothic" pitchFamily="34" charset="-120"/>
              </a:rPr>
              <a:t>金</a:t>
            </a:r>
            <a:endParaRPr lang="ja-JP" sz="1800" dirty="0"/>
          </a:p>
        </p:txBody>
      </p:sp>
      <p:sp>
        <p:nvSpPr>
          <p:cNvPr id="51" name="Shape 48"/>
          <p:cNvSpPr/>
          <p:nvPr/>
        </p:nvSpPr>
        <p:spPr>
          <a:xfrm>
            <a:off x="777240" y="4177792"/>
            <a:ext cx="54864" cy="54864"/>
          </a:xfrm>
          <a:prstGeom prst="ellipse">
            <a:avLst/>
          </a:prstGeom>
          <a:solidFill>
            <a:srgbClr val="C9A96E"/>
          </a:solidFill>
          <a:ln/>
        </p:spPr>
      </p:sp>
      <p:sp>
        <p:nvSpPr>
          <p:cNvPr id="52" name="Text 49"/>
          <p:cNvSpPr txBox="1"/>
          <p:nvPr/>
        </p:nvSpPr>
        <p:spPr>
          <a:xfrm>
            <a:off x="960120" y="4078224"/>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利益</a:t>
            </a:r>
            <a:endParaRPr lang="ja-JP" sz="1300" dirty="0"/>
          </a:p>
        </p:txBody>
      </p:sp>
      <p:sp>
        <p:nvSpPr>
          <p:cNvPr id="53" name="Shape 50"/>
          <p:cNvSpPr/>
          <p:nvPr/>
        </p:nvSpPr>
        <p:spPr>
          <a:xfrm>
            <a:off x="777240" y="4450080"/>
            <a:ext cx="54864" cy="54864"/>
          </a:xfrm>
          <a:prstGeom prst="ellipse">
            <a:avLst/>
          </a:prstGeom>
          <a:solidFill>
            <a:srgbClr val="C9A96E"/>
          </a:solidFill>
          <a:ln/>
        </p:spPr>
      </p:sp>
      <p:sp>
        <p:nvSpPr>
          <p:cNvPr id="54" name="Text 51"/>
          <p:cNvSpPr txBox="1"/>
          <p:nvPr/>
        </p:nvSpPr>
        <p:spPr>
          <a:xfrm>
            <a:off x="960120" y="4350512"/>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現預金</a:t>
            </a:r>
            <a:endParaRPr lang="ja-JP" sz="1300" dirty="0"/>
          </a:p>
        </p:txBody>
      </p:sp>
      <p:sp>
        <p:nvSpPr>
          <p:cNvPr id="55" name="Shape 52"/>
          <p:cNvSpPr/>
          <p:nvPr/>
        </p:nvSpPr>
        <p:spPr>
          <a:xfrm>
            <a:off x="777240" y="4722368"/>
            <a:ext cx="54864" cy="54864"/>
          </a:xfrm>
          <a:prstGeom prst="ellipse">
            <a:avLst/>
          </a:prstGeom>
          <a:solidFill>
            <a:srgbClr val="C9A96E"/>
          </a:solidFill>
          <a:ln/>
        </p:spPr>
      </p:sp>
      <p:sp>
        <p:nvSpPr>
          <p:cNvPr id="56" name="Text 53"/>
          <p:cNvSpPr txBox="1"/>
          <p:nvPr/>
        </p:nvSpPr>
        <p:spPr>
          <a:xfrm>
            <a:off x="960120" y="4622800"/>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営業CF</a:t>
            </a:r>
            <a:endParaRPr lang="ja-JP" sz="1300" dirty="0"/>
          </a:p>
        </p:txBody>
      </p:sp>
      <p:sp>
        <p:nvSpPr>
          <p:cNvPr id="57" name="Shape 54"/>
          <p:cNvSpPr/>
          <p:nvPr/>
        </p:nvSpPr>
        <p:spPr>
          <a:xfrm>
            <a:off x="777240" y="4994656"/>
            <a:ext cx="54864" cy="54864"/>
          </a:xfrm>
          <a:prstGeom prst="ellipse">
            <a:avLst/>
          </a:prstGeom>
          <a:solidFill>
            <a:srgbClr val="C9A96E"/>
          </a:solidFill>
          <a:ln/>
        </p:spPr>
      </p:sp>
      <p:sp>
        <p:nvSpPr>
          <p:cNvPr id="58" name="Text 55"/>
          <p:cNvSpPr txBox="1"/>
          <p:nvPr/>
        </p:nvSpPr>
        <p:spPr>
          <a:xfrm>
            <a:off x="960120" y="4895088"/>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金融機関信用</a:t>
            </a:r>
            <a:endParaRPr lang="ja-JP" sz="1300" dirty="0"/>
          </a:p>
        </p:txBody>
      </p:sp>
      <p:sp>
        <p:nvSpPr>
          <p:cNvPr id="59" name="Shape 56"/>
          <p:cNvSpPr/>
          <p:nvPr/>
        </p:nvSpPr>
        <p:spPr>
          <a:xfrm>
            <a:off x="777240" y="5266944"/>
            <a:ext cx="54864" cy="54864"/>
          </a:xfrm>
          <a:prstGeom prst="ellipse">
            <a:avLst/>
          </a:prstGeom>
          <a:solidFill>
            <a:srgbClr val="C9A96E"/>
          </a:solidFill>
          <a:ln/>
        </p:spPr>
      </p:sp>
      <p:sp>
        <p:nvSpPr>
          <p:cNvPr id="60" name="Text 57"/>
          <p:cNvSpPr txBox="1"/>
          <p:nvPr/>
        </p:nvSpPr>
        <p:spPr>
          <a:xfrm>
            <a:off x="960120" y="5167376"/>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借入余力</a:t>
            </a:r>
            <a:endParaRPr lang="ja-JP" sz="1300" dirty="0"/>
          </a:p>
        </p:txBody>
      </p:sp>
      <p:sp>
        <p:nvSpPr>
          <p:cNvPr id="61" name="Shape 58"/>
          <p:cNvSpPr/>
          <p:nvPr/>
        </p:nvSpPr>
        <p:spPr>
          <a:xfrm>
            <a:off x="3379622" y="3474720"/>
            <a:ext cx="2602382" cy="2468880"/>
          </a:xfrm>
          <a:prstGeom prst="rect">
            <a:avLst/>
          </a:prstGeom>
          <a:solidFill>
            <a:srgbClr val="13243F"/>
          </a:solidFill>
          <a:ln/>
        </p:spPr>
      </p:sp>
      <p:sp>
        <p:nvSpPr>
          <p:cNvPr id="62" name="Text 59"/>
          <p:cNvSpPr txBox="1"/>
          <p:nvPr/>
        </p:nvSpPr>
        <p:spPr>
          <a:xfrm>
            <a:off x="3608222" y="3611880"/>
            <a:ext cx="1463040" cy="329184"/>
          </a:xfrm>
          <a:prstGeom prst="rect">
            <a:avLst/>
          </a:prstGeom>
          <a:noFill/>
          <a:ln/>
        </p:spPr>
        <p:txBody>
          <a:bodyPr wrap="square" lIns="0" tIns="0" rIns="0" bIns="0" rtlCol="0" anchor="ctr"/>
          <a:lstStyle/>
          <a:p>
            <a:pPr algn="l" indent="0" marL="0">
              <a:buNone/>
            </a:pPr>
            <a:r>
              <a:rPr lang="en-US" altLang="en-US" sz="1300" b="1" spc="200" kern="0" dirty="0">
                <a:solidFill>
                  <a:srgbClr val="C9A96E"/>
                </a:solidFill>
                <a:latin typeface="Arial" pitchFamily="34" charset="0"/>
                <a:ea typeface="Arial" charset="-128"/>
                <a:cs typeface="Arial" pitchFamily="34" charset="-120"/>
              </a:rPr>
              <a:t>PEOPLE</a:t>
            </a:r>
            <a:endParaRPr lang="en-US" sz="1300" dirty="0"/>
          </a:p>
        </p:txBody>
      </p:sp>
      <p:sp>
        <p:nvSpPr>
          <p:cNvPr id="63" name="Text 60"/>
          <p:cNvSpPr txBox="1"/>
          <p:nvPr/>
        </p:nvSpPr>
        <p:spPr>
          <a:xfrm>
            <a:off x="4522622" y="3611880"/>
            <a:ext cx="1234440" cy="329184"/>
          </a:xfrm>
          <a:prstGeom prst="rect">
            <a:avLst/>
          </a:prstGeom>
          <a:noFill/>
          <a:ln/>
        </p:spPr>
        <p:txBody>
          <a:bodyPr wrap="square" lIns="0" tIns="0" rIns="0" bIns="0" rtlCol="0" anchor="ctr"/>
          <a:lstStyle/>
          <a:p>
            <a:pPr algn="r" indent="0" marL="0">
              <a:buNone/>
            </a:pPr>
            <a:r>
              <a:rPr lang="ja-JP" altLang="en-US" sz="1800" b="1" dirty="0">
                <a:solidFill>
                  <a:srgbClr val="FFFFFF"/>
                </a:solidFill>
                <a:latin typeface="Yu Gothic" pitchFamily="34" charset="0"/>
                <a:ea typeface="Yu Gothic" charset="-128"/>
                <a:cs typeface="Yu Gothic" pitchFamily="34" charset="-120"/>
              </a:rPr>
              <a:t>人</a:t>
            </a:r>
            <a:endParaRPr lang="ja-JP" sz="1800" dirty="0"/>
          </a:p>
        </p:txBody>
      </p:sp>
      <p:sp>
        <p:nvSpPr>
          <p:cNvPr id="64" name="Shape 61"/>
          <p:cNvSpPr/>
          <p:nvPr/>
        </p:nvSpPr>
        <p:spPr>
          <a:xfrm>
            <a:off x="3608222" y="4177792"/>
            <a:ext cx="54864" cy="54864"/>
          </a:xfrm>
          <a:prstGeom prst="ellipse">
            <a:avLst/>
          </a:prstGeom>
          <a:solidFill>
            <a:srgbClr val="C9A96E"/>
          </a:solidFill>
          <a:ln/>
        </p:spPr>
      </p:sp>
      <p:sp>
        <p:nvSpPr>
          <p:cNvPr id="65" name="Text 62"/>
          <p:cNvSpPr txBox="1"/>
          <p:nvPr/>
        </p:nvSpPr>
        <p:spPr>
          <a:xfrm>
            <a:off x="3791102" y="4078224"/>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幹部</a:t>
            </a:r>
            <a:endParaRPr lang="ja-JP" sz="1300" dirty="0"/>
          </a:p>
        </p:txBody>
      </p:sp>
      <p:sp>
        <p:nvSpPr>
          <p:cNvPr id="66" name="Shape 63"/>
          <p:cNvSpPr/>
          <p:nvPr/>
        </p:nvSpPr>
        <p:spPr>
          <a:xfrm>
            <a:off x="3608222" y="4450080"/>
            <a:ext cx="54864" cy="54864"/>
          </a:xfrm>
          <a:prstGeom prst="ellipse">
            <a:avLst/>
          </a:prstGeom>
          <a:solidFill>
            <a:srgbClr val="C9A96E"/>
          </a:solidFill>
          <a:ln/>
        </p:spPr>
      </p:sp>
      <p:sp>
        <p:nvSpPr>
          <p:cNvPr id="67" name="Text 64"/>
          <p:cNvSpPr txBox="1"/>
          <p:nvPr/>
        </p:nvSpPr>
        <p:spPr>
          <a:xfrm>
            <a:off x="3791102" y="4350512"/>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営業</a:t>
            </a:r>
            <a:endParaRPr lang="ja-JP" sz="1300" dirty="0"/>
          </a:p>
        </p:txBody>
      </p:sp>
      <p:sp>
        <p:nvSpPr>
          <p:cNvPr id="68" name="Shape 65"/>
          <p:cNvSpPr/>
          <p:nvPr/>
        </p:nvSpPr>
        <p:spPr>
          <a:xfrm>
            <a:off x="3608222" y="4722368"/>
            <a:ext cx="54864" cy="54864"/>
          </a:xfrm>
          <a:prstGeom prst="ellipse">
            <a:avLst/>
          </a:prstGeom>
          <a:solidFill>
            <a:srgbClr val="C9A96E"/>
          </a:solidFill>
          <a:ln/>
        </p:spPr>
      </p:sp>
      <p:sp>
        <p:nvSpPr>
          <p:cNvPr id="69" name="Text 66"/>
          <p:cNvSpPr txBox="1"/>
          <p:nvPr/>
        </p:nvSpPr>
        <p:spPr>
          <a:xfrm>
            <a:off x="3791102" y="4622800"/>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採用</a:t>
            </a:r>
            <a:endParaRPr lang="ja-JP" sz="1300" dirty="0"/>
          </a:p>
        </p:txBody>
      </p:sp>
      <p:sp>
        <p:nvSpPr>
          <p:cNvPr id="70" name="Shape 67"/>
          <p:cNvSpPr/>
          <p:nvPr/>
        </p:nvSpPr>
        <p:spPr>
          <a:xfrm>
            <a:off x="3608222" y="4994656"/>
            <a:ext cx="54864" cy="54864"/>
          </a:xfrm>
          <a:prstGeom prst="ellipse">
            <a:avLst/>
          </a:prstGeom>
          <a:solidFill>
            <a:srgbClr val="C9A96E"/>
          </a:solidFill>
          <a:ln/>
        </p:spPr>
      </p:sp>
      <p:sp>
        <p:nvSpPr>
          <p:cNvPr id="71" name="Text 68"/>
          <p:cNvSpPr txBox="1"/>
          <p:nvPr/>
        </p:nvSpPr>
        <p:spPr>
          <a:xfrm>
            <a:off x="3791102" y="4895088"/>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管理人材</a:t>
            </a:r>
            <a:endParaRPr lang="ja-JP" sz="1300" dirty="0"/>
          </a:p>
        </p:txBody>
      </p:sp>
      <p:sp>
        <p:nvSpPr>
          <p:cNvPr id="72" name="Shape 69"/>
          <p:cNvSpPr/>
          <p:nvPr/>
        </p:nvSpPr>
        <p:spPr>
          <a:xfrm>
            <a:off x="3608222" y="5266944"/>
            <a:ext cx="54864" cy="54864"/>
          </a:xfrm>
          <a:prstGeom prst="ellipse">
            <a:avLst/>
          </a:prstGeom>
          <a:solidFill>
            <a:srgbClr val="C9A96E"/>
          </a:solidFill>
          <a:ln/>
        </p:spPr>
      </p:sp>
      <p:sp>
        <p:nvSpPr>
          <p:cNvPr id="73" name="Text 70"/>
          <p:cNvSpPr txBox="1"/>
          <p:nvPr/>
        </p:nvSpPr>
        <p:spPr>
          <a:xfrm>
            <a:off x="3791102" y="5167376"/>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ROOTIVE経営責任者候補</a:t>
            </a:r>
            <a:endParaRPr lang="ja-JP" sz="1300" dirty="0"/>
          </a:p>
        </p:txBody>
      </p:sp>
      <p:sp>
        <p:nvSpPr>
          <p:cNvPr id="74" name="Shape 71"/>
          <p:cNvSpPr/>
          <p:nvPr/>
        </p:nvSpPr>
        <p:spPr>
          <a:xfrm>
            <a:off x="6210605" y="3474720"/>
            <a:ext cx="2602382" cy="2468880"/>
          </a:xfrm>
          <a:prstGeom prst="rect">
            <a:avLst/>
          </a:prstGeom>
          <a:solidFill>
            <a:srgbClr val="13243F"/>
          </a:solidFill>
          <a:ln/>
        </p:spPr>
      </p:sp>
      <p:sp>
        <p:nvSpPr>
          <p:cNvPr id="75" name="Text 72"/>
          <p:cNvSpPr txBox="1"/>
          <p:nvPr/>
        </p:nvSpPr>
        <p:spPr>
          <a:xfrm>
            <a:off x="6439205" y="3611880"/>
            <a:ext cx="1463040" cy="329184"/>
          </a:xfrm>
          <a:prstGeom prst="rect">
            <a:avLst/>
          </a:prstGeom>
          <a:noFill/>
          <a:ln/>
        </p:spPr>
        <p:txBody>
          <a:bodyPr wrap="square" lIns="0" tIns="0" rIns="0" bIns="0" rtlCol="0" anchor="ctr"/>
          <a:lstStyle/>
          <a:p>
            <a:pPr algn="l" indent="0" marL="0">
              <a:buNone/>
            </a:pPr>
            <a:r>
              <a:rPr lang="en-US" altLang="en-US" sz="1300" b="1" spc="200" kern="0" dirty="0">
                <a:solidFill>
                  <a:srgbClr val="C9A96E"/>
                </a:solidFill>
                <a:latin typeface="Arial" pitchFamily="34" charset="0"/>
                <a:ea typeface="Arial" charset="-128"/>
                <a:cs typeface="Arial" pitchFamily="34" charset="-120"/>
              </a:rPr>
              <a:t>SYSTEM</a:t>
            </a:r>
            <a:endParaRPr lang="en-US" sz="1300" dirty="0"/>
          </a:p>
        </p:txBody>
      </p:sp>
      <p:sp>
        <p:nvSpPr>
          <p:cNvPr id="76" name="Text 73"/>
          <p:cNvSpPr txBox="1"/>
          <p:nvPr/>
        </p:nvSpPr>
        <p:spPr>
          <a:xfrm>
            <a:off x="7353605" y="3611880"/>
            <a:ext cx="1234440" cy="329184"/>
          </a:xfrm>
          <a:prstGeom prst="rect">
            <a:avLst/>
          </a:prstGeom>
          <a:noFill/>
          <a:ln/>
        </p:spPr>
        <p:txBody>
          <a:bodyPr wrap="square" lIns="0" tIns="0" rIns="0" bIns="0" rtlCol="0" anchor="ctr"/>
          <a:lstStyle/>
          <a:p>
            <a:pPr algn="r" indent="0" marL="0">
              <a:buNone/>
            </a:pPr>
            <a:r>
              <a:rPr lang="ja-JP" altLang="en-US" sz="1800" b="1" dirty="0">
                <a:solidFill>
                  <a:srgbClr val="FFFFFF"/>
                </a:solidFill>
                <a:latin typeface="Yu Gothic" pitchFamily="34" charset="0"/>
                <a:ea typeface="Yu Gothic" charset="-128"/>
                <a:cs typeface="Yu Gothic" pitchFamily="34" charset="-120"/>
              </a:rPr>
              <a:t>仕組み</a:t>
            </a:r>
            <a:endParaRPr lang="ja-JP" sz="1800" dirty="0"/>
          </a:p>
        </p:txBody>
      </p:sp>
      <p:sp>
        <p:nvSpPr>
          <p:cNvPr id="77" name="Shape 74"/>
          <p:cNvSpPr/>
          <p:nvPr/>
        </p:nvSpPr>
        <p:spPr>
          <a:xfrm>
            <a:off x="6439205" y="4177792"/>
            <a:ext cx="54864" cy="54864"/>
          </a:xfrm>
          <a:prstGeom prst="ellipse">
            <a:avLst/>
          </a:prstGeom>
          <a:solidFill>
            <a:srgbClr val="C9A96E"/>
          </a:solidFill>
          <a:ln/>
        </p:spPr>
      </p:sp>
      <p:sp>
        <p:nvSpPr>
          <p:cNvPr id="78" name="Text 75"/>
          <p:cNvSpPr txBox="1"/>
          <p:nvPr/>
        </p:nvSpPr>
        <p:spPr>
          <a:xfrm>
            <a:off x="6622085" y="4078224"/>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管理会計</a:t>
            </a:r>
            <a:endParaRPr lang="ja-JP" sz="1300" dirty="0"/>
          </a:p>
        </p:txBody>
      </p:sp>
      <p:sp>
        <p:nvSpPr>
          <p:cNvPr id="79" name="Shape 76"/>
          <p:cNvSpPr/>
          <p:nvPr/>
        </p:nvSpPr>
        <p:spPr>
          <a:xfrm>
            <a:off x="6439205" y="4450080"/>
            <a:ext cx="54864" cy="54864"/>
          </a:xfrm>
          <a:prstGeom prst="ellipse">
            <a:avLst/>
          </a:prstGeom>
          <a:solidFill>
            <a:srgbClr val="C9A96E"/>
          </a:solidFill>
          <a:ln/>
        </p:spPr>
      </p:sp>
      <p:sp>
        <p:nvSpPr>
          <p:cNvPr id="80" name="Text 77"/>
          <p:cNvSpPr txBox="1"/>
          <p:nvPr/>
        </p:nvSpPr>
        <p:spPr>
          <a:xfrm>
            <a:off x="6622085" y="4350512"/>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予実管理</a:t>
            </a:r>
            <a:endParaRPr lang="ja-JP" sz="1300" dirty="0"/>
          </a:p>
        </p:txBody>
      </p:sp>
      <p:sp>
        <p:nvSpPr>
          <p:cNvPr id="81" name="Shape 78"/>
          <p:cNvSpPr/>
          <p:nvPr/>
        </p:nvSpPr>
        <p:spPr>
          <a:xfrm>
            <a:off x="6439205" y="4722368"/>
            <a:ext cx="54864" cy="54864"/>
          </a:xfrm>
          <a:prstGeom prst="ellipse">
            <a:avLst/>
          </a:prstGeom>
          <a:solidFill>
            <a:srgbClr val="C9A96E"/>
          </a:solidFill>
          <a:ln/>
        </p:spPr>
      </p:sp>
      <p:sp>
        <p:nvSpPr>
          <p:cNvPr id="82" name="Text 79"/>
          <p:cNvSpPr txBox="1"/>
          <p:nvPr/>
        </p:nvSpPr>
        <p:spPr>
          <a:xfrm>
            <a:off x="6622085" y="4622800"/>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KPI</a:t>
            </a:r>
            <a:endParaRPr lang="ja-JP" sz="1300" dirty="0"/>
          </a:p>
        </p:txBody>
      </p:sp>
      <p:sp>
        <p:nvSpPr>
          <p:cNvPr id="83" name="Shape 80"/>
          <p:cNvSpPr/>
          <p:nvPr/>
        </p:nvSpPr>
        <p:spPr>
          <a:xfrm>
            <a:off x="6439205" y="4994656"/>
            <a:ext cx="54864" cy="54864"/>
          </a:xfrm>
          <a:prstGeom prst="ellipse">
            <a:avLst/>
          </a:prstGeom>
          <a:solidFill>
            <a:srgbClr val="C9A96E"/>
          </a:solidFill>
          <a:ln/>
        </p:spPr>
      </p:sp>
      <p:sp>
        <p:nvSpPr>
          <p:cNvPr id="84" name="Text 81"/>
          <p:cNvSpPr txBox="1"/>
          <p:nvPr/>
        </p:nvSpPr>
        <p:spPr>
          <a:xfrm>
            <a:off x="6622085" y="4895088"/>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SOP</a:t>
            </a:r>
            <a:endParaRPr lang="ja-JP" sz="1300" dirty="0"/>
          </a:p>
        </p:txBody>
      </p:sp>
      <p:sp>
        <p:nvSpPr>
          <p:cNvPr id="85" name="Shape 82"/>
          <p:cNvSpPr/>
          <p:nvPr/>
        </p:nvSpPr>
        <p:spPr>
          <a:xfrm>
            <a:off x="6439205" y="5266944"/>
            <a:ext cx="54864" cy="54864"/>
          </a:xfrm>
          <a:prstGeom prst="ellipse">
            <a:avLst/>
          </a:prstGeom>
          <a:solidFill>
            <a:srgbClr val="C9A96E"/>
          </a:solidFill>
          <a:ln/>
        </p:spPr>
      </p:sp>
      <p:sp>
        <p:nvSpPr>
          <p:cNvPr id="86" name="Text 83"/>
          <p:cNvSpPr txBox="1"/>
          <p:nvPr/>
        </p:nvSpPr>
        <p:spPr>
          <a:xfrm>
            <a:off x="6622085" y="5167376"/>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月次決算</a:t>
            </a:r>
            <a:endParaRPr lang="ja-JP" sz="1300" dirty="0"/>
          </a:p>
        </p:txBody>
      </p:sp>
      <p:sp>
        <p:nvSpPr>
          <p:cNvPr id="87" name="Shape 84"/>
          <p:cNvSpPr/>
          <p:nvPr/>
        </p:nvSpPr>
        <p:spPr>
          <a:xfrm>
            <a:off x="6439205" y="5539232"/>
            <a:ext cx="54864" cy="54864"/>
          </a:xfrm>
          <a:prstGeom prst="ellipse">
            <a:avLst/>
          </a:prstGeom>
          <a:solidFill>
            <a:srgbClr val="C9A96E"/>
          </a:solidFill>
          <a:ln/>
        </p:spPr>
      </p:sp>
      <p:sp>
        <p:nvSpPr>
          <p:cNvPr id="88" name="Text 85"/>
          <p:cNvSpPr txBox="1"/>
          <p:nvPr/>
        </p:nvSpPr>
        <p:spPr>
          <a:xfrm>
            <a:off x="6622085" y="5439664"/>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経営会議</a:t>
            </a:r>
            <a:endParaRPr lang="ja-JP" sz="1300" dirty="0"/>
          </a:p>
        </p:txBody>
      </p:sp>
      <p:sp>
        <p:nvSpPr>
          <p:cNvPr id="89" name="Shape 86"/>
          <p:cNvSpPr/>
          <p:nvPr/>
        </p:nvSpPr>
        <p:spPr>
          <a:xfrm>
            <a:off x="9041587" y="3474720"/>
            <a:ext cx="2602382" cy="2468880"/>
          </a:xfrm>
          <a:prstGeom prst="rect">
            <a:avLst/>
          </a:prstGeom>
          <a:solidFill>
            <a:srgbClr val="13243F"/>
          </a:solidFill>
          <a:ln/>
        </p:spPr>
      </p:sp>
      <p:sp>
        <p:nvSpPr>
          <p:cNvPr id="90" name="Text 87"/>
          <p:cNvSpPr txBox="1"/>
          <p:nvPr/>
        </p:nvSpPr>
        <p:spPr>
          <a:xfrm>
            <a:off x="9270187" y="3611880"/>
            <a:ext cx="1463040" cy="329184"/>
          </a:xfrm>
          <a:prstGeom prst="rect">
            <a:avLst/>
          </a:prstGeom>
          <a:noFill/>
          <a:ln/>
        </p:spPr>
        <p:txBody>
          <a:bodyPr wrap="square" lIns="0" tIns="0" rIns="0" bIns="0" rtlCol="0" anchor="ctr"/>
          <a:lstStyle/>
          <a:p>
            <a:pPr algn="l" indent="0" marL="0">
              <a:buNone/>
            </a:pPr>
            <a:r>
              <a:rPr lang="en-US" altLang="en-US" sz="1300" b="1" spc="200" kern="0" dirty="0">
                <a:solidFill>
                  <a:srgbClr val="C9A96E"/>
                </a:solidFill>
                <a:latin typeface="Arial" pitchFamily="34" charset="0"/>
                <a:ea typeface="Arial" charset="-128"/>
                <a:cs typeface="Arial" pitchFamily="34" charset="-120"/>
              </a:rPr>
              <a:t>TRUST</a:t>
            </a:r>
            <a:endParaRPr lang="en-US" sz="1300" dirty="0"/>
          </a:p>
        </p:txBody>
      </p:sp>
      <p:sp>
        <p:nvSpPr>
          <p:cNvPr id="91" name="Text 88"/>
          <p:cNvSpPr txBox="1"/>
          <p:nvPr/>
        </p:nvSpPr>
        <p:spPr>
          <a:xfrm>
            <a:off x="10184587" y="3611880"/>
            <a:ext cx="1234440" cy="329184"/>
          </a:xfrm>
          <a:prstGeom prst="rect">
            <a:avLst/>
          </a:prstGeom>
          <a:noFill/>
          <a:ln/>
        </p:spPr>
        <p:txBody>
          <a:bodyPr wrap="square" lIns="0" tIns="0" rIns="0" bIns="0" rtlCol="0" anchor="ctr"/>
          <a:lstStyle/>
          <a:p>
            <a:pPr algn="r" indent="0" marL="0">
              <a:buNone/>
            </a:pPr>
            <a:r>
              <a:rPr lang="ja-JP" altLang="en-US" sz="1800" b="1" dirty="0">
                <a:solidFill>
                  <a:srgbClr val="FFFFFF"/>
                </a:solidFill>
                <a:latin typeface="Yu Gothic" pitchFamily="34" charset="0"/>
                <a:ea typeface="Yu Gothic" charset="-128"/>
                <a:cs typeface="Yu Gothic" pitchFamily="34" charset="-120"/>
              </a:rPr>
              <a:t>信用</a:t>
            </a:r>
            <a:endParaRPr lang="ja-JP" sz="1800" dirty="0"/>
          </a:p>
        </p:txBody>
      </p:sp>
      <p:sp>
        <p:nvSpPr>
          <p:cNvPr id="92" name="Shape 89"/>
          <p:cNvSpPr/>
          <p:nvPr/>
        </p:nvSpPr>
        <p:spPr>
          <a:xfrm>
            <a:off x="9270187" y="4177792"/>
            <a:ext cx="54864" cy="54864"/>
          </a:xfrm>
          <a:prstGeom prst="ellipse">
            <a:avLst/>
          </a:prstGeom>
          <a:solidFill>
            <a:srgbClr val="C9A96E"/>
          </a:solidFill>
          <a:ln/>
        </p:spPr>
      </p:sp>
      <p:sp>
        <p:nvSpPr>
          <p:cNvPr id="93" name="Text 90"/>
          <p:cNvSpPr txBox="1"/>
          <p:nvPr/>
        </p:nvSpPr>
        <p:spPr>
          <a:xfrm>
            <a:off x="9453067" y="4078224"/>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荷主</a:t>
            </a:r>
            <a:endParaRPr lang="ja-JP" sz="1300" dirty="0"/>
          </a:p>
        </p:txBody>
      </p:sp>
      <p:sp>
        <p:nvSpPr>
          <p:cNvPr id="94" name="Shape 91"/>
          <p:cNvSpPr/>
          <p:nvPr/>
        </p:nvSpPr>
        <p:spPr>
          <a:xfrm>
            <a:off x="9270187" y="4450080"/>
            <a:ext cx="54864" cy="54864"/>
          </a:xfrm>
          <a:prstGeom prst="ellipse">
            <a:avLst/>
          </a:prstGeom>
          <a:solidFill>
            <a:srgbClr val="C9A96E"/>
          </a:solidFill>
          <a:ln/>
        </p:spPr>
      </p:sp>
      <p:sp>
        <p:nvSpPr>
          <p:cNvPr id="95" name="Text 92"/>
          <p:cNvSpPr txBox="1"/>
          <p:nvPr/>
        </p:nvSpPr>
        <p:spPr>
          <a:xfrm>
            <a:off x="9453067" y="4350512"/>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金融機関</a:t>
            </a:r>
            <a:endParaRPr lang="ja-JP" sz="1300" dirty="0"/>
          </a:p>
        </p:txBody>
      </p:sp>
      <p:sp>
        <p:nvSpPr>
          <p:cNvPr id="96" name="Shape 93"/>
          <p:cNvSpPr/>
          <p:nvPr/>
        </p:nvSpPr>
        <p:spPr>
          <a:xfrm>
            <a:off x="9270187" y="4722368"/>
            <a:ext cx="54864" cy="54864"/>
          </a:xfrm>
          <a:prstGeom prst="ellipse">
            <a:avLst/>
          </a:prstGeom>
          <a:solidFill>
            <a:srgbClr val="C9A96E"/>
          </a:solidFill>
          <a:ln/>
        </p:spPr>
      </p:sp>
      <p:sp>
        <p:nvSpPr>
          <p:cNvPr id="97" name="Text 94"/>
          <p:cNvSpPr txBox="1"/>
          <p:nvPr/>
        </p:nvSpPr>
        <p:spPr>
          <a:xfrm>
            <a:off x="9453067" y="4622800"/>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取引実績</a:t>
            </a:r>
            <a:endParaRPr lang="ja-JP" sz="1300" dirty="0"/>
          </a:p>
        </p:txBody>
      </p:sp>
      <p:sp>
        <p:nvSpPr>
          <p:cNvPr id="98" name="Shape 95"/>
          <p:cNvSpPr/>
          <p:nvPr/>
        </p:nvSpPr>
        <p:spPr>
          <a:xfrm>
            <a:off x="9270187" y="4994656"/>
            <a:ext cx="54864" cy="54864"/>
          </a:xfrm>
          <a:prstGeom prst="ellipse">
            <a:avLst/>
          </a:prstGeom>
          <a:solidFill>
            <a:srgbClr val="C9A96E"/>
          </a:solidFill>
          <a:ln/>
        </p:spPr>
      </p:sp>
      <p:sp>
        <p:nvSpPr>
          <p:cNvPr id="99" name="Text 96"/>
          <p:cNvSpPr txBox="1"/>
          <p:nvPr/>
        </p:nvSpPr>
        <p:spPr>
          <a:xfrm>
            <a:off x="9453067" y="4895088"/>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法令遵守</a:t>
            </a:r>
            <a:endParaRPr lang="ja-JP" sz="1300" dirty="0"/>
          </a:p>
        </p:txBody>
      </p:sp>
      <p:sp>
        <p:nvSpPr>
          <p:cNvPr id="100" name="Shape 97"/>
          <p:cNvSpPr/>
          <p:nvPr/>
        </p:nvSpPr>
        <p:spPr>
          <a:xfrm>
            <a:off x="9270187" y="5266944"/>
            <a:ext cx="54864" cy="54864"/>
          </a:xfrm>
          <a:prstGeom prst="ellipse">
            <a:avLst/>
          </a:prstGeom>
          <a:solidFill>
            <a:srgbClr val="C9A96E"/>
          </a:solidFill>
          <a:ln/>
        </p:spPr>
      </p:sp>
      <p:sp>
        <p:nvSpPr>
          <p:cNvPr id="101" name="Text 98"/>
          <p:cNvSpPr txBox="1"/>
          <p:nvPr/>
        </p:nvSpPr>
        <p:spPr>
          <a:xfrm>
            <a:off x="9453067" y="5167376"/>
            <a:ext cx="2057400" cy="254000"/>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経営実績</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10</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YEAR 1   2026–2027</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ROOTIVEを「代表が回す会社」から「組織で回る会社」へ。</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2700">
            <a:solidFill>
              <a:srgbClr val="C9D1DC"/>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B08D57"/>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5CCD6"/>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C5CCD6"/>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10</a:t>
            </a:r>
            <a:endParaRPr lang="en-US" sz="1000" dirty="0"/>
          </a:p>
        </p:txBody>
      </p:sp>
      <p:sp>
        <p:nvSpPr>
          <p:cNvPr id="18" name="Shape 15"/>
          <p:cNvSpPr/>
          <p:nvPr/>
        </p:nvSpPr>
        <p:spPr>
          <a:xfrm>
            <a:off x="548640" y="1572768"/>
            <a:ext cx="11094415" cy="822960"/>
          </a:xfrm>
          <a:prstGeom prst="rect">
            <a:avLst/>
          </a:prstGeom>
          <a:solidFill>
            <a:srgbClr val="F3F5F8"/>
          </a:solidFill>
          <a:ln/>
        </p:spPr>
      </p:sp>
      <p:sp>
        <p:nvSpPr>
          <p:cNvPr id="19" name="Text 16"/>
          <p:cNvSpPr txBox="1"/>
          <p:nvPr/>
        </p:nvSpPr>
        <p:spPr>
          <a:xfrm>
            <a:off x="777240" y="1645920"/>
            <a:ext cx="1920240" cy="384048"/>
          </a:xfrm>
          <a:prstGeom prst="rect">
            <a:avLst/>
          </a:prstGeom>
          <a:noFill/>
          <a:ln/>
        </p:spPr>
        <p:txBody>
          <a:bodyPr wrap="square" lIns="0" tIns="0" rIns="0" bIns="0" rtlCol="0" anchor="ctr"/>
          <a:lstStyle/>
          <a:p>
            <a:pPr algn="l" indent="0" marL="0">
              <a:buNone/>
            </a:pPr>
            <a:r>
              <a:rPr lang="en-US" altLang="en-US" sz="2400" b="1" dirty="0">
                <a:solidFill>
                  <a:srgbClr val="14284B"/>
                </a:solidFill>
                <a:latin typeface="Cambria" pitchFamily="34" charset="0"/>
                <a:ea typeface="Cambria" charset="-128"/>
                <a:cs typeface="Cambria" pitchFamily="34" charset="-120"/>
              </a:rPr>
              <a:t>YEAR 1</a:t>
            </a:r>
            <a:endParaRPr lang="en-US" sz="2400" dirty="0"/>
          </a:p>
        </p:txBody>
      </p:sp>
      <p:sp>
        <p:nvSpPr>
          <p:cNvPr id="20" name="Text 17"/>
          <p:cNvSpPr txBox="1"/>
          <p:nvPr/>
        </p:nvSpPr>
        <p:spPr>
          <a:xfrm>
            <a:off x="777240" y="2039112"/>
            <a:ext cx="1920240" cy="237744"/>
          </a:xfrm>
          <a:prstGeom prst="rect">
            <a:avLst/>
          </a:prstGeom>
          <a:noFill/>
          <a:ln/>
        </p:spPr>
        <p:txBody>
          <a:bodyPr wrap="square" lIns="0" tIns="0" rIns="0" bIns="0" rtlCol="0" anchor="ctr"/>
          <a:lstStyle/>
          <a:p>
            <a:pPr algn="l" indent="0" marL="0">
              <a:buNone/>
            </a:pPr>
            <a:r>
              <a:rPr lang="en-US" altLang="en-US" sz="1200" dirty="0">
                <a:solidFill>
                  <a:srgbClr val="5B6675"/>
                </a:solidFill>
                <a:latin typeface="Arial" pitchFamily="34" charset="0"/>
                <a:ea typeface="Arial" charset="-128"/>
                <a:cs typeface="Arial" pitchFamily="34" charset="-120"/>
              </a:rPr>
              <a:t>2026.10–2027.9</a:t>
            </a:r>
            <a:endParaRPr lang="en-US" sz="1200" dirty="0"/>
          </a:p>
        </p:txBody>
      </p:sp>
      <p:sp>
        <p:nvSpPr>
          <p:cNvPr id="21" name="Shape 18"/>
          <p:cNvSpPr/>
          <p:nvPr/>
        </p:nvSpPr>
        <p:spPr>
          <a:xfrm>
            <a:off x="2788920" y="1728216"/>
            <a:ext cx="0" cy="512064"/>
          </a:xfrm>
          <a:prstGeom prst="line">
            <a:avLst/>
          </a:prstGeom>
          <a:noFill/>
          <a:ln w="9525">
            <a:solidFill>
              <a:srgbClr val="C9D1DC"/>
            </a:solidFill>
            <a:prstDash val="solid"/>
          </a:ln>
        </p:spPr>
      </p:sp>
      <p:sp>
        <p:nvSpPr>
          <p:cNvPr id="22" name="Text 19"/>
          <p:cNvSpPr txBox="1"/>
          <p:nvPr/>
        </p:nvSpPr>
        <p:spPr>
          <a:xfrm>
            <a:off x="3017520" y="1682496"/>
            <a:ext cx="402336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STAGE</a:t>
            </a:r>
            <a:endParaRPr lang="en-US" sz="1000" dirty="0"/>
          </a:p>
        </p:txBody>
      </p:sp>
      <p:sp>
        <p:nvSpPr>
          <p:cNvPr id="23" name="Text 20"/>
          <p:cNvSpPr txBox="1"/>
          <p:nvPr/>
        </p:nvSpPr>
        <p:spPr>
          <a:xfrm>
            <a:off x="3017520" y="1920240"/>
            <a:ext cx="4114800" cy="365760"/>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ROOTIVE経営基盤構築</a:t>
            </a:r>
            <a:endParaRPr lang="ja-JP" sz="1600" dirty="0"/>
          </a:p>
        </p:txBody>
      </p:sp>
      <p:graphicFrame>
        <p:nvGraphicFramePr>
          <p:cNvPr id="24" name="Chart 0" descr="グループ連結売上の暫定目標の推移（YEAR 1 を強調）"/>
          <p:cNvGraphicFramePr/>
          <p:nvPr/>
        </p:nvGraphicFramePr>
        <p:xfrm>
          <a:off x="7178040" y="1627632"/>
          <a:ext cx="2240280" cy="64008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9601200" y="1728216"/>
            <a:ext cx="0" cy="512064"/>
          </a:xfrm>
          <a:prstGeom prst="line">
            <a:avLst/>
          </a:prstGeom>
          <a:noFill/>
          <a:ln w="9525">
            <a:solidFill>
              <a:srgbClr val="C9D1DC"/>
            </a:solidFill>
            <a:prstDash val="solid"/>
          </a:ln>
        </p:spPr>
      </p:sp>
      <p:sp>
        <p:nvSpPr>
          <p:cNvPr id="26" name="Text 22"/>
          <p:cNvSpPr txBox="1"/>
          <p:nvPr/>
        </p:nvSpPr>
        <p:spPr>
          <a:xfrm>
            <a:off x="9710928" y="1682496"/>
            <a:ext cx="1792224" cy="219456"/>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ROOTIVE売上（暫定）</a:t>
            </a:r>
            <a:endParaRPr lang="ja-JP" sz="1000" dirty="0"/>
          </a:p>
        </p:txBody>
      </p:sp>
      <p:sp>
        <p:nvSpPr>
          <p:cNvPr id="27" name="Text 23"/>
          <p:cNvSpPr txBox="1"/>
          <p:nvPr/>
        </p:nvSpPr>
        <p:spPr>
          <a:xfrm>
            <a:off x="9710928" y="1901952"/>
            <a:ext cx="1792224" cy="420624"/>
          </a:xfrm>
          <a:prstGeom prst="rect">
            <a:avLst/>
          </a:prstGeom>
          <a:noFill/>
          <a:ln/>
        </p:spPr>
        <p:txBody>
          <a:bodyPr wrap="square" lIns="0" tIns="0" rIns="0" bIns="0" rtlCol="0" anchor="ctr"/>
          <a:lstStyle/>
          <a:p>
            <a:pPr algn="r" indent="0" marL="0">
              <a:buNone/>
            </a:pPr>
            <a:r>
              <a:rPr lang="en-US" altLang="en-US" sz="2600" b="1" dirty="0">
                <a:solidFill>
                  <a:srgbClr val="14284B"/>
                </a:solidFill>
                <a:latin typeface="Cambria" pitchFamily="34" charset="0"/>
                <a:ea typeface="Cambria" charset="-128"/>
                <a:cs typeface="Cambria" pitchFamily="34" charset="-120"/>
              </a:rPr>
              <a:t>2</a:t>
            </a:r>
            <a:pPr algn="r"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28" name="Text 24"/>
          <p:cNvSpPr txBox="1"/>
          <p:nvPr/>
        </p:nvSpPr>
        <p:spPr>
          <a:xfrm>
            <a:off x="548640" y="2606040"/>
            <a:ext cx="685800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重点施策（12）</a:t>
            </a:r>
            <a:pPr algn="l" indent="0" marL="0">
              <a:buNone/>
            </a:pPr>
            <a:r>
              <a:rPr lang="en-US" altLang="en-US" sz="1000" b="1" spc="200" kern="0" dirty="0">
                <a:solidFill>
                  <a:srgbClr val="8C6D3F"/>
                </a:solidFill>
                <a:latin typeface="Arial" pitchFamily="34" charset="0"/>
                <a:ea typeface="Arial" charset="-128"/>
                <a:cs typeface="Arial" pitchFamily="34" charset="-120"/>
              </a:rPr>
              <a:t>   KEY INITIATIVES</a:t>
            </a:r>
            <a:endParaRPr lang="ja-JP" sz="1400" dirty="0"/>
          </a:p>
        </p:txBody>
      </p:sp>
      <p:sp>
        <p:nvSpPr>
          <p:cNvPr id="29" name="Shape 25"/>
          <p:cNvSpPr/>
          <p:nvPr/>
        </p:nvSpPr>
        <p:spPr>
          <a:xfrm>
            <a:off x="548640" y="2971800"/>
            <a:ext cx="2240280" cy="621792"/>
          </a:xfrm>
          <a:prstGeom prst="rect">
            <a:avLst/>
          </a:prstGeom>
          <a:solidFill>
            <a:srgbClr val="FFFFFF"/>
          </a:solidFill>
          <a:ln w="12700">
            <a:solidFill>
              <a:srgbClr val="C9D1DC"/>
            </a:solidFill>
            <a:prstDash val="solid"/>
          </a:ln>
        </p:spPr>
      </p:sp>
      <p:sp>
        <p:nvSpPr>
          <p:cNvPr id="30" name="Text 26"/>
          <p:cNvSpPr txBox="1"/>
          <p:nvPr/>
        </p:nvSpPr>
        <p:spPr>
          <a:xfrm>
            <a:off x="713232" y="2971800"/>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01</a:t>
            </a:r>
            <a:endParaRPr lang="en-US" sz="1300" dirty="0"/>
          </a:p>
        </p:txBody>
      </p:sp>
      <p:sp>
        <p:nvSpPr>
          <p:cNvPr id="31" name="Text 27"/>
          <p:cNvSpPr txBox="1"/>
          <p:nvPr/>
        </p:nvSpPr>
        <p:spPr>
          <a:xfrm>
            <a:off x="1115568" y="2971800"/>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営業組織構築</a:t>
            </a:r>
            <a:endParaRPr lang="ja-JP" sz="1400" dirty="0"/>
          </a:p>
        </p:txBody>
      </p:sp>
      <p:sp>
        <p:nvSpPr>
          <p:cNvPr id="32" name="Shape 28"/>
          <p:cNvSpPr/>
          <p:nvPr/>
        </p:nvSpPr>
        <p:spPr>
          <a:xfrm>
            <a:off x="2944368" y="2971800"/>
            <a:ext cx="2240280" cy="621792"/>
          </a:xfrm>
          <a:prstGeom prst="rect">
            <a:avLst/>
          </a:prstGeom>
          <a:solidFill>
            <a:srgbClr val="FFFFFF"/>
          </a:solidFill>
          <a:ln w="12700">
            <a:solidFill>
              <a:srgbClr val="C9D1DC"/>
            </a:solidFill>
            <a:prstDash val="solid"/>
          </a:ln>
        </p:spPr>
      </p:sp>
      <p:sp>
        <p:nvSpPr>
          <p:cNvPr id="33" name="Text 29"/>
          <p:cNvSpPr txBox="1"/>
          <p:nvPr/>
        </p:nvSpPr>
        <p:spPr>
          <a:xfrm>
            <a:off x="3108960" y="2971800"/>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02</a:t>
            </a:r>
            <a:endParaRPr lang="en-US" sz="1300" dirty="0"/>
          </a:p>
        </p:txBody>
      </p:sp>
      <p:sp>
        <p:nvSpPr>
          <p:cNvPr id="34" name="Text 30"/>
          <p:cNvSpPr txBox="1"/>
          <p:nvPr/>
        </p:nvSpPr>
        <p:spPr>
          <a:xfrm>
            <a:off x="3511296" y="2971800"/>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荷主直営業</a:t>
            </a:r>
            <a:endParaRPr lang="ja-JP" sz="1400" dirty="0"/>
          </a:p>
        </p:txBody>
      </p:sp>
      <p:sp>
        <p:nvSpPr>
          <p:cNvPr id="35" name="Shape 31"/>
          <p:cNvSpPr/>
          <p:nvPr/>
        </p:nvSpPr>
        <p:spPr>
          <a:xfrm>
            <a:off x="5340096" y="2971800"/>
            <a:ext cx="2240280" cy="621792"/>
          </a:xfrm>
          <a:prstGeom prst="rect">
            <a:avLst/>
          </a:prstGeom>
          <a:solidFill>
            <a:srgbClr val="FFFFFF"/>
          </a:solidFill>
          <a:ln w="12700">
            <a:solidFill>
              <a:srgbClr val="C9D1DC"/>
            </a:solidFill>
            <a:prstDash val="solid"/>
          </a:ln>
        </p:spPr>
      </p:sp>
      <p:sp>
        <p:nvSpPr>
          <p:cNvPr id="36" name="Text 32"/>
          <p:cNvSpPr txBox="1"/>
          <p:nvPr/>
        </p:nvSpPr>
        <p:spPr>
          <a:xfrm>
            <a:off x="5504688" y="2971800"/>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03</a:t>
            </a:r>
            <a:endParaRPr lang="en-US" sz="1300" dirty="0"/>
          </a:p>
        </p:txBody>
      </p:sp>
      <p:sp>
        <p:nvSpPr>
          <p:cNvPr id="37" name="Text 33"/>
          <p:cNvSpPr txBox="1"/>
          <p:nvPr/>
        </p:nvSpPr>
        <p:spPr>
          <a:xfrm>
            <a:off x="5907024" y="2971800"/>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採用導線</a:t>
            </a:r>
            <a:endParaRPr lang="ja-JP" sz="1400" dirty="0"/>
          </a:p>
        </p:txBody>
      </p:sp>
      <p:sp>
        <p:nvSpPr>
          <p:cNvPr id="38" name="Shape 34"/>
          <p:cNvSpPr/>
          <p:nvPr/>
        </p:nvSpPr>
        <p:spPr>
          <a:xfrm>
            <a:off x="548640" y="3721608"/>
            <a:ext cx="2240280" cy="621792"/>
          </a:xfrm>
          <a:prstGeom prst="rect">
            <a:avLst/>
          </a:prstGeom>
          <a:solidFill>
            <a:srgbClr val="FFFFFF"/>
          </a:solidFill>
          <a:ln w="12700">
            <a:solidFill>
              <a:srgbClr val="C9D1DC"/>
            </a:solidFill>
            <a:prstDash val="solid"/>
          </a:ln>
        </p:spPr>
      </p:sp>
      <p:sp>
        <p:nvSpPr>
          <p:cNvPr id="39" name="Text 35"/>
          <p:cNvSpPr txBox="1"/>
          <p:nvPr/>
        </p:nvSpPr>
        <p:spPr>
          <a:xfrm>
            <a:off x="713232" y="3721608"/>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04</a:t>
            </a:r>
            <a:endParaRPr lang="en-US" sz="1300" dirty="0"/>
          </a:p>
        </p:txBody>
      </p:sp>
      <p:sp>
        <p:nvSpPr>
          <p:cNvPr id="40" name="Text 36"/>
          <p:cNvSpPr txBox="1"/>
          <p:nvPr/>
        </p:nvSpPr>
        <p:spPr>
          <a:xfrm>
            <a:off x="1115568" y="3721608"/>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ドライバー供給力</a:t>
            </a:r>
            <a:endParaRPr lang="ja-JP" sz="1400" dirty="0"/>
          </a:p>
        </p:txBody>
      </p:sp>
      <p:sp>
        <p:nvSpPr>
          <p:cNvPr id="41" name="Shape 37"/>
          <p:cNvSpPr/>
          <p:nvPr/>
        </p:nvSpPr>
        <p:spPr>
          <a:xfrm>
            <a:off x="2944368" y="3721608"/>
            <a:ext cx="2240280" cy="621792"/>
          </a:xfrm>
          <a:prstGeom prst="rect">
            <a:avLst/>
          </a:prstGeom>
          <a:solidFill>
            <a:srgbClr val="FFFFFF"/>
          </a:solidFill>
          <a:ln w="12700">
            <a:solidFill>
              <a:srgbClr val="C9D1DC"/>
            </a:solidFill>
            <a:prstDash val="solid"/>
          </a:ln>
        </p:spPr>
      </p:sp>
      <p:sp>
        <p:nvSpPr>
          <p:cNvPr id="42" name="Text 38"/>
          <p:cNvSpPr txBox="1"/>
          <p:nvPr/>
        </p:nvSpPr>
        <p:spPr>
          <a:xfrm>
            <a:off x="3108960" y="3721608"/>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05</a:t>
            </a:r>
            <a:endParaRPr lang="en-US" sz="1300" dirty="0"/>
          </a:p>
        </p:txBody>
      </p:sp>
      <p:sp>
        <p:nvSpPr>
          <p:cNvPr id="43" name="Text 39"/>
          <p:cNvSpPr txBox="1"/>
          <p:nvPr/>
        </p:nvSpPr>
        <p:spPr>
          <a:xfrm>
            <a:off x="3511296" y="3721608"/>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運行管理</a:t>
            </a:r>
            <a:endParaRPr lang="ja-JP" sz="1400" dirty="0"/>
          </a:p>
        </p:txBody>
      </p:sp>
      <p:sp>
        <p:nvSpPr>
          <p:cNvPr id="44" name="Shape 40"/>
          <p:cNvSpPr/>
          <p:nvPr/>
        </p:nvSpPr>
        <p:spPr>
          <a:xfrm>
            <a:off x="5340096" y="3721608"/>
            <a:ext cx="2240280" cy="621792"/>
          </a:xfrm>
          <a:prstGeom prst="rect">
            <a:avLst/>
          </a:prstGeom>
          <a:solidFill>
            <a:srgbClr val="FFFFFF"/>
          </a:solidFill>
          <a:ln w="12700">
            <a:solidFill>
              <a:srgbClr val="C9D1DC"/>
            </a:solidFill>
            <a:prstDash val="solid"/>
          </a:ln>
        </p:spPr>
      </p:sp>
      <p:sp>
        <p:nvSpPr>
          <p:cNvPr id="45" name="Text 41"/>
          <p:cNvSpPr txBox="1"/>
          <p:nvPr/>
        </p:nvSpPr>
        <p:spPr>
          <a:xfrm>
            <a:off x="5504688" y="3721608"/>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06</a:t>
            </a:r>
            <a:endParaRPr lang="en-US" sz="1300" dirty="0"/>
          </a:p>
        </p:txBody>
      </p:sp>
      <p:sp>
        <p:nvSpPr>
          <p:cNvPr id="46" name="Text 42"/>
          <p:cNvSpPr txBox="1"/>
          <p:nvPr/>
        </p:nvSpPr>
        <p:spPr>
          <a:xfrm>
            <a:off x="5907024" y="3721608"/>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幹部育成</a:t>
            </a:r>
            <a:endParaRPr lang="ja-JP" sz="1400" dirty="0"/>
          </a:p>
        </p:txBody>
      </p:sp>
      <p:sp>
        <p:nvSpPr>
          <p:cNvPr id="47" name="Shape 43"/>
          <p:cNvSpPr/>
          <p:nvPr/>
        </p:nvSpPr>
        <p:spPr>
          <a:xfrm>
            <a:off x="548640" y="4471416"/>
            <a:ext cx="2240280" cy="621792"/>
          </a:xfrm>
          <a:prstGeom prst="rect">
            <a:avLst/>
          </a:prstGeom>
          <a:solidFill>
            <a:srgbClr val="FFFFFF"/>
          </a:solidFill>
          <a:ln w="12700">
            <a:solidFill>
              <a:srgbClr val="C9D1DC"/>
            </a:solidFill>
            <a:prstDash val="solid"/>
          </a:ln>
        </p:spPr>
      </p:sp>
      <p:sp>
        <p:nvSpPr>
          <p:cNvPr id="48" name="Text 44"/>
          <p:cNvSpPr txBox="1"/>
          <p:nvPr/>
        </p:nvSpPr>
        <p:spPr>
          <a:xfrm>
            <a:off x="713232" y="4471416"/>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07</a:t>
            </a:r>
            <a:endParaRPr lang="en-US" sz="1300" dirty="0"/>
          </a:p>
        </p:txBody>
      </p:sp>
      <p:sp>
        <p:nvSpPr>
          <p:cNvPr id="49" name="Text 45"/>
          <p:cNvSpPr txBox="1"/>
          <p:nvPr/>
        </p:nvSpPr>
        <p:spPr>
          <a:xfrm>
            <a:off x="1115568" y="4471416"/>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請求支払</a:t>
            </a:r>
            <a:endParaRPr lang="ja-JP" sz="1400" dirty="0"/>
          </a:p>
        </p:txBody>
      </p:sp>
      <p:sp>
        <p:nvSpPr>
          <p:cNvPr id="50" name="Shape 46"/>
          <p:cNvSpPr/>
          <p:nvPr/>
        </p:nvSpPr>
        <p:spPr>
          <a:xfrm>
            <a:off x="2944368" y="4471416"/>
            <a:ext cx="2240280" cy="621792"/>
          </a:xfrm>
          <a:prstGeom prst="rect">
            <a:avLst/>
          </a:prstGeom>
          <a:solidFill>
            <a:srgbClr val="FFFFFF"/>
          </a:solidFill>
          <a:ln w="12700">
            <a:solidFill>
              <a:srgbClr val="C9D1DC"/>
            </a:solidFill>
            <a:prstDash val="solid"/>
          </a:ln>
        </p:spPr>
      </p:sp>
      <p:sp>
        <p:nvSpPr>
          <p:cNvPr id="51" name="Text 47"/>
          <p:cNvSpPr txBox="1"/>
          <p:nvPr/>
        </p:nvSpPr>
        <p:spPr>
          <a:xfrm>
            <a:off x="3108960" y="4471416"/>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08</a:t>
            </a:r>
            <a:endParaRPr lang="en-US" sz="1300" dirty="0"/>
          </a:p>
        </p:txBody>
      </p:sp>
      <p:sp>
        <p:nvSpPr>
          <p:cNvPr id="52" name="Text 48"/>
          <p:cNvSpPr txBox="1"/>
          <p:nvPr/>
        </p:nvSpPr>
        <p:spPr>
          <a:xfrm>
            <a:off x="3511296" y="4471416"/>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管理会計</a:t>
            </a:r>
            <a:endParaRPr lang="ja-JP" sz="1400" dirty="0"/>
          </a:p>
        </p:txBody>
      </p:sp>
      <p:sp>
        <p:nvSpPr>
          <p:cNvPr id="53" name="Shape 49"/>
          <p:cNvSpPr/>
          <p:nvPr/>
        </p:nvSpPr>
        <p:spPr>
          <a:xfrm>
            <a:off x="5340096" y="4471416"/>
            <a:ext cx="2240280" cy="621792"/>
          </a:xfrm>
          <a:prstGeom prst="rect">
            <a:avLst/>
          </a:prstGeom>
          <a:solidFill>
            <a:srgbClr val="FFFFFF"/>
          </a:solidFill>
          <a:ln w="12700">
            <a:solidFill>
              <a:srgbClr val="C9D1DC"/>
            </a:solidFill>
            <a:prstDash val="solid"/>
          </a:ln>
        </p:spPr>
      </p:sp>
      <p:sp>
        <p:nvSpPr>
          <p:cNvPr id="54" name="Text 50"/>
          <p:cNvSpPr txBox="1"/>
          <p:nvPr/>
        </p:nvSpPr>
        <p:spPr>
          <a:xfrm>
            <a:off x="5504688" y="4471416"/>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09</a:t>
            </a:r>
            <a:endParaRPr lang="en-US" sz="1300" dirty="0"/>
          </a:p>
        </p:txBody>
      </p:sp>
      <p:sp>
        <p:nvSpPr>
          <p:cNvPr id="55" name="Text 51"/>
          <p:cNvSpPr txBox="1"/>
          <p:nvPr/>
        </p:nvSpPr>
        <p:spPr>
          <a:xfrm>
            <a:off x="5907024" y="4471416"/>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資金繰り</a:t>
            </a:r>
            <a:endParaRPr lang="ja-JP" sz="1400" dirty="0"/>
          </a:p>
        </p:txBody>
      </p:sp>
      <p:sp>
        <p:nvSpPr>
          <p:cNvPr id="56" name="Shape 52"/>
          <p:cNvSpPr/>
          <p:nvPr/>
        </p:nvSpPr>
        <p:spPr>
          <a:xfrm>
            <a:off x="548640" y="5221224"/>
            <a:ext cx="2240280" cy="621792"/>
          </a:xfrm>
          <a:prstGeom prst="rect">
            <a:avLst/>
          </a:prstGeom>
          <a:solidFill>
            <a:srgbClr val="FFFFFF"/>
          </a:solidFill>
          <a:ln w="12700">
            <a:solidFill>
              <a:srgbClr val="C9D1DC"/>
            </a:solidFill>
            <a:prstDash val="solid"/>
          </a:ln>
        </p:spPr>
      </p:sp>
      <p:sp>
        <p:nvSpPr>
          <p:cNvPr id="57" name="Text 53"/>
          <p:cNvSpPr txBox="1"/>
          <p:nvPr/>
        </p:nvSpPr>
        <p:spPr>
          <a:xfrm>
            <a:off x="713232" y="5221224"/>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10</a:t>
            </a:r>
            <a:endParaRPr lang="en-US" sz="1300" dirty="0"/>
          </a:p>
        </p:txBody>
      </p:sp>
      <p:sp>
        <p:nvSpPr>
          <p:cNvPr id="58" name="Text 54"/>
          <p:cNvSpPr txBox="1"/>
          <p:nvPr/>
        </p:nvSpPr>
        <p:spPr>
          <a:xfrm>
            <a:off x="1115568" y="5221224"/>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月次経営管理</a:t>
            </a:r>
            <a:endParaRPr lang="ja-JP" sz="1400" dirty="0"/>
          </a:p>
        </p:txBody>
      </p:sp>
      <p:sp>
        <p:nvSpPr>
          <p:cNvPr id="59" name="Shape 55"/>
          <p:cNvSpPr/>
          <p:nvPr/>
        </p:nvSpPr>
        <p:spPr>
          <a:xfrm>
            <a:off x="2944368" y="5221224"/>
            <a:ext cx="2240280" cy="621792"/>
          </a:xfrm>
          <a:prstGeom prst="rect">
            <a:avLst/>
          </a:prstGeom>
          <a:solidFill>
            <a:srgbClr val="FFFFFF"/>
          </a:solidFill>
          <a:ln w="12700">
            <a:solidFill>
              <a:srgbClr val="C9D1DC"/>
            </a:solidFill>
            <a:prstDash val="solid"/>
          </a:ln>
        </p:spPr>
      </p:sp>
      <p:sp>
        <p:nvSpPr>
          <p:cNvPr id="60" name="Text 56"/>
          <p:cNvSpPr txBox="1"/>
          <p:nvPr/>
        </p:nvSpPr>
        <p:spPr>
          <a:xfrm>
            <a:off x="3108960" y="5221224"/>
            <a:ext cx="384048" cy="621792"/>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11</a:t>
            </a:r>
            <a:endParaRPr lang="en-US" sz="1300" dirty="0"/>
          </a:p>
        </p:txBody>
      </p:sp>
      <p:sp>
        <p:nvSpPr>
          <p:cNvPr id="61" name="Text 57"/>
          <p:cNvSpPr txBox="1"/>
          <p:nvPr/>
        </p:nvSpPr>
        <p:spPr>
          <a:xfrm>
            <a:off x="3511296" y="5221224"/>
            <a:ext cx="1581912" cy="621792"/>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SOP</a:t>
            </a:r>
            <a:endParaRPr lang="ja-JP" sz="1400" dirty="0"/>
          </a:p>
        </p:txBody>
      </p:sp>
      <p:sp>
        <p:nvSpPr>
          <p:cNvPr id="62" name="Shape 58"/>
          <p:cNvSpPr/>
          <p:nvPr/>
        </p:nvSpPr>
        <p:spPr>
          <a:xfrm>
            <a:off x="5340096" y="5221224"/>
            <a:ext cx="2240280" cy="621792"/>
          </a:xfrm>
          <a:prstGeom prst="rect">
            <a:avLst/>
          </a:prstGeom>
          <a:solidFill>
            <a:srgbClr val="22375C"/>
          </a:solidFill>
          <a:ln/>
        </p:spPr>
      </p:sp>
      <p:sp>
        <p:nvSpPr>
          <p:cNvPr id="63" name="Text 59"/>
          <p:cNvSpPr txBox="1"/>
          <p:nvPr/>
        </p:nvSpPr>
        <p:spPr>
          <a:xfrm>
            <a:off x="5504688" y="5221224"/>
            <a:ext cx="384048" cy="621792"/>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12</a:t>
            </a:r>
            <a:endParaRPr lang="en-US" sz="1300" dirty="0"/>
          </a:p>
        </p:txBody>
      </p:sp>
      <p:sp>
        <p:nvSpPr>
          <p:cNvPr id="64" name="Text 60"/>
          <p:cNvSpPr txBox="1"/>
          <p:nvPr/>
        </p:nvSpPr>
        <p:spPr>
          <a:xfrm>
            <a:off x="5907024" y="5221224"/>
            <a:ext cx="1581912" cy="621792"/>
          </a:xfrm>
          <a:prstGeom prst="rect">
            <a:avLst/>
          </a:prstGeom>
          <a:noFill/>
          <a:ln/>
        </p:spPr>
        <p:txBody>
          <a:bodyPr wrap="square" lIns="0" tIns="0" rIns="0" bIns="0" rtlCol="0" anchor="ctr"/>
          <a:lstStyle/>
          <a:p>
            <a:pPr algn="l" indent="0" marL="0">
              <a:buNone/>
            </a:pPr>
            <a:r>
              <a:rPr lang="ja-JP" altLang="en-US" sz="1400" b="1" dirty="0">
                <a:solidFill>
                  <a:srgbClr val="FFFFFF"/>
                </a:solidFill>
                <a:latin typeface="Yu Gothic" pitchFamily="34" charset="0"/>
                <a:ea typeface="Yu Gothic" charset="-128"/>
                <a:cs typeface="Yu Gothic" pitchFamily="34" charset="-120"/>
              </a:rPr>
              <a:t>代表現場離脱</a:t>
            </a:r>
            <a:endParaRPr lang="ja-JP" sz="1400" dirty="0"/>
          </a:p>
        </p:txBody>
      </p:sp>
      <p:sp>
        <p:nvSpPr>
          <p:cNvPr id="65" name="Shape 61"/>
          <p:cNvSpPr/>
          <p:nvPr/>
        </p:nvSpPr>
        <p:spPr>
          <a:xfrm>
            <a:off x="7863840" y="2971800"/>
            <a:ext cx="3776472" cy="2871216"/>
          </a:xfrm>
          <a:prstGeom prst="rect">
            <a:avLst/>
          </a:prstGeom>
          <a:solidFill>
            <a:srgbClr val="14284B"/>
          </a:solidFill>
          <a:ln/>
        </p:spPr>
      </p:sp>
      <p:sp>
        <p:nvSpPr>
          <p:cNvPr id="66" name="Text 62"/>
          <p:cNvSpPr txBox="1"/>
          <p:nvPr/>
        </p:nvSpPr>
        <p:spPr>
          <a:xfrm>
            <a:off x="8138160" y="3127248"/>
            <a:ext cx="3200400" cy="274320"/>
          </a:xfrm>
          <a:prstGeom prst="rect">
            <a:avLst/>
          </a:prstGeom>
          <a:noFill/>
          <a:ln/>
        </p:spPr>
        <p:txBody>
          <a:bodyPr wrap="square" lIns="0" tIns="0" rIns="0" bIns="0" rtlCol="0" anchor="ctr"/>
          <a:lstStyle/>
          <a:p>
            <a:pPr algn="l" indent="0" marL="0">
              <a:buNone/>
            </a:pPr>
            <a:r>
              <a:rPr lang="en-US" altLang="en-US" sz="1200" b="1" spc="200" kern="0" dirty="0">
                <a:solidFill>
                  <a:srgbClr val="C9A96E"/>
                </a:solidFill>
                <a:latin typeface="Arial" pitchFamily="34" charset="0"/>
                <a:ea typeface="Arial" charset="-128"/>
                <a:cs typeface="Arial" pitchFamily="34" charset="-120"/>
              </a:rPr>
              <a:t>EXIT CONDITION</a:t>
            </a:r>
            <a:endParaRPr lang="en-US" sz="1200" dirty="0"/>
          </a:p>
        </p:txBody>
      </p:sp>
      <p:sp>
        <p:nvSpPr>
          <p:cNvPr id="67" name="Text 63"/>
          <p:cNvSpPr txBox="1"/>
          <p:nvPr/>
        </p:nvSpPr>
        <p:spPr>
          <a:xfrm>
            <a:off x="8138160" y="3419856"/>
            <a:ext cx="3200400" cy="27432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YEAR 1 の終了条件</a:t>
            </a:r>
            <a:endParaRPr lang="ja-JP" sz="1200" dirty="0"/>
          </a:p>
        </p:txBody>
      </p:sp>
      <p:sp>
        <p:nvSpPr>
          <p:cNvPr id="68" name="Text 64"/>
          <p:cNvSpPr txBox="1"/>
          <p:nvPr/>
        </p:nvSpPr>
        <p:spPr>
          <a:xfrm>
            <a:off x="8138160" y="3840480"/>
            <a:ext cx="3291840" cy="1828800"/>
          </a:xfrm>
          <a:prstGeom prst="rect">
            <a:avLst/>
          </a:prstGeom>
          <a:noFill/>
          <a:ln/>
        </p:spPr>
        <p:txBody>
          <a:bodyPr wrap="square" lIns="0" tIns="0" rIns="0" bIns="0" rtlCol="0" anchor="t"/>
          <a:lstStyle/>
          <a:p>
            <a:pPr algn="l" indent="0" marL="0">
              <a:lnSpc>
                <a:spcPts val="3500"/>
              </a:lnSpc>
              <a:buNone/>
            </a:pPr>
            <a:r>
              <a:rPr lang="ja-JP" altLang="en-US" sz="2200" dirty="0">
                <a:solidFill>
                  <a:srgbClr val="FFFFFF"/>
                </a:solidFill>
                <a:latin typeface="Yu Mincho" pitchFamily="34" charset="0"/>
                <a:ea typeface="Yu Mincho" charset="-128"/>
                <a:cs typeface="Yu Mincho" pitchFamily="34" charset="-120"/>
              </a:rPr>
              <a:t>代表が1週間、</a:t>
            </a:r>
            <a:endParaRPr lang="ja-JP" sz="2200" dirty="0"/>
          </a:p>
          <a:p>
            <a:pPr algn="l" indent="0" marL="0">
              <a:lnSpc>
                <a:spcPts val="3500"/>
              </a:lnSpc>
              <a:buNone/>
            </a:pPr>
            <a:r>
              <a:rPr lang="ja-JP" altLang="en-US" sz="2200" dirty="0">
                <a:solidFill>
                  <a:srgbClr val="FFFFFF"/>
                </a:solidFill>
                <a:latin typeface="Yu Mincho" pitchFamily="34" charset="0"/>
                <a:ea typeface="Yu Mincho" charset="-128"/>
                <a:cs typeface="Yu Mincho" pitchFamily="34" charset="-120"/>
              </a:rPr>
              <a:t>日常オペレーションに</a:t>
            </a:r>
            <a:endParaRPr lang="ja-JP" sz="2200" dirty="0"/>
          </a:p>
          <a:p>
            <a:pPr algn="l" indent="0" marL="0">
              <a:lnSpc>
                <a:spcPts val="3500"/>
              </a:lnSpc>
              <a:buNone/>
            </a:pPr>
            <a:r>
              <a:rPr lang="ja-JP" altLang="en-US" sz="2200" dirty="0">
                <a:solidFill>
                  <a:srgbClr val="FFFFFF"/>
                </a:solidFill>
                <a:latin typeface="Yu Mincho" pitchFamily="34" charset="0"/>
                <a:ea typeface="Yu Mincho" charset="-128"/>
                <a:cs typeface="Yu Mincho" pitchFamily="34" charset="-120"/>
              </a:rPr>
              <a:t>入らなくても</a:t>
            </a:r>
            <a:endParaRPr lang="ja-JP" sz="2200" dirty="0"/>
          </a:p>
          <a:p>
            <a:pPr algn="l" indent="0" marL="0">
              <a:lnSpc>
                <a:spcPts val="3500"/>
              </a:lnSpc>
              <a:buNone/>
            </a:pPr>
            <a:r>
              <a:rPr lang="ja-JP" altLang="en-US" sz="2200" dirty="0">
                <a:solidFill>
                  <a:srgbClr val="FFFFFF"/>
                </a:solidFill>
                <a:latin typeface="Yu Mincho" pitchFamily="34" charset="0"/>
                <a:ea typeface="Yu Mincho" charset="-128"/>
                <a:cs typeface="Yu Mincho" pitchFamily="34" charset="-120"/>
              </a:rPr>
              <a:t>会社が回る。</a:t>
            </a:r>
            <a:endParaRPr lang="ja-JP"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11</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YEAR 2   2027–2028</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事業経営者から、グループ経営者へ。</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2700">
            <a:solidFill>
              <a:srgbClr val="C9D1DC"/>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C5CCD6"/>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11</a:t>
            </a:r>
            <a:endParaRPr lang="en-US" sz="1000" dirty="0"/>
          </a:p>
        </p:txBody>
      </p:sp>
      <p:sp>
        <p:nvSpPr>
          <p:cNvPr id="18" name="Shape 15"/>
          <p:cNvSpPr/>
          <p:nvPr/>
        </p:nvSpPr>
        <p:spPr>
          <a:xfrm>
            <a:off x="548640" y="1572768"/>
            <a:ext cx="11094415" cy="822960"/>
          </a:xfrm>
          <a:prstGeom prst="rect">
            <a:avLst/>
          </a:prstGeom>
          <a:solidFill>
            <a:srgbClr val="F3F5F8"/>
          </a:solidFill>
          <a:ln/>
        </p:spPr>
      </p:sp>
      <p:sp>
        <p:nvSpPr>
          <p:cNvPr id="19" name="Text 16"/>
          <p:cNvSpPr txBox="1"/>
          <p:nvPr/>
        </p:nvSpPr>
        <p:spPr>
          <a:xfrm>
            <a:off x="777240" y="1645920"/>
            <a:ext cx="1920240" cy="384048"/>
          </a:xfrm>
          <a:prstGeom prst="rect">
            <a:avLst/>
          </a:prstGeom>
          <a:noFill/>
          <a:ln/>
        </p:spPr>
        <p:txBody>
          <a:bodyPr wrap="square" lIns="0" tIns="0" rIns="0" bIns="0" rtlCol="0" anchor="ctr"/>
          <a:lstStyle/>
          <a:p>
            <a:pPr algn="l" indent="0" marL="0">
              <a:buNone/>
            </a:pPr>
            <a:r>
              <a:rPr lang="en-US" altLang="en-US" sz="2400" b="1" dirty="0">
                <a:solidFill>
                  <a:srgbClr val="14284B"/>
                </a:solidFill>
                <a:latin typeface="Cambria" pitchFamily="34" charset="0"/>
                <a:ea typeface="Cambria" charset="-128"/>
                <a:cs typeface="Cambria" pitchFamily="34" charset="-120"/>
              </a:rPr>
              <a:t>YEAR 2</a:t>
            </a:r>
            <a:endParaRPr lang="en-US" sz="2400" dirty="0"/>
          </a:p>
        </p:txBody>
      </p:sp>
      <p:sp>
        <p:nvSpPr>
          <p:cNvPr id="20" name="Text 17"/>
          <p:cNvSpPr txBox="1"/>
          <p:nvPr/>
        </p:nvSpPr>
        <p:spPr>
          <a:xfrm>
            <a:off x="777240" y="2039112"/>
            <a:ext cx="1920240" cy="237744"/>
          </a:xfrm>
          <a:prstGeom prst="rect">
            <a:avLst/>
          </a:prstGeom>
          <a:noFill/>
          <a:ln/>
        </p:spPr>
        <p:txBody>
          <a:bodyPr wrap="square" lIns="0" tIns="0" rIns="0" bIns="0" rtlCol="0" anchor="ctr"/>
          <a:lstStyle/>
          <a:p>
            <a:pPr algn="l" indent="0" marL="0">
              <a:buNone/>
            </a:pPr>
            <a:r>
              <a:rPr lang="en-US" altLang="en-US" sz="1200" dirty="0">
                <a:solidFill>
                  <a:srgbClr val="5B6675"/>
                </a:solidFill>
                <a:latin typeface="Arial" pitchFamily="34" charset="0"/>
                <a:ea typeface="Arial" charset="-128"/>
                <a:cs typeface="Arial" pitchFamily="34" charset="-120"/>
              </a:rPr>
              <a:t>2027.10–2028.9</a:t>
            </a:r>
            <a:endParaRPr lang="en-US" sz="1200" dirty="0"/>
          </a:p>
        </p:txBody>
      </p:sp>
      <p:sp>
        <p:nvSpPr>
          <p:cNvPr id="21" name="Shape 18"/>
          <p:cNvSpPr/>
          <p:nvPr/>
        </p:nvSpPr>
        <p:spPr>
          <a:xfrm>
            <a:off x="2788920" y="1728216"/>
            <a:ext cx="0" cy="512064"/>
          </a:xfrm>
          <a:prstGeom prst="line">
            <a:avLst/>
          </a:prstGeom>
          <a:noFill/>
          <a:ln w="9525">
            <a:solidFill>
              <a:srgbClr val="C9D1DC"/>
            </a:solidFill>
            <a:prstDash val="solid"/>
          </a:ln>
        </p:spPr>
      </p:sp>
      <p:sp>
        <p:nvSpPr>
          <p:cNvPr id="22" name="Text 19"/>
          <p:cNvSpPr txBox="1"/>
          <p:nvPr/>
        </p:nvSpPr>
        <p:spPr>
          <a:xfrm>
            <a:off x="3017520" y="1682496"/>
            <a:ext cx="402336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STAGE</a:t>
            </a:r>
            <a:endParaRPr lang="en-US" sz="1000" dirty="0"/>
          </a:p>
        </p:txBody>
      </p:sp>
      <p:sp>
        <p:nvSpPr>
          <p:cNvPr id="23" name="Text 20"/>
          <p:cNvSpPr txBox="1"/>
          <p:nvPr/>
        </p:nvSpPr>
        <p:spPr>
          <a:xfrm>
            <a:off x="3017520" y="1920240"/>
            <a:ext cx="4114800" cy="365760"/>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親会社設立・グループ化開始</a:t>
            </a:r>
            <a:endParaRPr lang="ja-JP" sz="1600" dirty="0"/>
          </a:p>
        </p:txBody>
      </p:sp>
      <p:graphicFrame>
        <p:nvGraphicFramePr>
          <p:cNvPr id="24" name="Chart 0" descr="グループ連結売上の暫定目標の推移（YEAR 2 を強調）"/>
          <p:cNvGraphicFramePr/>
          <p:nvPr/>
        </p:nvGraphicFramePr>
        <p:xfrm>
          <a:off x="7178040" y="1627632"/>
          <a:ext cx="2240280" cy="64008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9601200" y="1728216"/>
            <a:ext cx="0" cy="512064"/>
          </a:xfrm>
          <a:prstGeom prst="line">
            <a:avLst/>
          </a:prstGeom>
          <a:noFill/>
          <a:ln w="9525">
            <a:solidFill>
              <a:srgbClr val="C9D1DC"/>
            </a:solidFill>
            <a:prstDash val="solid"/>
          </a:ln>
        </p:spPr>
      </p:sp>
      <p:sp>
        <p:nvSpPr>
          <p:cNvPr id="26" name="Text 22"/>
          <p:cNvSpPr txBox="1"/>
          <p:nvPr/>
        </p:nvSpPr>
        <p:spPr>
          <a:xfrm>
            <a:off x="9710928" y="1682496"/>
            <a:ext cx="1792224" cy="219456"/>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グループ売上（暫定）</a:t>
            </a:r>
            <a:endParaRPr lang="ja-JP" sz="1000" dirty="0"/>
          </a:p>
        </p:txBody>
      </p:sp>
      <p:sp>
        <p:nvSpPr>
          <p:cNvPr id="27" name="Text 23"/>
          <p:cNvSpPr txBox="1"/>
          <p:nvPr/>
        </p:nvSpPr>
        <p:spPr>
          <a:xfrm>
            <a:off x="9710928" y="1901952"/>
            <a:ext cx="1792224" cy="420624"/>
          </a:xfrm>
          <a:prstGeom prst="rect">
            <a:avLst/>
          </a:prstGeom>
          <a:noFill/>
          <a:ln/>
        </p:spPr>
        <p:txBody>
          <a:bodyPr wrap="square" lIns="0" tIns="0" rIns="0" bIns="0" rtlCol="0" anchor="ctr"/>
          <a:lstStyle/>
          <a:p>
            <a:pPr algn="r" indent="0" marL="0">
              <a:buNone/>
            </a:pPr>
            <a:r>
              <a:rPr lang="en-US" altLang="en-US" sz="2600" b="1" dirty="0">
                <a:solidFill>
                  <a:srgbClr val="14284B"/>
                </a:solidFill>
                <a:latin typeface="Cambria" pitchFamily="34" charset="0"/>
                <a:ea typeface="Cambria" charset="-128"/>
                <a:cs typeface="Cambria" pitchFamily="34" charset="-120"/>
              </a:rPr>
              <a:t>5</a:t>
            </a:r>
            <a:pPr algn="r"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28" name="Text 24"/>
          <p:cNvSpPr txBox="1"/>
          <p:nvPr/>
        </p:nvSpPr>
        <p:spPr>
          <a:xfrm>
            <a:off x="548640" y="2606040"/>
            <a:ext cx="2743200" cy="256032"/>
          </a:xfrm>
          <a:prstGeom prst="rect">
            <a:avLst/>
          </a:prstGeom>
          <a:noFill/>
          <a:ln/>
        </p:spPr>
        <p:txBody>
          <a:bodyPr wrap="square" lIns="0" tIns="0" rIns="0" bIns="0" rtlCol="0" anchor="ctr"/>
          <a:lstStyle/>
          <a:p>
            <a:pPr algn="l" indent="0" marL="0">
              <a:buNone/>
            </a:pPr>
            <a:r>
              <a:rPr lang="ja-JP" altLang="en-US" sz="1200" b="1" dirty="0">
                <a:solidFill>
                  <a:srgbClr val="8C6D3F"/>
                </a:solidFill>
                <a:latin typeface="Yu Gothic" pitchFamily="34" charset="0"/>
                <a:ea typeface="Yu Gothic" charset="-128"/>
                <a:cs typeface="Yu Gothic" pitchFamily="34" charset="-120"/>
              </a:rPr>
              <a:t>最大イベント</a:t>
            </a:r>
            <a:endParaRPr lang="ja-JP" sz="1200" dirty="0"/>
          </a:p>
        </p:txBody>
      </p:sp>
      <p:sp>
        <p:nvSpPr>
          <p:cNvPr id="29" name="Text 25"/>
          <p:cNvSpPr txBox="1"/>
          <p:nvPr/>
        </p:nvSpPr>
        <p:spPr>
          <a:xfrm>
            <a:off x="548640" y="2862072"/>
            <a:ext cx="5120640" cy="457200"/>
          </a:xfrm>
          <a:prstGeom prst="rect">
            <a:avLst/>
          </a:prstGeom>
          <a:noFill/>
          <a:ln/>
        </p:spPr>
        <p:txBody>
          <a:bodyPr wrap="square" lIns="0" tIns="0" rIns="0" bIns="0" rtlCol="0" anchor="ctr"/>
          <a:lstStyle/>
          <a:p>
            <a:pPr algn="l" indent="0" marL="0">
              <a:buNone/>
            </a:pPr>
            <a:r>
              <a:rPr lang="ja-JP" altLang="en-US" sz="2200" dirty="0">
                <a:solidFill>
                  <a:srgbClr val="14284B"/>
                </a:solidFill>
                <a:latin typeface="Yu Mincho" pitchFamily="34" charset="0"/>
                <a:ea typeface="Yu Mincho" charset="-128"/>
                <a:cs typeface="Yu Mincho" pitchFamily="34" charset="-120"/>
              </a:rPr>
              <a:t>2028年3月 親会社設立</a:t>
            </a:r>
            <a:endParaRPr lang="ja-JP" sz="2200" dirty="0"/>
          </a:p>
        </p:txBody>
      </p:sp>
      <p:sp>
        <p:nvSpPr>
          <p:cNvPr id="30" name="Text 26"/>
          <p:cNvSpPr txBox="1"/>
          <p:nvPr/>
        </p:nvSpPr>
        <p:spPr>
          <a:xfrm>
            <a:off x="548640" y="3401568"/>
            <a:ext cx="2103120" cy="219456"/>
          </a:xfrm>
          <a:prstGeom prst="rect">
            <a:avLst/>
          </a:prstGeom>
          <a:noFill/>
          <a:ln/>
        </p:spPr>
        <p:txBody>
          <a:bodyPr wrap="square" lIns="0" tIns="0" rIns="0" bIns="0" rtlCol="0" anchor="ctr"/>
          <a:lstStyle/>
          <a:p>
            <a:pPr algn="l" indent="0" marL="0">
              <a:buNone/>
            </a:pPr>
            <a:r>
              <a:rPr lang="en-US" altLang="en-US" sz="1000" b="1" spc="200" kern="0" dirty="0">
                <a:solidFill>
                  <a:srgbClr val="5B6675"/>
                </a:solidFill>
                <a:latin typeface="Arial" pitchFamily="34" charset="0"/>
                <a:ea typeface="Arial" charset="-128"/>
                <a:cs typeface="Arial" pitchFamily="34" charset="-120"/>
              </a:rPr>
              <a:t>BEFORE</a:t>
            </a:r>
            <a:endParaRPr lang="en-US" sz="1000" dirty="0"/>
          </a:p>
        </p:txBody>
      </p:sp>
      <p:sp>
        <p:nvSpPr>
          <p:cNvPr id="31" name="Text 27"/>
          <p:cNvSpPr txBox="1"/>
          <p:nvPr/>
        </p:nvSpPr>
        <p:spPr>
          <a:xfrm>
            <a:off x="548640" y="3657600"/>
            <a:ext cx="2103120" cy="384048"/>
          </a:xfrm>
          <a:prstGeom prst="rect">
            <a:avLst/>
          </a:prstGeom>
          <a:noFill/>
          <a:ln w="12700">
            <a:solidFill>
              <a:srgbClr val="14284B"/>
            </a:solidFill>
          </a:ln>
        </p:spPr>
        <p:txBody>
          <a:bodyPr wrap="square" lIns="0" tIns="0" rIns="0" bIns="0" rtlCol="0" anchor="ctr"/>
          <a:lstStyle/>
          <a:p>
            <a:pPr algn="ctr" indent="0" marL="0">
              <a:buNone/>
            </a:pPr>
            <a:r>
              <a:rPr lang="ja-JP" altLang="en-US" sz="1300" b="1" dirty="0">
                <a:solidFill>
                  <a:srgbClr val="14284B"/>
                </a:solidFill>
                <a:latin typeface="Yu Gothic" pitchFamily="34" charset="0"/>
                <a:ea typeface="Yu Gothic" charset="-128"/>
                <a:cs typeface="Yu Gothic" pitchFamily="34" charset="-120"/>
              </a:rPr>
              <a:t>創業者</a:t>
            </a:r>
            <a:endParaRPr lang="ja-JP" sz="1300" dirty="0"/>
          </a:p>
        </p:txBody>
      </p:sp>
      <p:sp>
        <p:nvSpPr>
          <p:cNvPr id="32" name="Shape 28"/>
          <p:cNvSpPr/>
          <p:nvPr/>
        </p:nvSpPr>
        <p:spPr>
          <a:xfrm>
            <a:off x="1600200" y="4041648"/>
            <a:ext cx="0" cy="987552"/>
          </a:xfrm>
          <a:prstGeom prst="line">
            <a:avLst/>
          </a:prstGeom>
          <a:noFill/>
          <a:ln w="12700">
            <a:solidFill>
              <a:srgbClr val="14284B"/>
            </a:solidFill>
            <a:prstDash val="solid"/>
          </a:ln>
        </p:spPr>
      </p:sp>
      <p:sp>
        <p:nvSpPr>
          <p:cNvPr id="33" name="Text 29"/>
          <p:cNvSpPr txBox="1"/>
          <p:nvPr/>
        </p:nvSpPr>
        <p:spPr>
          <a:xfrm>
            <a:off x="548640" y="5029200"/>
            <a:ext cx="2103120" cy="438912"/>
          </a:xfrm>
          <a:prstGeom prst="rect">
            <a:avLst/>
          </a:prstGeom>
          <a:noFill/>
          <a:ln w="12700">
            <a:solidFill>
              <a:srgbClr val="14284B"/>
            </a:solidFill>
          </a:ln>
        </p:spPr>
        <p:txBody>
          <a:bodyPr wrap="square" lIns="0" tIns="0" rIns="0" bIns="0" rtlCol="0" anchor="ctr"/>
          <a:lstStyle/>
          <a:p>
            <a:pPr algn="ctr" indent="0" marL="0">
              <a:buNone/>
            </a:pPr>
            <a:r>
              <a:rPr lang="ja-JP" altLang="en-US" sz="1200" b="1" dirty="0">
                <a:solidFill>
                  <a:srgbClr val="14284B"/>
                </a:solidFill>
                <a:latin typeface="Yu Gothic" pitchFamily="34" charset="0"/>
                <a:ea typeface="Yu Gothic" charset="-128"/>
                <a:cs typeface="Yu Gothic" pitchFamily="34" charset="-120"/>
              </a:rPr>
              <a:t>株式会社ROOTIVE</a:t>
            </a:r>
            <a:endParaRPr lang="ja-JP" sz="1200" dirty="0"/>
          </a:p>
        </p:txBody>
      </p:sp>
      <p:sp>
        <p:nvSpPr>
          <p:cNvPr id="34" name="Shape 30"/>
          <p:cNvSpPr/>
          <p:nvPr/>
        </p:nvSpPr>
        <p:spPr>
          <a:xfrm>
            <a:off x="2743200" y="4562856"/>
            <a:ext cx="365760" cy="0"/>
          </a:xfrm>
          <a:prstGeom prst="line">
            <a:avLst/>
          </a:prstGeom>
          <a:noFill/>
          <a:ln w="25400">
            <a:solidFill>
              <a:srgbClr val="B08D57"/>
            </a:solidFill>
            <a:prstDash val="solid"/>
            <a:tailEnd type="triangle"/>
          </a:ln>
        </p:spPr>
      </p:sp>
      <p:sp>
        <p:nvSpPr>
          <p:cNvPr id="35" name="Text 31"/>
          <p:cNvSpPr txBox="1"/>
          <p:nvPr/>
        </p:nvSpPr>
        <p:spPr>
          <a:xfrm>
            <a:off x="3291840" y="3401568"/>
            <a:ext cx="237744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AFTER</a:t>
            </a:r>
            <a:endParaRPr lang="en-US" sz="1000" dirty="0"/>
          </a:p>
        </p:txBody>
      </p:sp>
      <p:sp>
        <p:nvSpPr>
          <p:cNvPr id="36" name="Text 32"/>
          <p:cNvSpPr txBox="1"/>
          <p:nvPr/>
        </p:nvSpPr>
        <p:spPr>
          <a:xfrm>
            <a:off x="3291840" y="3657600"/>
            <a:ext cx="2377440" cy="384048"/>
          </a:xfrm>
          <a:prstGeom prst="rect">
            <a:avLst/>
          </a:prstGeom>
          <a:noFill/>
          <a:ln w="12700">
            <a:solidFill>
              <a:srgbClr val="14284B"/>
            </a:solidFill>
          </a:ln>
        </p:spPr>
        <p:txBody>
          <a:bodyPr wrap="square" lIns="0" tIns="0" rIns="0" bIns="0" rtlCol="0" anchor="ctr"/>
          <a:lstStyle/>
          <a:p>
            <a:pPr algn="ctr" indent="0" marL="0">
              <a:buNone/>
            </a:pPr>
            <a:r>
              <a:rPr lang="ja-JP" altLang="en-US" sz="1300" b="1" dirty="0">
                <a:solidFill>
                  <a:srgbClr val="14284B"/>
                </a:solidFill>
                <a:latin typeface="Yu Gothic" pitchFamily="34" charset="0"/>
                <a:ea typeface="Yu Gothic" charset="-128"/>
                <a:cs typeface="Yu Gothic" pitchFamily="34" charset="-120"/>
              </a:rPr>
              <a:t>創業者</a:t>
            </a:r>
            <a:endParaRPr lang="ja-JP" sz="1300" dirty="0"/>
          </a:p>
        </p:txBody>
      </p:sp>
      <p:sp>
        <p:nvSpPr>
          <p:cNvPr id="37" name="Shape 33"/>
          <p:cNvSpPr/>
          <p:nvPr/>
        </p:nvSpPr>
        <p:spPr>
          <a:xfrm>
            <a:off x="4480560" y="4041648"/>
            <a:ext cx="0" cy="274320"/>
          </a:xfrm>
          <a:prstGeom prst="line">
            <a:avLst/>
          </a:prstGeom>
          <a:noFill/>
          <a:ln w="12700">
            <a:solidFill>
              <a:srgbClr val="14284B"/>
            </a:solidFill>
            <a:prstDash val="solid"/>
          </a:ln>
        </p:spPr>
      </p:sp>
      <p:sp>
        <p:nvSpPr>
          <p:cNvPr id="38" name="Text 34"/>
          <p:cNvSpPr txBox="1"/>
          <p:nvPr/>
        </p:nvSpPr>
        <p:spPr>
          <a:xfrm>
            <a:off x="4572000" y="4069080"/>
            <a:ext cx="640080" cy="219456"/>
          </a:xfrm>
          <a:prstGeom prst="rect">
            <a:avLst/>
          </a:prstGeom>
          <a:noFill/>
          <a:ln/>
        </p:spPr>
        <p:txBody>
          <a:bodyPr wrap="square" lIns="0" tIns="0" rIns="0" bIns="0" rtlCol="0" anchor="ctr"/>
          <a:lstStyle/>
          <a:p>
            <a:pPr algn="l" indent="0" marL="0">
              <a:buNone/>
            </a:pPr>
            <a:r>
              <a:rPr lang="en-US" altLang="en-US" sz="1000" b="1" dirty="0">
                <a:solidFill>
                  <a:srgbClr val="8C6D3F"/>
                </a:solidFill>
                <a:latin typeface="Arial" pitchFamily="34" charset="0"/>
                <a:ea typeface="Arial" charset="-128"/>
                <a:cs typeface="Arial" pitchFamily="34" charset="-120"/>
              </a:rPr>
              <a:t>100%</a:t>
            </a:r>
            <a:endParaRPr lang="en-US" sz="1000" dirty="0"/>
          </a:p>
        </p:txBody>
      </p:sp>
      <p:sp>
        <p:nvSpPr>
          <p:cNvPr id="39" name="Text 35"/>
          <p:cNvSpPr txBox="1"/>
          <p:nvPr/>
        </p:nvSpPr>
        <p:spPr>
          <a:xfrm>
            <a:off x="3291840" y="4315968"/>
            <a:ext cx="2377440" cy="438912"/>
          </a:xfrm>
          <a:prstGeom prst="rect">
            <a:avLst/>
          </a:prstGeom>
          <a:solidFill>
            <a:srgbClr val="14284B"/>
          </a:solidFill>
          <a:ln/>
        </p:spPr>
        <p:txBody>
          <a:bodyPr wrap="square" lIns="0" tIns="0" rIns="0" bIns="0" rtlCol="0" anchor="ctr"/>
          <a:lstStyle/>
          <a:p>
            <a:pPr algn="ctr" indent="0" marL="0">
              <a:buNone/>
            </a:pPr>
            <a:r>
              <a:rPr lang="ja-JP" altLang="en-US" sz="1300" b="1" dirty="0">
                <a:solidFill>
                  <a:srgbClr val="FFFFFF"/>
                </a:solidFill>
                <a:latin typeface="Yu Gothic" pitchFamily="34" charset="0"/>
                <a:ea typeface="Yu Gothic" charset="-128"/>
                <a:cs typeface="Yu Gothic" pitchFamily="34" charset="-120"/>
              </a:rPr>
              <a:t>親会社</a:t>
            </a:r>
            <a:endParaRPr lang="ja-JP" sz="1300" dirty="0"/>
          </a:p>
        </p:txBody>
      </p:sp>
      <p:sp>
        <p:nvSpPr>
          <p:cNvPr id="40" name="Shape 36"/>
          <p:cNvSpPr/>
          <p:nvPr/>
        </p:nvSpPr>
        <p:spPr>
          <a:xfrm>
            <a:off x="4480560" y="4754880"/>
            <a:ext cx="0" cy="274320"/>
          </a:xfrm>
          <a:prstGeom prst="line">
            <a:avLst/>
          </a:prstGeom>
          <a:noFill/>
          <a:ln w="12700">
            <a:solidFill>
              <a:srgbClr val="14284B"/>
            </a:solidFill>
            <a:prstDash val="solid"/>
          </a:ln>
        </p:spPr>
      </p:sp>
      <p:sp>
        <p:nvSpPr>
          <p:cNvPr id="41" name="Text 37"/>
          <p:cNvSpPr txBox="1"/>
          <p:nvPr/>
        </p:nvSpPr>
        <p:spPr>
          <a:xfrm>
            <a:off x="4572000" y="4782312"/>
            <a:ext cx="640080" cy="219456"/>
          </a:xfrm>
          <a:prstGeom prst="rect">
            <a:avLst/>
          </a:prstGeom>
          <a:noFill/>
          <a:ln/>
        </p:spPr>
        <p:txBody>
          <a:bodyPr wrap="square" lIns="0" tIns="0" rIns="0" bIns="0" rtlCol="0" anchor="ctr"/>
          <a:lstStyle/>
          <a:p>
            <a:pPr algn="l" indent="0" marL="0">
              <a:buNone/>
            </a:pPr>
            <a:r>
              <a:rPr lang="en-US" altLang="en-US" sz="1000" b="1" dirty="0">
                <a:solidFill>
                  <a:srgbClr val="8C6D3F"/>
                </a:solidFill>
                <a:latin typeface="Arial" pitchFamily="34" charset="0"/>
                <a:ea typeface="Arial" charset="-128"/>
                <a:cs typeface="Arial" pitchFamily="34" charset="-120"/>
              </a:rPr>
              <a:t>100%</a:t>
            </a:r>
            <a:endParaRPr lang="en-US" sz="1000" dirty="0"/>
          </a:p>
        </p:txBody>
      </p:sp>
      <p:sp>
        <p:nvSpPr>
          <p:cNvPr id="42" name="Text 38"/>
          <p:cNvSpPr txBox="1"/>
          <p:nvPr/>
        </p:nvSpPr>
        <p:spPr>
          <a:xfrm>
            <a:off x="3291840" y="5029200"/>
            <a:ext cx="2377440" cy="438912"/>
          </a:xfrm>
          <a:prstGeom prst="rect">
            <a:avLst/>
          </a:prstGeom>
          <a:noFill/>
          <a:ln w="12700">
            <a:solidFill>
              <a:srgbClr val="14284B"/>
            </a:solidFill>
          </a:ln>
        </p:spPr>
        <p:txBody>
          <a:bodyPr wrap="square" lIns="0" tIns="0" rIns="0" bIns="0" rtlCol="0" anchor="ctr"/>
          <a:lstStyle/>
          <a:p>
            <a:pPr algn="ctr" indent="0" marL="0">
              <a:buNone/>
            </a:pPr>
            <a:r>
              <a:rPr lang="ja-JP" altLang="en-US" sz="1200" b="1" dirty="0">
                <a:solidFill>
                  <a:srgbClr val="14284B"/>
                </a:solidFill>
                <a:latin typeface="Yu Gothic" pitchFamily="34" charset="0"/>
                <a:ea typeface="Yu Gothic" charset="-128"/>
                <a:cs typeface="Yu Gothic" pitchFamily="34" charset="-120"/>
              </a:rPr>
              <a:t>株式会社ROOTIVE</a:t>
            </a:r>
            <a:endParaRPr lang="ja-JP" sz="1200" dirty="0"/>
          </a:p>
        </p:txBody>
      </p:sp>
      <p:sp>
        <p:nvSpPr>
          <p:cNvPr id="43" name="Text 39"/>
          <p:cNvSpPr txBox="1"/>
          <p:nvPr/>
        </p:nvSpPr>
        <p:spPr>
          <a:xfrm>
            <a:off x="548640" y="5577840"/>
            <a:ext cx="5120640" cy="256032"/>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親会社を設立し、ROOTIVEを子会社化する。</a:t>
            </a:r>
            <a:endParaRPr lang="ja-JP" sz="1100" dirty="0"/>
          </a:p>
        </p:txBody>
      </p:sp>
      <p:sp>
        <p:nvSpPr>
          <p:cNvPr id="44" name="Text 40"/>
          <p:cNvSpPr txBox="1"/>
          <p:nvPr/>
        </p:nvSpPr>
        <p:spPr>
          <a:xfrm>
            <a:off x="6172200" y="2606040"/>
            <a:ext cx="539496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重点施策（8）</a:t>
            </a:r>
            <a:pPr algn="l" indent="0" marL="0">
              <a:buNone/>
            </a:pPr>
            <a:r>
              <a:rPr lang="en-US" altLang="en-US" sz="1000" b="1" spc="200" kern="0" dirty="0">
                <a:solidFill>
                  <a:srgbClr val="8C6D3F"/>
                </a:solidFill>
                <a:latin typeface="Arial" pitchFamily="34" charset="0"/>
                <a:ea typeface="Arial" charset="-128"/>
                <a:cs typeface="Arial" pitchFamily="34" charset="-120"/>
              </a:rPr>
              <a:t>   KEY INITIATIVES</a:t>
            </a:r>
            <a:endParaRPr lang="ja-JP" sz="1400" dirty="0"/>
          </a:p>
        </p:txBody>
      </p:sp>
      <p:sp>
        <p:nvSpPr>
          <p:cNvPr id="45" name="Shape 41"/>
          <p:cNvSpPr/>
          <p:nvPr/>
        </p:nvSpPr>
        <p:spPr>
          <a:xfrm>
            <a:off x="6172200" y="2971800"/>
            <a:ext cx="2651760" cy="585216"/>
          </a:xfrm>
          <a:prstGeom prst="rect">
            <a:avLst/>
          </a:prstGeom>
          <a:solidFill>
            <a:srgbClr val="22375C"/>
          </a:solidFill>
          <a:ln/>
        </p:spPr>
      </p:sp>
      <p:sp>
        <p:nvSpPr>
          <p:cNvPr id="46" name="Text 42"/>
          <p:cNvSpPr txBox="1"/>
          <p:nvPr/>
        </p:nvSpPr>
        <p:spPr>
          <a:xfrm>
            <a:off x="6336792" y="2971800"/>
            <a:ext cx="384048" cy="585216"/>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01</a:t>
            </a:r>
            <a:endParaRPr lang="en-US" sz="1300" dirty="0"/>
          </a:p>
        </p:txBody>
      </p:sp>
      <p:sp>
        <p:nvSpPr>
          <p:cNvPr id="47" name="Text 43"/>
          <p:cNvSpPr txBox="1"/>
          <p:nvPr/>
        </p:nvSpPr>
        <p:spPr>
          <a:xfrm>
            <a:off x="6739128" y="2971800"/>
            <a:ext cx="1993392" cy="585216"/>
          </a:xfrm>
          <a:prstGeom prst="rect">
            <a:avLst/>
          </a:prstGeom>
          <a:noFill/>
          <a:ln/>
        </p:spPr>
        <p:txBody>
          <a:bodyPr wrap="square" lIns="0" tIns="0" rIns="0" bIns="0" rtlCol="0" anchor="ctr"/>
          <a:lstStyle/>
          <a:p>
            <a:pPr algn="l" indent="0" marL="0">
              <a:buNone/>
            </a:pPr>
            <a:r>
              <a:rPr lang="ja-JP" altLang="en-US" sz="1400" b="1" dirty="0">
                <a:solidFill>
                  <a:srgbClr val="FFFFFF"/>
                </a:solidFill>
                <a:latin typeface="Yu Gothic" pitchFamily="34" charset="0"/>
                <a:ea typeface="Yu Gothic" charset="-128"/>
                <a:cs typeface="Yu Gothic" pitchFamily="34" charset="-120"/>
              </a:rPr>
              <a:t>親会社設立</a:t>
            </a:r>
            <a:endParaRPr lang="ja-JP" sz="1400" dirty="0"/>
          </a:p>
        </p:txBody>
      </p:sp>
      <p:sp>
        <p:nvSpPr>
          <p:cNvPr id="48" name="Shape 44"/>
          <p:cNvSpPr/>
          <p:nvPr/>
        </p:nvSpPr>
        <p:spPr>
          <a:xfrm>
            <a:off x="8988552" y="2971800"/>
            <a:ext cx="2651760" cy="585216"/>
          </a:xfrm>
          <a:prstGeom prst="rect">
            <a:avLst/>
          </a:prstGeom>
          <a:solidFill>
            <a:srgbClr val="22375C"/>
          </a:solidFill>
          <a:ln/>
        </p:spPr>
      </p:sp>
      <p:sp>
        <p:nvSpPr>
          <p:cNvPr id="49" name="Text 45"/>
          <p:cNvSpPr txBox="1"/>
          <p:nvPr/>
        </p:nvSpPr>
        <p:spPr>
          <a:xfrm>
            <a:off x="9153144" y="2971800"/>
            <a:ext cx="384048" cy="585216"/>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02</a:t>
            </a:r>
            <a:endParaRPr lang="en-US" sz="1300" dirty="0"/>
          </a:p>
        </p:txBody>
      </p:sp>
      <p:sp>
        <p:nvSpPr>
          <p:cNvPr id="50" name="Text 46"/>
          <p:cNvSpPr txBox="1"/>
          <p:nvPr/>
        </p:nvSpPr>
        <p:spPr>
          <a:xfrm>
            <a:off x="9555480" y="2971800"/>
            <a:ext cx="1993392" cy="585216"/>
          </a:xfrm>
          <a:prstGeom prst="rect">
            <a:avLst/>
          </a:prstGeom>
          <a:noFill/>
          <a:ln/>
        </p:spPr>
        <p:txBody>
          <a:bodyPr wrap="square" lIns="0" tIns="0" rIns="0" bIns="0" rtlCol="0" anchor="ctr"/>
          <a:lstStyle/>
          <a:p>
            <a:pPr algn="l" indent="0" marL="0">
              <a:buNone/>
            </a:pPr>
            <a:r>
              <a:rPr lang="ja-JP" altLang="en-US" sz="1400" b="1" dirty="0">
                <a:solidFill>
                  <a:srgbClr val="FFFFFF"/>
                </a:solidFill>
                <a:latin typeface="Yu Gothic" pitchFamily="34" charset="0"/>
                <a:ea typeface="Yu Gothic" charset="-128"/>
                <a:cs typeface="Yu Gothic" pitchFamily="34" charset="-120"/>
              </a:rPr>
              <a:t>ROOTIVE子会社化</a:t>
            </a:r>
            <a:endParaRPr lang="ja-JP" sz="1400" dirty="0"/>
          </a:p>
        </p:txBody>
      </p:sp>
      <p:sp>
        <p:nvSpPr>
          <p:cNvPr id="51" name="Shape 47"/>
          <p:cNvSpPr/>
          <p:nvPr/>
        </p:nvSpPr>
        <p:spPr>
          <a:xfrm>
            <a:off x="6172200" y="3685032"/>
            <a:ext cx="2651760" cy="585216"/>
          </a:xfrm>
          <a:prstGeom prst="rect">
            <a:avLst/>
          </a:prstGeom>
          <a:solidFill>
            <a:srgbClr val="FFFFFF"/>
          </a:solidFill>
          <a:ln w="12700">
            <a:solidFill>
              <a:srgbClr val="C9D1DC"/>
            </a:solidFill>
            <a:prstDash val="solid"/>
          </a:ln>
        </p:spPr>
      </p:sp>
      <p:sp>
        <p:nvSpPr>
          <p:cNvPr id="52" name="Text 48"/>
          <p:cNvSpPr txBox="1"/>
          <p:nvPr/>
        </p:nvSpPr>
        <p:spPr>
          <a:xfrm>
            <a:off x="6336792" y="3685032"/>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03</a:t>
            </a:r>
            <a:endParaRPr lang="en-US" sz="1300" dirty="0"/>
          </a:p>
        </p:txBody>
      </p:sp>
      <p:sp>
        <p:nvSpPr>
          <p:cNvPr id="53" name="Text 49"/>
          <p:cNvSpPr txBox="1"/>
          <p:nvPr/>
        </p:nvSpPr>
        <p:spPr>
          <a:xfrm>
            <a:off x="6739128" y="3685032"/>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グループ管理</a:t>
            </a:r>
            <a:endParaRPr lang="ja-JP" sz="1400" dirty="0"/>
          </a:p>
        </p:txBody>
      </p:sp>
      <p:sp>
        <p:nvSpPr>
          <p:cNvPr id="54" name="Shape 50"/>
          <p:cNvSpPr/>
          <p:nvPr/>
        </p:nvSpPr>
        <p:spPr>
          <a:xfrm>
            <a:off x="8988552" y="3685032"/>
            <a:ext cx="2651760" cy="585216"/>
          </a:xfrm>
          <a:prstGeom prst="rect">
            <a:avLst/>
          </a:prstGeom>
          <a:solidFill>
            <a:srgbClr val="FFFFFF"/>
          </a:solidFill>
          <a:ln w="12700">
            <a:solidFill>
              <a:srgbClr val="C9D1DC"/>
            </a:solidFill>
            <a:prstDash val="solid"/>
          </a:ln>
        </p:spPr>
      </p:sp>
      <p:sp>
        <p:nvSpPr>
          <p:cNvPr id="55" name="Text 51"/>
          <p:cNvSpPr txBox="1"/>
          <p:nvPr/>
        </p:nvSpPr>
        <p:spPr>
          <a:xfrm>
            <a:off x="9153144" y="3685032"/>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04</a:t>
            </a:r>
            <a:endParaRPr lang="en-US" sz="1300" dirty="0"/>
          </a:p>
        </p:txBody>
      </p:sp>
      <p:sp>
        <p:nvSpPr>
          <p:cNvPr id="56" name="Text 52"/>
          <p:cNvSpPr txBox="1"/>
          <p:nvPr/>
        </p:nvSpPr>
        <p:spPr>
          <a:xfrm>
            <a:off x="9555480" y="3685032"/>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金融機関取引強化</a:t>
            </a:r>
            <a:endParaRPr lang="ja-JP" sz="1400" dirty="0"/>
          </a:p>
        </p:txBody>
      </p:sp>
      <p:sp>
        <p:nvSpPr>
          <p:cNvPr id="57" name="Shape 53"/>
          <p:cNvSpPr/>
          <p:nvPr/>
        </p:nvSpPr>
        <p:spPr>
          <a:xfrm>
            <a:off x="6172200" y="4398264"/>
            <a:ext cx="2651760" cy="585216"/>
          </a:xfrm>
          <a:prstGeom prst="rect">
            <a:avLst/>
          </a:prstGeom>
          <a:solidFill>
            <a:srgbClr val="FFFFFF"/>
          </a:solidFill>
          <a:ln w="12700">
            <a:solidFill>
              <a:srgbClr val="C9D1DC"/>
            </a:solidFill>
            <a:prstDash val="solid"/>
          </a:ln>
        </p:spPr>
      </p:sp>
      <p:sp>
        <p:nvSpPr>
          <p:cNvPr id="58" name="Text 54"/>
          <p:cNvSpPr txBox="1"/>
          <p:nvPr/>
        </p:nvSpPr>
        <p:spPr>
          <a:xfrm>
            <a:off x="6336792" y="4398264"/>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05</a:t>
            </a:r>
            <a:endParaRPr lang="en-US" sz="1300" dirty="0"/>
          </a:p>
        </p:txBody>
      </p:sp>
      <p:sp>
        <p:nvSpPr>
          <p:cNvPr id="59" name="Text 55"/>
          <p:cNvSpPr txBox="1"/>
          <p:nvPr/>
        </p:nvSpPr>
        <p:spPr>
          <a:xfrm>
            <a:off x="6739128" y="4398264"/>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M&amp;A融資準備</a:t>
            </a:r>
            <a:endParaRPr lang="ja-JP" sz="1400" dirty="0"/>
          </a:p>
        </p:txBody>
      </p:sp>
      <p:sp>
        <p:nvSpPr>
          <p:cNvPr id="60" name="Shape 56"/>
          <p:cNvSpPr/>
          <p:nvPr/>
        </p:nvSpPr>
        <p:spPr>
          <a:xfrm>
            <a:off x="8988552" y="4398264"/>
            <a:ext cx="2651760" cy="585216"/>
          </a:xfrm>
          <a:prstGeom prst="rect">
            <a:avLst/>
          </a:prstGeom>
          <a:solidFill>
            <a:srgbClr val="FFFFFF"/>
          </a:solidFill>
          <a:ln w="12700">
            <a:solidFill>
              <a:srgbClr val="C9D1DC"/>
            </a:solidFill>
            <a:prstDash val="solid"/>
          </a:ln>
        </p:spPr>
      </p:sp>
      <p:sp>
        <p:nvSpPr>
          <p:cNvPr id="61" name="Text 57"/>
          <p:cNvSpPr txBox="1"/>
          <p:nvPr/>
        </p:nvSpPr>
        <p:spPr>
          <a:xfrm>
            <a:off x="9153144" y="4398264"/>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06</a:t>
            </a:r>
            <a:endParaRPr lang="en-US" sz="1300" dirty="0"/>
          </a:p>
        </p:txBody>
      </p:sp>
      <p:sp>
        <p:nvSpPr>
          <p:cNvPr id="62" name="Text 58"/>
          <p:cNvSpPr txBox="1"/>
          <p:nvPr/>
        </p:nvSpPr>
        <p:spPr>
          <a:xfrm>
            <a:off x="9555480" y="4398264"/>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M&amp;Aソーシング</a:t>
            </a:r>
            <a:endParaRPr lang="ja-JP" sz="1400" dirty="0"/>
          </a:p>
        </p:txBody>
      </p:sp>
      <p:sp>
        <p:nvSpPr>
          <p:cNvPr id="63" name="Shape 59"/>
          <p:cNvSpPr/>
          <p:nvPr/>
        </p:nvSpPr>
        <p:spPr>
          <a:xfrm>
            <a:off x="6172200" y="5111496"/>
            <a:ext cx="2651760" cy="585216"/>
          </a:xfrm>
          <a:prstGeom prst="rect">
            <a:avLst/>
          </a:prstGeom>
          <a:solidFill>
            <a:srgbClr val="FFFFFF"/>
          </a:solidFill>
          <a:ln w="12700">
            <a:solidFill>
              <a:srgbClr val="C9D1DC"/>
            </a:solidFill>
            <a:prstDash val="solid"/>
          </a:ln>
        </p:spPr>
      </p:sp>
      <p:sp>
        <p:nvSpPr>
          <p:cNvPr id="64" name="Text 60"/>
          <p:cNvSpPr txBox="1"/>
          <p:nvPr/>
        </p:nvSpPr>
        <p:spPr>
          <a:xfrm>
            <a:off x="6336792" y="5111496"/>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07</a:t>
            </a:r>
            <a:endParaRPr lang="en-US" sz="1300" dirty="0"/>
          </a:p>
        </p:txBody>
      </p:sp>
      <p:sp>
        <p:nvSpPr>
          <p:cNvPr id="65" name="Text 61"/>
          <p:cNvSpPr txBox="1"/>
          <p:nvPr/>
        </p:nvSpPr>
        <p:spPr>
          <a:xfrm>
            <a:off x="6739128" y="5111496"/>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経営者候補育成</a:t>
            </a:r>
            <a:endParaRPr lang="ja-JP" sz="1400" dirty="0"/>
          </a:p>
        </p:txBody>
      </p:sp>
      <p:sp>
        <p:nvSpPr>
          <p:cNvPr id="66" name="Shape 62"/>
          <p:cNvSpPr/>
          <p:nvPr/>
        </p:nvSpPr>
        <p:spPr>
          <a:xfrm>
            <a:off x="8988552" y="5111496"/>
            <a:ext cx="2651760" cy="585216"/>
          </a:xfrm>
          <a:prstGeom prst="rect">
            <a:avLst/>
          </a:prstGeom>
          <a:solidFill>
            <a:srgbClr val="FFFFFF"/>
          </a:solidFill>
          <a:ln w="12700">
            <a:solidFill>
              <a:srgbClr val="C9D1DC"/>
            </a:solidFill>
            <a:prstDash val="solid"/>
          </a:ln>
        </p:spPr>
      </p:sp>
      <p:sp>
        <p:nvSpPr>
          <p:cNvPr id="67" name="Text 63"/>
          <p:cNvSpPr txBox="1"/>
          <p:nvPr/>
        </p:nvSpPr>
        <p:spPr>
          <a:xfrm>
            <a:off x="9153144" y="5111496"/>
            <a:ext cx="384048" cy="585216"/>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08</a:t>
            </a:r>
            <a:endParaRPr lang="en-US" sz="1300" dirty="0"/>
          </a:p>
        </p:txBody>
      </p:sp>
      <p:sp>
        <p:nvSpPr>
          <p:cNvPr id="68" name="Text 64"/>
          <p:cNvSpPr txBox="1"/>
          <p:nvPr/>
        </p:nvSpPr>
        <p:spPr>
          <a:xfrm>
            <a:off x="9555480" y="5111496"/>
            <a:ext cx="1993392" cy="585216"/>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新規事業検討</a:t>
            </a:r>
            <a:endParaRPr lang="ja-JP"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12</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YEAR 3   2028–2029</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最初のM&amp;Aを成功させる。</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5CCD6"/>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C5CCD6"/>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12</a:t>
            </a:r>
            <a:endParaRPr lang="en-US" sz="1000" dirty="0"/>
          </a:p>
        </p:txBody>
      </p:sp>
      <p:sp>
        <p:nvSpPr>
          <p:cNvPr id="18" name="Shape 15"/>
          <p:cNvSpPr/>
          <p:nvPr/>
        </p:nvSpPr>
        <p:spPr>
          <a:xfrm>
            <a:off x="548640" y="1572768"/>
            <a:ext cx="11094415" cy="822960"/>
          </a:xfrm>
          <a:prstGeom prst="rect">
            <a:avLst/>
          </a:prstGeom>
          <a:solidFill>
            <a:srgbClr val="F3F5F8"/>
          </a:solidFill>
          <a:ln/>
        </p:spPr>
      </p:sp>
      <p:sp>
        <p:nvSpPr>
          <p:cNvPr id="19" name="Text 16"/>
          <p:cNvSpPr txBox="1"/>
          <p:nvPr/>
        </p:nvSpPr>
        <p:spPr>
          <a:xfrm>
            <a:off x="777240" y="1645920"/>
            <a:ext cx="1920240" cy="384048"/>
          </a:xfrm>
          <a:prstGeom prst="rect">
            <a:avLst/>
          </a:prstGeom>
          <a:noFill/>
          <a:ln/>
        </p:spPr>
        <p:txBody>
          <a:bodyPr wrap="square" lIns="0" tIns="0" rIns="0" bIns="0" rtlCol="0" anchor="ctr"/>
          <a:lstStyle/>
          <a:p>
            <a:pPr algn="l" indent="0" marL="0">
              <a:buNone/>
            </a:pPr>
            <a:r>
              <a:rPr lang="en-US" altLang="en-US" sz="2400" b="1" dirty="0">
                <a:solidFill>
                  <a:srgbClr val="14284B"/>
                </a:solidFill>
                <a:latin typeface="Cambria" pitchFamily="34" charset="0"/>
                <a:ea typeface="Cambria" charset="-128"/>
                <a:cs typeface="Cambria" pitchFamily="34" charset="-120"/>
              </a:rPr>
              <a:t>YEAR 3</a:t>
            </a:r>
            <a:endParaRPr lang="en-US" sz="2400" dirty="0"/>
          </a:p>
        </p:txBody>
      </p:sp>
      <p:sp>
        <p:nvSpPr>
          <p:cNvPr id="20" name="Text 17"/>
          <p:cNvSpPr txBox="1"/>
          <p:nvPr/>
        </p:nvSpPr>
        <p:spPr>
          <a:xfrm>
            <a:off x="777240" y="2039112"/>
            <a:ext cx="1920240" cy="237744"/>
          </a:xfrm>
          <a:prstGeom prst="rect">
            <a:avLst/>
          </a:prstGeom>
          <a:noFill/>
          <a:ln/>
        </p:spPr>
        <p:txBody>
          <a:bodyPr wrap="square" lIns="0" tIns="0" rIns="0" bIns="0" rtlCol="0" anchor="ctr"/>
          <a:lstStyle/>
          <a:p>
            <a:pPr algn="l" indent="0" marL="0">
              <a:buNone/>
            </a:pPr>
            <a:r>
              <a:rPr lang="en-US" altLang="en-US" sz="1200" dirty="0">
                <a:solidFill>
                  <a:srgbClr val="5B6675"/>
                </a:solidFill>
                <a:latin typeface="Arial" pitchFamily="34" charset="0"/>
                <a:ea typeface="Arial" charset="-128"/>
                <a:cs typeface="Arial" pitchFamily="34" charset="-120"/>
              </a:rPr>
              <a:t>2028.10–2029.9</a:t>
            </a:r>
            <a:endParaRPr lang="en-US" sz="1200" dirty="0"/>
          </a:p>
        </p:txBody>
      </p:sp>
      <p:sp>
        <p:nvSpPr>
          <p:cNvPr id="21" name="Shape 18"/>
          <p:cNvSpPr/>
          <p:nvPr/>
        </p:nvSpPr>
        <p:spPr>
          <a:xfrm>
            <a:off x="2788920" y="1728216"/>
            <a:ext cx="0" cy="512064"/>
          </a:xfrm>
          <a:prstGeom prst="line">
            <a:avLst/>
          </a:prstGeom>
          <a:noFill/>
          <a:ln w="9525">
            <a:solidFill>
              <a:srgbClr val="C9D1DC"/>
            </a:solidFill>
            <a:prstDash val="solid"/>
          </a:ln>
        </p:spPr>
      </p:sp>
      <p:sp>
        <p:nvSpPr>
          <p:cNvPr id="22" name="Text 19"/>
          <p:cNvSpPr txBox="1"/>
          <p:nvPr/>
        </p:nvSpPr>
        <p:spPr>
          <a:xfrm>
            <a:off x="3017520" y="1682496"/>
            <a:ext cx="402336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STAGE</a:t>
            </a:r>
            <a:endParaRPr lang="en-US" sz="1000" dirty="0"/>
          </a:p>
        </p:txBody>
      </p:sp>
      <p:sp>
        <p:nvSpPr>
          <p:cNvPr id="23" name="Text 20"/>
          <p:cNvSpPr txBox="1"/>
          <p:nvPr/>
        </p:nvSpPr>
        <p:spPr>
          <a:xfrm>
            <a:off x="3017520" y="1920240"/>
            <a:ext cx="4114800" cy="365760"/>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M&amp;Aモデル確立</a:t>
            </a:r>
            <a:endParaRPr lang="ja-JP" sz="1600" dirty="0"/>
          </a:p>
        </p:txBody>
      </p:sp>
      <p:graphicFrame>
        <p:nvGraphicFramePr>
          <p:cNvPr id="24" name="Chart 0" descr="グループ連結売上の暫定目標の推移（YEAR 3 を強調）"/>
          <p:cNvGraphicFramePr/>
          <p:nvPr/>
        </p:nvGraphicFramePr>
        <p:xfrm>
          <a:off x="7178040" y="1627632"/>
          <a:ext cx="2240280" cy="64008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9601200" y="1728216"/>
            <a:ext cx="0" cy="512064"/>
          </a:xfrm>
          <a:prstGeom prst="line">
            <a:avLst/>
          </a:prstGeom>
          <a:noFill/>
          <a:ln w="9525">
            <a:solidFill>
              <a:srgbClr val="C9D1DC"/>
            </a:solidFill>
            <a:prstDash val="solid"/>
          </a:ln>
        </p:spPr>
      </p:sp>
      <p:sp>
        <p:nvSpPr>
          <p:cNvPr id="26" name="Text 22"/>
          <p:cNvSpPr txBox="1"/>
          <p:nvPr/>
        </p:nvSpPr>
        <p:spPr>
          <a:xfrm>
            <a:off x="9710928" y="1682496"/>
            <a:ext cx="1792224" cy="219456"/>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グループ売上（暫定）</a:t>
            </a:r>
            <a:endParaRPr lang="ja-JP" sz="1000" dirty="0"/>
          </a:p>
        </p:txBody>
      </p:sp>
      <p:sp>
        <p:nvSpPr>
          <p:cNvPr id="27" name="Text 23"/>
          <p:cNvSpPr txBox="1"/>
          <p:nvPr/>
        </p:nvSpPr>
        <p:spPr>
          <a:xfrm>
            <a:off x="9710928" y="1901952"/>
            <a:ext cx="1792224" cy="420624"/>
          </a:xfrm>
          <a:prstGeom prst="rect">
            <a:avLst/>
          </a:prstGeom>
          <a:noFill/>
          <a:ln/>
        </p:spPr>
        <p:txBody>
          <a:bodyPr wrap="square" lIns="0" tIns="0" rIns="0" bIns="0" rtlCol="0" anchor="ctr"/>
          <a:lstStyle/>
          <a:p>
            <a:pPr algn="r" indent="0" marL="0">
              <a:buNone/>
            </a:pPr>
            <a:r>
              <a:rPr lang="en-US" altLang="en-US" sz="2600" b="1" dirty="0">
                <a:solidFill>
                  <a:srgbClr val="14284B"/>
                </a:solidFill>
                <a:latin typeface="Cambria" pitchFamily="34" charset="0"/>
                <a:ea typeface="Cambria" charset="-128"/>
                <a:cs typeface="Cambria" pitchFamily="34" charset="-120"/>
              </a:rPr>
              <a:t>10</a:t>
            </a:r>
            <a:pPr algn="r"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28" name="Text 24"/>
          <p:cNvSpPr txBox="1"/>
          <p:nvPr/>
        </p:nvSpPr>
        <p:spPr>
          <a:xfrm>
            <a:off x="548640" y="2606040"/>
            <a:ext cx="8229600" cy="274320"/>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M&amp;A PROCESS</a:t>
            </a:r>
            <a:pPr algn="l" indent="0" marL="0">
              <a:buNone/>
            </a:pPr>
            <a:r>
              <a:rPr lang="ja-JP" altLang="en-US" sz="1200" dirty="0">
                <a:solidFill>
                  <a:srgbClr val="5B6675"/>
                </a:solidFill>
                <a:latin typeface="Yu Gothic Medium" pitchFamily="34" charset="0"/>
                <a:ea typeface="Yu Gothic Medium" charset="-128"/>
                <a:cs typeface="Yu Gothic Medium" pitchFamily="34" charset="-120"/>
              </a:rPr>
              <a:t>   案件の発掘から、買収後の成長までの7段階</a:t>
            </a:r>
            <a:endParaRPr lang="ja-JP" sz="1400" dirty="0"/>
          </a:p>
        </p:txBody>
      </p:sp>
      <p:sp>
        <p:nvSpPr>
          <p:cNvPr id="29" name="Shape 25"/>
          <p:cNvSpPr/>
          <p:nvPr/>
        </p:nvSpPr>
        <p:spPr>
          <a:xfrm>
            <a:off x="548640" y="3017520"/>
            <a:ext cx="1536192" cy="749808"/>
          </a:xfrm>
          <a:prstGeom prst="homePlate">
            <a:avLst/>
          </a:prstGeom>
          <a:solidFill>
            <a:srgbClr val="14284B"/>
          </a:solidFill>
          <a:ln/>
        </p:spPr>
      </p:sp>
      <p:sp>
        <p:nvSpPr>
          <p:cNvPr id="30" name="Text 26"/>
          <p:cNvSpPr txBox="1"/>
          <p:nvPr/>
        </p:nvSpPr>
        <p:spPr>
          <a:xfrm>
            <a:off x="676656"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01</a:t>
            </a:r>
            <a:endParaRPr lang="en-US" sz="1100" dirty="0"/>
          </a:p>
        </p:txBody>
      </p:sp>
      <p:sp>
        <p:nvSpPr>
          <p:cNvPr id="31" name="Text 27"/>
          <p:cNvSpPr txBox="1"/>
          <p:nvPr/>
        </p:nvSpPr>
        <p:spPr>
          <a:xfrm>
            <a:off x="676656"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SOURCING</a:t>
            </a:r>
            <a:endParaRPr lang="en-US" sz="1100" dirty="0"/>
          </a:p>
        </p:txBody>
      </p:sp>
      <p:sp>
        <p:nvSpPr>
          <p:cNvPr id="32" name="Text 28"/>
          <p:cNvSpPr txBox="1"/>
          <p:nvPr/>
        </p:nvSpPr>
        <p:spPr>
          <a:xfrm>
            <a:off x="548640"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案件発掘</a:t>
            </a:r>
            <a:endParaRPr lang="ja-JP" sz="1200" dirty="0"/>
          </a:p>
        </p:txBody>
      </p:sp>
      <p:sp>
        <p:nvSpPr>
          <p:cNvPr id="33" name="Shape 29"/>
          <p:cNvSpPr/>
          <p:nvPr/>
        </p:nvSpPr>
        <p:spPr>
          <a:xfrm>
            <a:off x="2141525" y="3017520"/>
            <a:ext cx="1536192" cy="749808"/>
          </a:xfrm>
          <a:prstGeom prst="homePlate">
            <a:avLst/>
          </a:prstGeom>
          <a:solidFill>
            <a:srgbClr val="14284B"/>
          </a:solidFill>
          <a:ln/>
        </p:spPr>
      </p:sp>
      <p:sp>
        <p:nvSpPr>
          <p:cNvPr id="34" name="Text 30"/>
          <p:cNvSpPr txBox="1"/>
          <p:nvPr/>
        </p:nvSpPr>
        <p:spPr>
          <a:xfrm>
            <a:off x="2269541"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02</a:t>
            </a:r>
            <a:endParaRPr lang="en-US" sz="1100" dirty="0"/>
          </a:p>
        </p:txBody>
      </p:sp>
      <p:sp>
        <p:nvSpPr>
          <p:cNvPr id="35" name="Text 31"/>
          <p:cNvSpPr txBox="1"/>
          <p:nvPr/>
        </p:nvSpPr>
        <p:spPr>
          <a:xfrm>
            <a:off x="2269541"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DD</a:t>
            </a:r>
            <a:endParaRPr lang="en-US" sz="1100" dirty="0"/>
          </a:p>
        </p:txBody>
      </p:sp>
      <p:sp>
        <p:nvSpPr>
          <p:cNvPr id="36" name="Text 32"/>
          <p:cNvSpPr txBox="1"/>
          <p:nvPr/>
        </p:nvSpPr>
        <p:spPr>
          <a:xfrm>
            <a:off x="2141525"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買収監査</a:t>
            </a:r>
            <a:endParaRPr lang="ja-JP" sz="1200" dirty="0"/>
          </a:p>
        </p:txBody>
      </p:sp>
      <p:sp>
        <p:nvSpPr>
          <p:cNvPr id="37" name="Shape 33"/>
          <p:cNvSpPr/>
          <p:nvPr/>
        </p:nvSpPr>
        <p:spPr>
          <a:xfrm>
            <a:off x="3734410" y="3017520"/>
            <a:ext cx="1536192" cy="749808"/>
          </a:xfrm>
          <a:prstGeom prst="homePlate">
            <a:avLst/>
          </a:prstGeom>
          <a:solidFill>
            <a:srgbClr val="14284B"/>
          </a:solidFill>
          <a:ln/>
        </p:spPr>
      </p:sp>
      <p:sp>
        <p:nvSpPr>
          <p:cNvPr id="38" name="Text 34"/>
          <p:cNvSpPr txBox="1"/>
          <p:nvPr/>
        </p:nvSpPr>
        <p:spPr>
          <a:xfrm>
            <a:off x="3862426"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03</a:t>
            </a:r>
            <a:endParaRPr lang="en-US" sz="1100" dirty="0"/>
          </a:p>
        </p:txBody>
      </p:sp>
      <p:sp>
        <p:nvSpPr>
          <p:cNvPr id="39" name="Text 35"/>
          <p:cNvSpPr txBox="1"/>
          <p:nvPr/>
        </p:nvSpPr>
        <p:spPr>
          <a:xfrm>
            <a:off x="3862426"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VALUATION</a:t>
            </a:r>
            <a:endParaRPr lang="en-US" sz="1100" dirty="0"/>
          </a:p>
        </p:txBody>
      </p:sp>
      <p:sp>
        <p:nvSpPr>
          <p:cNvPr id="40" name="Text 36"/>
          <p:cNvSpPr txBox="1"/>
          <p:nvPr/>
        </p:nvSpPr>
        <p:spPr>
          <a:xfrm>
            <a:off x="3734410"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企業価値評価</a:t>
            </a:r>
            <a:endParaRPr lang="ja-JP" sz="1200" dirty="0"/>
          </a:p>
        </p:txBody>
      </p:sp>
      <p:sp>
        <p:nvSpPr>
          <p:cNvPr id="41" name="Shape 37"/>
          <p:cNvSpPr/>
          <p:nvPr/>
        </p:nvSpPr>
        <p:spPr>
          <a:xfrm>
            <a:off x="5327294" y="3017520"/>
            <a:ext cx="1536192" cy="749808"/>
          </a:xfrm>
          <a:prstGeom prst="homePlate">
            <a:avLst/>
          </a:prstGeom>
          <a:solidFill>
            <a:srgbClr val="14284B"/>
          </a:solidFill>
          <a:ln/>
        </p:spPr>
      </p:sp>
      <p:sp>
        <p:nvSpPr>
          <p:cNvPr id="42" name="Text 38"/>
          <p:cNvSpPr txBox="1"/>
          <p:nvPr/>
        </p:nvSpPr>
        <p:spPr>
          <a:xfrm>
            <a:off x="5455310"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04</a:t>
            </a:r>
            <a:endParaRPr lang="en-US" sz="1100" dirty="0"/>
          </a:p>
        </p:txBody>
      </p:sp>
      <p:sp>
        <p:nvSpPr>
          <p:cNvPr id="43" name="Text 39"/>
          <p:cNvSpPr txBox="1"/>
          <p:nvPr/>
        </p:nvSpPr>
        <p:spPr>
          <a:xfrm>
            <a:off x="5455310"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FINANCING</a:t>
            </a:r>
            <a:endParaRPr lang="en-US" sz="1100" dirty="0"/>
          </a:p>
        </p:txBody>
      </p:sp>
      <p:sp>
        <p:nvSpPr>
          <p:cNvPr id="44" name="Text 40"/>
          <p:cNvSpPr txBox="1"/>
          <p:nvPr/>
        </p:nvSpPr>
        <p:spPr>
          <a:xfrm>
            <a:off x="5327294"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資金調達</a:t>
            </a:r>
            <a:endParaRPr lang="ja-JP" sz="1200" dirty="0"/>
          </a:p>
        </p:txBody>
      </p:sp>
      <p:sp>
        <p:nvSpPr>
          <p:cNvPr id="45" name="Shape 41"/>
          <p:cNvSpPr/>
          <p:nvPr/>
        </p:nvSpPr>
        <p:spPr>
          <a:xfrm>
            <a:off x="6920179" y="3017520"/>
            <a:ext cx="1536192" cy="749808"/>
          </a:xfrm>
          <a:prstGeom prst="homePlate">
            <a:avLst/>
          </a:prstGeom>
          <a:solidFill>
            <a:srgbClr val="14284B"/>
          </a:solidFill>
          <a:ln/>
        </p:spPr>
      </p:sp>
      <p:sp>
        <p:nvSpPr>
          <p:cNvPr id="46" name="Text 42"/>
          <p:cNvSpPr txBox="1"/>
          <p:nvPr/>
        </p:nvSpPr>
        <p:spPr>
          <a:xfrm>
            <a:off x="7048195"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05</a:t>
            </a:r>
            <a:endParaRPr lang="en-US" sz="1100" dirty="0"/>
          </a:p>
        </p:txBody>
      </p:sp>
      <p:sp>
        <p:nvSpPr>
          <p:cNvPr id="47" name="Text 43"/>
          <p:cNvSpPr txBox="1"/>
          <p:nvPr/>
        </p:nvSpPr>
        <p:spPr>
          <a:xfrm>
            <a:off x="7048195"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ACQUISITION</a:t>
            </a:r>
            <a:endParaRPr lang="en-US" sz="1100" dirty="0"/>
          </a:p>
        </p:txBody>
      </p:sp>
      <p:sp>
        <p:nvSpPr>
          <p:cNvPr id="48" name="Text 44"/>
          <p:cNvSpPr txBox="1"/>
          <p:nvPr/>
        </p:nvSpPr>
        <p:spPr>
          <a:xfrm>
            <a:off x="6920179"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買収実行</a:t>
            </a:r>
            <a:endParaRPr lang="ja-JP" sz="1200" dirty="0"/>
          </a:p>
        </p:txBody>
      </p:sp>
      <p:sp>
        <p:nvSpPr>
          <p:cNvPr id="49" name="Shape 45"/>
          <p:cNvSpPr/>
          <p:nvPr/>
        </p:nvSpPr>
        <p:spPr>
          <a:xfrm>
            <a:off x="8513064" y="3017520"/>
            <a:ext cx="1536192" cy="749808"/>
          </a:xfrm>
          <a:prstGeom prst="homePlate">
            <a:avLst/>
          </a:prstGeom>
          <a:solidFill>
            <a:srgbClr val="14284B"/>
          </a:solidFill>
          <a:ln/>
        </p:spPr>
      </p:sp>
      <p:sp>
        <p:nvSpPr>
          <p:cNvPr id="50" name="Text 46"/>
          <p:cNvSpPr txBox="1"/>
          <p:nvPr/>
        </p:nvSpPr>
        <p:spPr>
          <a:xfrm>
            <a:off x="8641080"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C9A96E"/>
                </a:solidFill>
                <a:latin typeface="Cambria" pitchFamily="34" charset="0"/>
                <a:ea typeface="Cambria" charset="-128"/>
                <a:cs typeface="Cambria" pitchFamily="34" charset="-120"/>
              </a:rPr>
              <a:t>06</a:t>
            </a:r>
            <a:endParaRPr lang="en-US" sz="1100" dirty="0"/>
          </a:p>
        </p:txBody>
      </p:sp>
      <p:sp>
        <p:nvSpPr>
          <p:cNvPr id="51" name="Text 47"/>
          <p:cNvSpPr txBox="1"/>
          <p:nvPr/>
        </p:nvSpPr>
        <p:spPr>
          <a:xfrm>
            <a:off x="8641080"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charset="-128"/>
                <a:cs typeface="Arial" pitchFamily="34" charset="-120"/>
              </a:rPr>
              <a:t>100 DAYS PMI</a:t>
            </a:r>
            <a:endParaRPr lang="en-US" sz="1100" dirty="0"/>
          </a:p>
        </p:txBody>
      </p:sp>
      <p:sp>
        <p:nvSpPr>
          <p:cNvPr id="52" name="Text 48"/>
          <p:cNvSpPr txBox="1"/>
          <p:nvPr/>
        </p:nvSpPr>
        <p:spPr>
          <a:xfrm>
            <a:off x="8513064"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統合後100日</a:t>
            </a:r>
            <a:endParaRPr lang="ja-JP" sz="1200" dirty="0"/>
          </a:p>
        </p:txBody>
      </p:sp>
      <p:sp>
        <p:nvSpPr>
          <p:cNvPr id="53" name="Shape 49"/>
          <p:cNvSpPr/>
          <p:nvPr/>
        </p:nvSpPr>
        <p:spPr>
          <a:xfrm>
            <a:off x="10105949" y="3017520"/>
            <a:ext cx="1536192" cy="749808"/>
          </a:xfrm>
          <a:prstGeom prst="homePlate">
            <a:avLst/>
          </a:prstGeom>
          <a:solidFill>
            <a:srgbClr val="C9A96E"/>
          </a:solidFill>
          <a:ln/>
        </p:spPr>
      </p:sp>
      <p:sp>
        <p:nvSpPr>
          <p:cNvPr id="54" name="Text 50"/>
          <p:cNvSpPr txBox="1"/>
          <p:nvPr/>
        </p:nvSpPr>
        <p:spPr>
          <a:xfrm>
            <a:off x="10233965" y="3072384"/>
            <a:ext cx="548640" cy="237744"/>
          </a:xfrm>
          <a:prstGeom prst="rect">
            <a:avLst/>
          </a:prstGeom>
          <a:noFill/>
          <a:ln/>
        </p:spPr>
        <p:txBody>
          <a:bodyPr wrap="square" lIns="0" tIns="0" rIns="0" bIns="0" rtlCol="0" anchor="ctr"/>
          <a:lstStyle/>
          <a:p>
            <a:pPr algn="l" indent="0" marL="0">
              <a:buNone/>
            </a:pPr>
            <a:r>
              <a:rPr lang="en-US" altLang="en-US" sz="1100" b="1" dirty="0">
                <a:solidFill>
                  <a:srgbClr val="14284B"/>
                </a:solidFill>
                <a:latin typeface="Cambria" pitchFamily="34" charset="0"/>
                <a:ea typeface="Cambria" charset="-128"/>
                <a:cs typeface="Cambria" pitchFamily="34" charset="-120"/>
              </a:rPr>
              <a:t>07</a:t>
            </a:r>
            <a:endParaRPr lang="en-US" sz="1100" dirty="0"/>
          </a:p>
        </p:txBody>
      </p:sp>
      <p:sp>
        <p:nvSpPr>
          <p:cNvPr id="55" name="Text 51"/>
          <p:cNvSpPr txBox="1"/>
          <p:nvPr/>
        </p:nvSpPr>
        <p:spPr>
          <a:xfrm>
            <a:off x="10233965" y="3328416"/>
            <a:ext cx="1097280" cy="329184"/>
          </a:xfrm>
          <a:prstGeom prst="rect">
            <a:avLst/>
          </a:prstGeom>
          <a:noFill/>
          <a:ln/>
        </p:spPr>
        <p:txBody>
          <a:bodyPr wrap="square" lIns="0" tIns="0" rIns="0" bIns="0" rtlCol="0" anchor="ctr"/>
          <a:lstStyle/>
          <a:p>
            <a:pPr algn="l" indent="0" marL="0">
              <a:buNone/>
            </a:pPr>
            <a:r>
              <a:rPr lang="en-US" altLang="en-US" sz="1100" b="1" dirty="0">
                <a:solidFill>
                  <a:srgbClr val="14284B"/>
                </a:solidFill>
                <a:latin typeface="Arial" pitchFamily="34" charset="0"/>
                <a:ea typeface="Arial" charset="-128"/>
                <a:cs typeface="Arial" pitchFamily="34" charset="-120"/>
              </a:rPr>
              <a:t>GROWTH</a:t>
            </a:r>
            <a:endParaRPr lang="en-US" sz="1100" dirty="0"/>
          </a:p>
        </p:txBody>
      </p:sp>
      <p:sp>
        <p:nvSpPr>
          <p:cNvPr id="56" name="Text 52"/>
          <p:cNvSpPr txBox="1"/>
          <p:nvPr/>
        </p:nvSpPr>
        <p:spPr>
          <a:xfrm>
            <a:off x="10105949" y="3840480"/>
            <a:ext cx="1371600" cy="274320"/>
          </a:xfrm>
          <a:prstGeom prst="rect">
            <a:avLst/>
          </a:prstGeom>
          <a:noFill/>
          <a:ln/>
        </p:spPr>
        <p:txBody>
          <a:bodyPr wrap="square" lIns="0" tIns="0" rIns="0" bIns="0" rtlCol="0" anchor="ctr"/>
          <a:lstStyle/>
          <a:p>
            <a:pPr algn="ctr" indent="0" marL="0">
              <a:buNone/>
            </a:pPr>
            <a:r>
              <a:rPr lang="ja-JP" altLang="en-US" sz="1200" dirty="0">
                <a:solidFill>
                  <a:srgbClr val="1B1F27"/>
                </a:solidFill>
                <a:latin typeface="Yu Gothic Medium" pitchFamily="34" charset="0"/>
                <a:ea typeface="Yu Gothic Medium" charset="-128"/>
                <a:cs typeface="Yu Gothic Medium" pitchFamily="34" charset="-120"/>
              </a:rPr>
              <a:t>成長</a:t>
            </a:r>
            <a:endParaRPr lang="ja-JP" sz="1200" dirty="0"/>
          </a:p>
        </p:txBody>
      </p:sp>
      <p:sp>
        <p:nvSpPr>
          <p:cNvPr id="57" name="Text 53"/>
          <p:cNvSpPr txBox="1"/>
          <p:nvPr/>
        </p:nvSpPr>
        <p:spPr>
          <a:xfrm>
            <a:off x="548640" y="4315968"/>
            <a:ext cx="4023360" cy="1005840"/>
          </a:xfrm>
          <a:prstGeom prst="rect">
            <a:avLst/>
          </a:prstGeom>
          <a:noFill/>
          <a:ln/>
        </p:spPr>
        <p:txBody>
          <a:bodyPr wrap="square" lIns="0" tIns="0" rIns="0" bIns="0" rtlCol="0" anchor="t"/>
          <a:lstStyle/>
          <a:p>
            <a:pPr algn="l" indent="0" marL="0">
              <a:lnSpc>
                <a:spcPts val="3800"/>
              </a:lnSpc>
              <a:buNone/>
            </a:pPr>
            <a:r>
              <a:rPr lang="ja-JP" altLang="en-US" sz="2400" dirty="0">
                <a:solidFill>
                  <a:srgbClr val="14284B"/>
                </a:solidFill>
                <a:latin typeface="Yu Mincho" pitchFamily="34" charset="0"/>
                <a:ea typeface="Yu Mincho" charset="-128"/>
                <a:cs typeface="Yu Mincho" pitchFamily="34" charset="-120"/>
              </a:rPr>
              <a:t>重要なのは、</a:t>
            </a:r>
            <a:endParaRPr lang="ja-JP" sz="2400" dirty="0"/>
          </a:p>
          <a:p>
            <a:pPr algn="l" indent="0" marL="0">
              <a:lnSpc>
                <a:spcPts val="3800"/>
              </a:lnSpc>
              <a:buNone/>
            </a:pPr>
            <a:r>
              <a:rPr lang="ja-JP" altLang="en-US" sz="2400" dirty="0">
                <a:solidFill>
                  <a:srgbClr val="14284B"/>
                </a:solidFill>
                <a:latin typeface="Yu Mincho" pitchFamily="34" charset="0"/>
                <a:ea typeface="Yu Mincho" charset="-128"/>
                <a:cs typeface="Yu Mincho" pitchFamily="34" charset="-120"/>
              </a:rPr>
              <a:t>買収件数ではない。</a:t>
            </a:r>
            <a:endParaRPr lang="ja-JP" sz="2400" dirty="0"/>
          </a:p>
        </p:txBody>
      </p:sp>
      <p:sp>
        <p:nvSpPr>
          <p:cNvPr id="58" name="Text 54"/>
          <p:cNvSpPr txBox="1"/>
          <p:nvPr/>
        </p:nvSpPr>
        <p:spPr>
          <a:xfrm>
            <a:off x="548640" y="5349240"/>
            <a:ext cx="4114800" cy="530352"/>
          </a:xfrm>
          <a:prstGeom prst="rect">
            <a:avLst/>
          </a:prstGeom>
          <a:noFill/>
          <a:ln/>
        </p:spPr>
        <p:txBody>
          <a:bodyPr wrap="square" lIns="0" tIns="0" rIns="0" bIns="0" rtlCol="0" anchor="t"/>
          <a:lstStyle/>
          <a:p>
            <a:pPr algn="l" indent="0" marL="0">
              <a:lnSpc>
                <a:spcPts val="2000"/>
              </a:lnSpc>
              <a:buNone/>
            </a:pPr>
            <a:r>
              <a:rPr lang="ja-JP" altLang="en-US" sz="1300" dirty="0">
                <a:solidFill>
                  <a:srgbClr val="1B1F27"/>
                </a:solidFill>
                <a:latin typeface="Yu Gothic Medium" pitchFamily="34" charset="0"/>
                <a:ea typeface="Yu Gothic Medium" charset="-128"/>
                <a:cs typeface="Yu Gothic Medium" pitchFamily="34" charset="-120"/>
              </a:rPr>
              <a:t>「買う→任せる→改善する→成長させる」</a:t>
            </a:r>
            <a:endParaRPr lang="ja-JP" sz="1300" dirty="0"/>
          </a:p>
          <a:p>
            <a:pPr algn="l" indent="0" marL="0">
              <a:lnSpc>
                <a:spcPts val="2000"/>
              </a:lnSpc>
              <a:buNone/>
            </a:pPr>
            <a:r>
              <a:rPr lang="ja-JP" altLang="en-US" sz="1300" dirty="0">
                <a:solidFill>
                  <a:srgbClr val="1B1F27"/>
                </a:solidFill>
                <a:latin typeface="Yu Gothic Medium" pitchFamily="34" charset="0"/>
                <a:ea typeface="Yu Gothic Medium" charset="-128"/>
                <a:cs typeface="Yu Gothic Medium" pitchFamily="34" charset="-120"/>
              </a:rPr>
              <a:t>というモデルを完成させる。</a:t>
            </a:r>
            <a:endParaRPr lang="ja-JP" sz="1300" dirty="0"/>
          </a:p>
        </p:txBody>
      </p:sp>
      <p:sp>
        <p:nvSpPr>
          <p:cNvPr id="59" name="Text 55"/>
          <p:cNvSpPr txBox="1"/>
          <p:nvPr/>
        </p:nvSpPr>
        <p:spPr>
          <a:xfrm>
            <a:off x="4846320" y="4315968"/>
            <a:ext cx="4572000" cy="274320"/>
          </a:xfrm>
          <a:prstGeom prst="rect">
            <a:avLst/>
          </a:prstGeom>
          <a:noFill/>
          <a:ln/>
        </p:spPr>
        <p:txBody>
          <a:bodyPr wrap="square" lIns="0" tIns="0" rIns="0" bIns="0" rtlCol="0" anchor="ctr"/>
          <a:lstStyle/>
          <a:p>
            <a:pPr algn="l" indent="0" marL="0">
              <a:buNone/>
            </a:pPr>
            <a:r>
              <a:rPr lang="ja-JP" altLang="en-US" sz="1200" b="1" dirty="0">
                <a:solidFill>
                  <a:srgbClr val="8C6D3F"/>
                </a:solidFill>
                <a:latin typeface="Yu Gothic" pitchFamily="34" charset="0"/>
                <a:ea typeface="Yu Gothic" charset="-128"/>
                <a:cs typeface="Yu Gothic" pitchFamily="34" charset="-120"/>
              </a:rPr>
              <a:t>完成させるモデル</a:t>
            </a:r>
            <a:pPr algn="l" indent="0" marL="0">
              <a:buNone/>
            </a:pPr>
            <a:r>
              <a:rPr lang="en-US" altLang="en-US" sz="1000" b="1" spc="200" kern="0" dirty="0">
                <a:solidFill>
                  <a:srgbClr val="8C6D3F"/>
                </a:solidFill>
                <a:latin typeface="Arial" pitchFamily="34" charset="0"/>
                <a:ea typeface="Arial" charset="-128"/>
                <a:cs typeface="Arial" pitchFamily="34" charset="-120"/>
              </a:rPr>
              <a:t>   MODEL</a:t>
            </a:r>
            <a:endParaRPr lang="ja-JP" sz="1400" dirty="0"/>
          </a:p>
        </p:txBody>
      </p:sp>
      <p:sp>
        <p:nvSpPr>
          <p:cNvPr id="60" name="Shape 56"/>
          <p:cNvSpPr/>
          <p:nvPr/>
        </p:nvSpPr>
        <p:spPr>
          <a:xfrm>
            <a:off x="4846320" y="4681728"/>
            <a:ext cx="1517904" cy="1197864"/>
          </a:xfrm>
          <a:prstGeom prst="rect">
            <a:avLst/>
          </a:prstGeom>
          <a:solidFill>
            <a:srgbClr val="F3F5F8"/>
          </a:solidFill>
          <a:ln/>
        </p:spPr>
      </p:sp>
      <p:sp>
        <p:nvSpPr>
          <p:cNvPr id="61" name="Text 57"/>
          <p:cNvSpPr txBox="1"/>
          <p:nvPr/>
        </p:nvSpPr>
        <p:spPr>
          <a:xfrm>
            <a:off x="5010912" y="4864608"/>
            <a:ext cx="11887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BUY</a:t>
            </a:r>
            <a:endParaRPr lang="en-US" sz="1000" dirty="0"/>
          </a:p>
        </p:txBody>
      </p:sp>
      <p:sp>
        <p:nvSpPr>
          <p:cNvPr id="62" name="Text 58"/>
          <p:cNvSpPr txBox="1"/>
          <p:nvPr/>
        </p:nvSpPr>
        <p:spPr>
          <a:xfrm>
            <a:off x="5010912" y="5148072"/>
            <a:ext cx="1280160" cy="41148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買う</a:t>
            </a:r>
            <a:endParaRPr lang="ja-JP" sz="1700" dirty="0"/>
          </a:p>
        </p:txBody>
      </p:sp>
      <p:sp>
        <p:nvSpPr>
          <p:cNvPr id="63" name="Shape 59"/>
          <p:cNvSpPr/>
          <p:nvPr/>
        </p:nvSpPr>
        <p:spPr>
          <a:xfrm>
            <a:off x="6409944" y="5280660"/>
            <a:ext cx="150266" cy="0"/>
          </a:xfrm>
          <a:prstGeom prst="line">
            <a:avLst/>
          </a:prstGeom>
          <a:noFill/>
          <a:ln w="19050">
            <a:solidFill>
              <a:srgbClr val="B08D57"/>
            </a:solidFill>
            <a:prstDash val="solid"/>
            <a:tailEnd type="triangle"/>
          </a:ln>
        </p:spPr>
      </p:sp>
      <p:sp>
        <p:nvSpPr>
          <p:cNvPr id="64" name="Shape 60"/>
          <p:cNvSpPr/>
          <p:nvPr/>
        </p:nvSpPr>
        <p:spPr>
          <a:xfrm>
            <a:off x="6605930" y="4681728"/>
            <a:ext cx="1517904" cy="1197864"/>
          </a:xfrm>
          <a:prstGeom prst="rect">
            <a:avLst/>
          </a:prstGeom>
          <a:solidFill>
            <a:srgbClr val="F3F5F8"/>
          </a:solidFill>
          <a:ln/>
        </p:spPr>
      </p:sp>
      <p:sp>
        <p:nvSpPr>
          <p:cNvPr id="65" name="Text 61"/>
          <p:cNvSpPr txBox="1"/>
          <p:nvPr/>
        </p:nvSpPr>
        <p:spPr>
          <a:xfrm>
            <a:off x="6770522" y="4864608"/>
            <a:ext cx="11887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DELEGATE</a:t>
            </a:r>
            <a:endParaRPr lang="en-US" sz="1000" dirty="0"/>
          </a:p>
        </p:txBody>
      </p:sp>
      <p:sp>
        <p:nvSpPr>
          <p:cNvPr id="66" name="Text 62"/>
          <p:cNvSpPr txBox="1"/>
          <p:nvPr/>
        </p:nvSpPr>
        <p:spPr>
          <a:xfrm>
            <a:off x="6770522" y="5148072"/>
            <a:ext cx="1280160" cy="41148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任せる</a:t>
            </a:r>
            <a:endParaRPr lang="ja-JP" sz="1700" dirty="0"/>
          </a:p>
        </p:txBody>
      </p:sp>
      <p:sp>
        <p:nvSpPr>
          <p:cNvPr id="67" name="Shape 63"/>
          <p:cNvSpPr/>
          <p:nvPr/>
        </p:nvSpPr>
        <p:spPr>
          <a:xfrm>
            <a:off x="8169554" y="5280660"/>
            <a:ext cx="150266" cy="0"/>
          </a:xfrm>
          <a:prstGeom prst="line">
            <a:avLst/>
          </a:prstGeom>
          <a:noFill/>
          <a:ln w="19050">
            <a:solidFill>
              <a:srgbClr val="B08D57"/>
            </a:solidFill>
            <a:prstDash val="solid"/>
            <a:tailEnd type="triangle"/>
          </a:ln>
        </p:spPr>
      </p:sp>
      <p:sp>
        <p:nvSpPr>
          <p:cNvPr id="68" name="Shape 64"/>
          <p:cNvSpPr/>
          <p:nvPr/>
        </p:nvSpPr>
        <p:spPr>
          <a:xfrm>
            <a:off x="8365541" y="4681728"/>
            <a:ext cx="1517904" cy="1197864"/>
          </a:xfrm>
          <a:prstGeom prst="rect">
            <a:avLst/>
          </a:prstGeom>
          <a:solidFill>
            <a:srgbClr val="F3F5F8"/>
          </a:solidFill>
          <a:ln/>
        </p:spPr>
      </p:sp>
      <p:sp>
        <p:nvSpPr>
          <p:cNvPr id="69" name="Text 65"/>
          <p:cNvSpPr txBox="1"/>
          <p:nvPr/>
        </p:nvSpPr>
        <p:spPr>
          <a:xfrm>
            <a:off x="8530133" y="4864608"/>
            <a:ext cx="11887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IMPROVE</a:t>
            </a:r>
            <a:endParaRPr lang="en-US" sz="1000" dirty="0"/>
          </a:p>
        </p:txBody>
      </p:sp>
      <p:sp>
        <p:nvSpPr>
          <p:cNvPr id="70" name="Text 66"/>
          <p:cNvSpPr txBox="1"/>
          <p:nvPr/>
        </p:nvSpPr>
        <p:spPr>
          <a:xfrm>
            <a:off x="8530133" y="5148072"/>
            <a:ext cx="1280160" cy="411480"/>
          </a:xfrm>
          <a:prstGeom prst="rect">
            <a:avLst/>
          </a:prstGeom>
          <a:noFill/>
          <a:ln/>
        </p:spPr>
        <p:txBody>
          <a:bodyPr wrap="square" lIns="0" tIns="0" rIns="0" bIns="0" rtlCol="0" anchor="ctr"/>
          <a:lstStyle/>
          <a:p>
            <a:pPr algn="l" indent="0" marL="0">
              <a:buNone/>
            </a:pPr>
            <a:r>
              <a:rPr lang="ja-JP" altLang="en-US" sz="1700" b="1" dirty="0">
                <a:solidFill>
                  <a:srgbClr val="14284B"/>
                </a:solidFill>
                <a:latin typeface="Yu Gothic" pitchFamily="34" charset="0"/>
                <a:ea typeface="Yu Gothic" charset="-128"/>
                <a:cs typeface="Yu Gothic" pitchFamily="34" charset="-120"/>
              </a:rPr>
              <a:t>改善する</a:t>
            </a:r>
            <a:endParaRPr lang="ja-JP" sz="1700" dirty="0"/>
          </a:p>
        </p:txBody>
      </p:sp>
      <p:sp>
        <p:nvSpPr>
          <p:cNvPr id="71" name="Shape 67"/>
          <p:cNvSpPr/>
          <p:nvPr/>
        </p:nvSpPr>
        <p:spPr>
          <a:xfrm>
            <a:off x="9929165" y="5280660"/>
            <a:ext cx="150266" cy="0"/>
          </a:xfrm>
          <a:prstGeom prst="line">
            <a:avLst/>
          </a:prstGeom>
          <a:noFill/>
          <a:ln w="19050">
            <a:solidFill>
              <a:srgbClr val="B08D57"/>
            </a:solidFill>
            <a:prstDash val="solid"/>
            <a:tailEnd type="triangle"/>
          </a:ln>
        </p:spPr>
      </p:sp>
      <p:sp>
        <p:nvSpPr>
          <p:cNvPr id="72" name="Shape 68"/>
          <p:cNvSpPr/>
          <p:nvPr/>
        </p:nvSpPr>
        <p:spPr>
          <a:xfrm>
            <a:off x="10125151" y="4681728"/>
            <a:ext cx="1517904" cy="1197864"/>
          </a:xfrm>
          <a:prstGeom prst="rect">
            <a:avLst/>
          </a:prstGeom>
          <a:solidFill>
            <a:srgbClr val="14284B"/>
          </a:solidFill>
          <a:ln/>
        </p:spPr>
      </p:sp>
      <p:sp>
        <p:nvSpPr>
          <p:cNvPr id="73" name="Text 69"/>
          <p:cNvSpPr txBox="1"/>
          <p:nvPr/>
        </p:nvSpPr>
        <p:spPr>
          <a:xfrm>
            <a:off x="10289743" y="4864608"/>
            <a:ext cx="1188720" cy="219456"/>
          </a:xfrm>
          <a:prstGeom prst="rect">
            <a:avLst/>
          </a:prstGeom>
          <a:noFill/>
          <a:ln/>
        </p:spPr>
        <p:txBody>
          <a:bodyPr wrap="square" lIns="0" tIns="0" rIns="0" bIns="0" rtlCol="0" anchor="ctr"/>
          <a:lstStyle/>
          <a:p>
            <a:pPr algn="l" indent="0" marL="0">
              <a:buNone/>
            </a:pPr>
            <a:r>
              <a:rPr lang="en-US" altLang="en-US" sz="1000" b="1" spc="100" kern="0" dirty="0">
                <a:solidFill>
                  <a:srgbClr val="C9A96E"/>
                </a:solidFill>
                <a:latin typeface="Arial" pitchFamily="34" charset="0"/>
                <a:ea typeface="Arial" charset="-128"/>
                <a:cs typeface="Arial" pitchFamily="34" charset="-120"/>
              </a:rPr>
              <a:t>GROW</a:t>
            </a:r>
            <a:endParaRPr lang="en-US" sz="1000" dirty="0"/>
          </a:p>
        </p:txBody>
      </p:sp>
      <p:sp>
        <p:nvSpPr>
          <p:cNvPr id="74" name="Text 70"/>
          <p:cNvSpPr txBox="1"/>
          <p:nvPr/>
        </p:nvSpPr>
        <p:spPr>
          <a:xfrm>
            <a:off x="10289743" y="5148072"/>
            <a:ext cx="1280160" cy="411480"/>
          </a:xfrm>
          <a:prstGeom prst="rect">
            <a:avLst/>
          </a:prstGeom>
          <a:noFill/>
          <a:ln/>
        </p:spPr>
        <p:txBody>
          <a:bodyPr wrap="square" lIns="0" tIns="0" rIns="0" bIns="0" rtlCol="0" anchor="ctr"/>
          <a:lstStyle/>
          <a:p>
            <a:pPr algn="l" indent="0" marL="0">
              <a:buNone/>
            </a:pPr>
            <a:r>
              <a:rPr lang="ja-JP" altLang="en-US" sz="1700" b="1" dirty="0">
                <a:solidFill>
                  <a:srgbClr val="FFFFFF"/>
                </a:solidFill>
                <a:latin typeface="Yu Gothic" pitchFamily="34" charset="0"/>
                <a:ea typeface="Yu Gothic" charset="-128"/>
                <a:cs typeface="Yu Gothic" pitchFamily="34" charset="-120"/>
              </a:rPr>
              <a:t>成長させる</a:t>
            </a:r>
            <a:endParaRPr lang="ja-JP"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13</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YEAR 4   2029–2030</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M&amp;Aを、個人技から組織能力へ。</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5CCD6"/>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C5CCD6"/>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13</a:t>
            </a:r>
            <a:endParaRPr lang="en-US" sz="1000" dirty="0"/>
          </a:p>
        </p:txBody>
      </p:sp>
      <p:sp>
        <p:nvSpPr>
          <p:cNvPr id="18" name="Shape 15"/>
          <p:cNvSpPr/>
          <p:nvPr/>
        </p:nvSpPr>
        <p:spPr>
          <a:xfrm>
            <a:off x="548640" y="1572768"/>
            <a:ext cx="11094415" cy="822960"/>
          </a:xfrm>
          <a:prstGeom prst="rect">
            <a:avLst/>
          </a:prstGeom>
          <a:solidFill>
            <a:srgbClr val="F3F5F8"/>
          </a:solidFill>
          <a:ln/>
        </p:spPr>
      </p:sp>
      <p:sp>
        <p:nvSpPr>
          <p:cNvPr id="19" name="Text 16"/>
          <p:cNvSpPr txBox="1"/>
          <p:nvPr/>
        </p:nvSpPr>
        <p:spPr>
          <a:xfrm>
            <a:off x="777240" y="1645920"/>
            <a:ext cx="1920240" cy="384048"/>
          </a:xfrm>
          <a:prstGeom prst="rect">
            <a:avLst/>
          </a:prstGeom>
          <a:noFill/>
          <a:ln/>
        </p:spPr>
        <p:txBody>
          <a:bodyPr wrap="square" lIns="0" tIns="0" rIns="0" bIns="0" rtlCol="0" anchor="ctr"/>
          <a:lstStyle/>
          <a:p>
            <a:pPr algn="l" indent="0" marL="0">
              <a:buNone/>
            </a:pPr>
            <a:r>
              <a:rPr lang="en-US" altLang="en-US" sz="2400" b="1" dirty="0">
                <a:solidFill>
                  <a:srgbClr val="14284B"/>
                </a:solidFill>
                <a:latin typeface="Cambria" pitchFamily="34" charset="0"/>
                <a:ea typeface="Cambria" charset="-128"/>
                <a:cs typeface="Cambria" pitchFamily="34" charset="-120"/>
              </a:rPr>
              <a:t>YEAR 4</a:t>
            </a:r>
            <a:endParaRPr lang="en-US" sz="2400" dirty="0"/>
          </a:p>
        </p:txBody>
      </p:sp>
      <p:sp>
        <p:nvSpPr>
          <p:cNvPr id="20" name="Text 17"/>
          <p:cNvSpPr txBox="1"/>
          <p:nvPr/>
        </p:nvSpPr>
        <p:spPr>
          <a:xfrm>
            <a:off x="777240" y="2039112"/>
            <a:ext cx="1920240" cy="237744"/>
          </a:xfrm>
          <a:prstGeom prst="rect">
            <a:avLst/>
          </a:prstGeom>
          <a:noFill/>
          <a:ln/>
        </p:spPr>
        <p:txBody>
          <a:bodyPr wrap="square" lIns="0" tIns="0" rIns="0" bIns="0" rtlCol="0" anchor="ctr"/>
          <a:lstStyle/>
          <a:p>
            <a:pPr algn="l" indent="0" marL="0">
              <a:buNone/>
            </a:pPr>
            <a:r>
              <a:rPr lang="en-US" altLang="en-US" sz="1200" dirty="0">
                <a:solidFill>
                  <a:srgbClr val="5B6675"/>
                </a:solidFill>
                <a:latin typeface="Arial" pitchFamily="34" charset="0"/>
                <a:ea typeface="Arial" charset="-128"/>
                <a:cs typeface="Arial" pitchFamily="34" charset="-120"/>
              </a:rPr>
              <a:t>2029.10–2030.9</a:t>
            </a:r>
            <a:endParaRPr lang="en-US" sz="1200" dirty="0"/>
          </a:p>
        </p:txBody>
      </p:sp>
      <p:sp>
        <p:nvSpPr>
          <p:cNvPr id="21" name="Shape 18"/>
          <p:cNvSpPr/>
          <p:nvPr/>
        </p:nvSpPr>
        <p:spPr>
          <a:xfrm>
            <a:off x="2788920" y="1728216"/>
            <a:ext cx="0" cy="512064"/>
          </a:xfrm>
          <a:prstGeom prst="line">
            <a:avLst/>
          </a:prstGeom>
          <a:noFill/>
          <a:ln w="9525">
            <a:solidFill>
              <a:srgbClr val="C9D1DC"/>
            </a:solidFill>
            <a:prstDash val="solid"/>
          </a:ln>
        </p:spPr>
      </p:sp>
      <p:sp>
        <p:nvSpPr>
          <p:cNvPr id="22" name="Text 19"/>
          <p:cNvSpPr txBox="1"/>
          <p:nvPr/>
        </p:nvSpPr>
        <p:spPr>
          <a:xfrm>
            <a:off x="3017520" y="1682496"/>
            <a:ext cx="402336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STAGE</a:t>
            </a:r>
            <a:endParaRPr lang="en-US" sz="1000" dirty="0"/>
          </a:p>
        </p:txBody>
      </p:sp>
      <p:sp>
        <p:nvSpPr>
          <p:cNvPr id="23" name="Text 20"/>
          <p:cNvSpPr txBox="1"/>
          <p:nvPr/>
        </p:nvSpPr>
        <p:spPr>
          <a:xfrm>
            <a:off x="3017520" y="1920240"/>
            <a:ext cx="4114800" cy="365760"/>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M&amp;A再現性構築</a:t>
            </a:r>
            <a:endParaRPr lang="ja-JP" sz="1600" dirty="0"/>
          </a:p>
        </p:txBody>
      </p:sp>
      <p:graphicFrame>
        <p:nvGraphicFramePr>
          <p:cNvPr id="24" name="Chart 0" descr="グループ連結売上の暫定目標の推移（YEAR 4 を強調）"/>
          <p:cNvGraphicFramePr/>
          <p:nvPr/>
        </p:nvGraphicFramePr>
        <p:xfrm>
          <a:off x="7178040" y="1627632"/>
          <a:ext cx="2240280" cy="64008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9601200" y="1728216"/>
            <a:ext cx="0" cy="512064"/>
          </a:xfrm>
          <a:prstGeom prst="line">
            <a:avLst/>
          </a:prstGeom>
          <a:noFill/>
          <a:ln w="9525">
            <a:solidFill>
              <a:srgbClr val="C9D1DC"/>
            </a:solidFill>
            <a:prstDash val="solid"/>
          </a:ln>
        </p:spPr>
      </p:sp>
      <p:sp>
        <p:nvSpPr>
          <p:cNvPr id="26" name="Text 22"/>
          <p:cNvSpPr txBox="1"/>
          <p:nvPr/>
        </p:nvSpPr>
        <p:spPr>
          <a:xfrm>
            <a:off x="9710928" y="1682496"/>
            <a:ext cx="1792224" cy="219456"/>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グループ売上（暫定）</a:t>
            </a:r>
            <a:endParaRPr lang="ja-JP" sz="1000" dirty="0"/>
          </a:p>
        </p:txBody>
      </p:sp>
      <p:sp>
        <p:nvSpPr>
          <p:cNvPr id="27" name="Text 23"/>
          <p:cNvSpPr txBox="1"/>
          <p:nvPr/>
        </p:nvSpPr>
        <p:spPr>
          <a:xfrm>
            <a:off x="9710928" y="1901952"/>
            <a:ext cx="1792224" cy="420624"/>
          </a:xfrm>
          <a:prstGeom prst="rect">
            <a:avLst/>
          </a:prstGeom>
          <a:noFill/>
          <a:ln/>
        </p:spPr>
        <p:txBody>
          <a:bodyPr wrap="square" lIns="0" tIns="0" rIns="0" bIns="0" rtlCol="0" anchor="ctr"/>
          <a:lstStyle/>
          <a:p>
            <a:pPr algn="r" indent="0" marL="0">
              <a:buNone/>
            </a:pPr>
            <a:r>
              <a:rPr lang="en-US" altLang="en-US" sz="2600" b="1" dirty="0">
                <a:solidFill>
                  <a:srgbClr val="14284B"/>
                </a:solidFill>
                <a:latin typeface="Cambria" pitchFamily="34" charset="0"/>
                <a:ea typeface="Cambria" charset="-128"/>
                <a:cs typeface="Cambria" pitchFamily="34" charset="-120"/>
              </a:rPr>
              <a:t>18</a:t>
            </a:r>
            <a:pPr algn="r"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28" name="Text 24"/>
          <p:cNvSpPr txBox="1"/>
          <p:nvPr/>
        </p:nvSpPr>
        <p:spPr>
          <a:xfrm>
            <a:off x="548640" y="2606040"/>
            <a:ext cx="640080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親会社に置く機能（8）</a:t>
            </a:r>
            <a:pPr algn="l" indent="0" marL="0">
              <a:buNone/>
            </a:pPr>
            <a:r>
              <a:rPr lang="en-US" altLang="en-US" sz="1000" b="1" spc="200" kern="0" dirty="0">
                <a:solidFill>
                  <a:srgbClr val="8C6D3F"/>
                </a:solidFill>
                <a:latin typeface="Arial" pitchFamily="34" charset="0"/>
                <a:ea typeface="Arial" charset="-128"/>
                <a:cs typeface="Arial" pitchFamily="34" charset="-120"/>
              </a:rPr>
              <a:t>   PARENT FUNCTIONS</a:t>
            </a:r>
            <a:endParaRPr lang="ja-JP" sz="1400" dirty="0"/>
          </a:p>
        </p:txBody>
      </p:sp>
      <p:sp>
        <p:nvSpPr>
          <p:cNvPr id="29" name="Shape 25"/>
          <p:cNvSpPr/>
          <p:nvPr/>
        </p:nvSpPr>
        <p:spPr>
          <a:xfrm>
            <a:off x="2286000" y="3268980"/>
            <a:ext cx="880178" cy="640129"/>
          </a:xfrm>
          <a:prstGeom prst="line">
            <a:avLst/>
          </a:prstGeom>
          <a:noFill/>
          <a:ln w="12700">
            <a:solidFill>
              <a:srgbClr val="A7B0BE"/>
            </a:solidFill>
            <a:prstDash val="solid"/>
          </a:ln>
        </p:spPr>
      </p:sp>
      <p:sp>
        <p:nvSpPr>
          <p:cNvPr id="30" name="Shape 26"/>
          <p:cNvSpPr/>
          <p:nvPr/>
        </p:nvSpPr>
        <p:spPr>
          <a:xfrm flipH="1">
            <a:off x="4423342" y="3268980"/>
            <a:ext cx="880178" cy="640129"/>
          </a:xfrm>
          <a:prstGeom prst="line">
            <a:avLst/>
          </a:prstGeom>
          <a:noFill/>
          <a:ln w="12700">
            <a:solidFill>
              <a:srgbClr val="A7B0BE"/>
            </a:solidFill>
            <a:prstDash val="solid"/>
          </a:ln>
        </p:spPr>
      </p:sp>
      <p:sp>
        <p:nvSpPr>
          <p:cNvPr id="31" name="Text 27"/>
          <p:cNvSpPr txBox="1"/>
          <p:nvPr/>
        </p:nvSpPr>
        <p:spPr>
          <a:xfrm>
            <a:off x="548640" y="301752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経営企画</a:t>
            </a:r>
            <a:endParaRPr lang="ja-JP" sz="1400" dirty="0"/>
          </a:p>
        </p:txBody>
      </p:sp>
      <p:sp>
        <p:nvSpPr>
          <p:cNvPr id="32" name="Text 28"/>
          <p:cNvSpPr txBox="1"/>
          <p:nvPr/>
        </p:nvSpPr>
        <p:spPr>
          <a:xfrm>
            <a:off x="5303520" y="301752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PMI</a:t>
            </a:r>
            <a:endParaRPr lang="ja-JP" sz="1400" dirty="0"/>
          </a:p>
        </p:txBody>
      </p:sp>
      <p:sp>
        <p:nvSpPr>
          <p:cNvPr id="33" name="Shape 29"/>
          <p:cNvSpPr/>
          <p:nvPr/>
        </p:nvSpPr>
        <p:spPr>
          <a:xfrm>
            <a:off x="2286000" y="4000500"/>
            <a:ext cx="753399" cy="182642"/>
          </a:xfrm>
          <a:prstGeom prst="line">
            <a:avLst/>
          </a:prstGeom>
          <a:noFill/>
          <a:ln w="12700">
            <a:solidFill>
              <a:srgbClr val="A7B0BE"/>
            </a:solidFill>
            <a:prstDash val="solid"/>
          </a:ln>
        </p:spPr>
      </p:sp>
      <p:sp>
        <p:nvSpPr>
          <p:cNvPr id="34" name="Shape 30"/>
          <p:cNvSpPr/>
          <p:nvPr/>
        </p:nvSpPr>
        <p:spPr>
          <a:xfrm flipH="1">
            <a:off x="4550121" y="4000500"/>
            <a:ext cx="753399" cy="182642"/>
          </a:xfrm>
          <a:prstGeom prst="line">
            <a:avLst/>
          </a:prstGeom>
          <a:noFill/>
          <a:ln w="12700">
            <a:solidFill>
              <a:srgbClr val="A7B0BE"/>
            </a:solidFill>
            <a:prstDash val="solid"/>
          </a:ln>
        </p:spPr>
      </p:sp>
      <p:sp>
        <p:nvSpPr>
          <p:cNvPr id="35" name="Text 31"/>
          <p:cNvSpPr txBox="1"/>
          <p:nvPr/>
        </p:nvSpPr>
        <p:spPr>
          <a:xfrm>
            <a:off x="548640" y="374904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財務</a:t>
            </a:r>
            <a:endParaRPr lang="ja-JP" sz="1400" dirty="0"/>
          </a:p>
        </p:txBody>
      </p:sp>
      <p:sp>
        <p:nvSpPr>
          <p:cNvPr id="36" name="Text 32"/>
          <p:cNvSpPr txBox="1"/>
          <p:nvPr/>
        </p:nvSpPr>
        <p:spPr>
          <a:xfrm>
            <a:off x="5303520" y="374904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DX</a:t>
            </a:r>
            <a:endParaRPr lang="ja-JP" sz="1400" dirty="0"/>
          </a:p>
        </p:txBody>
      </p:sp>
      <p:sp>
        <p:nvSpPr>
          <p:cNvPr id="37" name="Shape 33"/>
          <p:cNvSpPr/>
          <p:nvPr/>
        </p:nvSpPr>
        <p:spPr>
          <a:xfrm flipV="1">
            <a:off x="2286000" y="4549378"/>
            <a:ext cx="753399" cy="182642"/>
          </a:xfrm>
          <a:prstGeom prst="line">
            <a:avLst/>
          </a:prstGeom>
          <a:noFill/>
          <a:ln w="12700">
            <a:solidFill>
              <a:srgbClr val="A7B0BE"/>
            </a:solidFill>
            <a:prstDash val="solid"/>
          </a:ln>
        </p:spPr>
      </p:sp>
      <p:sp>
        <p:nvSpPr>
          <p:cNvPr id="38" name="Shape 34"/>
          <p:cNvSpPr/>
          <p:nvPr/>
        </p:nvSpPr>
        <p:spPr>
          <a:xfrm flipH="1" flipV="1">
            <a:off x="4550121" y="4549378"/>
            <a:ext cx="753399" cy="182642"/>
          </a:xfrm>
          <a:prstGeom prst="line">
            <a:avLst/>
          </a:prstGeom>
          <a:noFill/>
          <a:ln w="12700">
            <a:solidFill>
              <a:srgbClr val="A7B0BE"/>
            </a:solidFill>
            <a:prstDash val="solid"/>
          </a:ln>
        </p:spPr>
      </p:sp>
      <p:sp>
        <p:nvSpPr>
          <p:cNvPr id="39" name="Text 35"/>
          <p:cNvSpPr txBox="1"/>
          <p:nvPr/>
        </p:nvSpPr>
        <p:spPr>
          <a:xfrm>
            <a:off x="548640" y="448056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M&amp;A</a:t>
            </a:r>
            <a:endParaRPr lang="ja-JP" sz="1400" dirty="0"/>
          </a:p>
        </p:txBody>
      </p:sp>
      <p:sp>
        <p:nvSpPr>
          <p:cNvPr id="40" name="Text 36"/>
          <p:cNvSpPr txBox="1"/>
          <p:nvPr/>
        </p:nvSpPr>
        <p:spPr>
          <a:xfrm>
            <a:off x="5303520" y="448056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法務</a:t>
            </a:r>
            <a:endParaRPr lang="ja-JP" sz="1400" dirty="0"/>
          </a:p>
        </p:txBody>
      </p:sp>
      <p:sp>
        <p:nvSpPr>
          <p:cNvPr id="41" name="Shape 37"/>
          <p:cNvSpPr/>
          <p:nvPr/>
        </p:nvSpPr>
        <p:spPr>
          <a:xfrm flipV="1">
            <a:off x="2286000" y="4823411"/>
            <a:ext cx="880178" cy="640129"/>
          </a:xfrm>
          <a:prstGeom prst="line">
            <a:avLst/>
          </a:prstGeom>
          <a:noFill/>
          <a:ln w="12700">
            <a:solidFill>
              <a:srgbClr val="A7B0BE"/>
            </a:solidFill>
            <a:prstDash val="solid"/>
          </a:ln>
        </p:spPr>
      </p:sp>
      <p:sp>
        <p:nvSpPr>
          <p:cNvPr id="42" name="Shape 38"/>
          <p:cNvSpPr/>
          <p:nvPr/>
        </p:nvSpPr>
        <p:spPr>
          <a:xfrm flipH="1" flipV="1">
            <a:off x="4423342" y="4823411"/>
            <a:ext cx="880178" cy="640129"/>
          </a:xfrm>
          <a:prstGeom prst="line">
            <a:avLst/>
          </a:prstGeom>
          <a:noFill/>
          <a:ln w="12700">
            <a:solidFill>
              <a:srgbClr val="A7B0BE"/>
            </a:solidFill>
            <a:prstDash val="solid"/>
          </a:ln>
        </p:spPr>
      </p:sp>
      <p:sp>
        <p:nvSpPr>
          <p:cNvPr id="43" name="Text 39"/>
          <p:cNvSpPr txBox="1"/>
          <p:nvPr/>
        </p:nvSpPr>
        <p:spPr>
          <a:xfrm>
            <a:off x="548640" y="521208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人事</a:t>
            </a:r>
            <a:endParaRPr lang="ja-JP" sz="1400" dirty="0"/>
          </a:p>
        </p:txBody>
      </p:sp>
      <p:sp>
        <p:nvSpPr>
          <p:cNvPr id="44" name="Text 40"/>
          <p:cNvSpPr txBox="1"/>
          <p:nvPr/>
        </p:nvSpPr>
        <p:spPr>
          <a:xfrm>
            <a:off x="5303520" y="5212080"/>
            <a:ext cx="1737360" cy="502920"/>
          </a:xfrm>
          <a:prstGeom prst="rect">
            <a:avLst/>
          </a:prstGeom>
          <a:solidFill>
            <a:srgbClr val="F3F5F8"/>
          </a:solidFill>
          <a:ln/>
        </p:spPr>
        <p:txBody>
          <a:bodyPr wrap="square" lIns="0" tIns="0" rIns="0" bIns="0" rtlCol="0" anchor="ctr"/>
          <a:lstStyle/>
          <a:p>
            <a:pPr algn="ctr" indent="0" marL="0">
              <a:buNone/>
            </a:pPr>
            <a:r>
              <a:rPr lang="ja-JP" altLang="en-US" sz="1400" b="1" dirty="0">
                <a:solidFill>
                  <a:srgbClr val="14284B"/>
                </a:solidFill>
                <a:latin typeface="Yu Gothic" pitchFamily="34" charset="0"/>
                <a:ea typeface="Yu Gothic" charset="-128"/>
                <a:cs typeface="Yu Gothic" pitchFamily="34" charset="-120"/>
              </a:rPr>
              <a:t>管理</a:t>
            </a:r>
            <a:endParaRPr lang="ja-JP" sz="1400" dirty="0"/>
          </a:p>
        </p:txBody>
      </p:sp>
      <p:sp>
        <p:nvSpPr>
          <p:cNvPr id="45" name="Shape 41"/>
          <p:cNvSpPr/>
          <p:nvPr/>
        </p:nvSpPr>
        <p:spPr>
          <a:xfrm>
            <a:off x="3017520" y="3589020"/>
            <a:ext cx="1554480" cy="1554480"/>
          </a:xfrm>
          <a:prstGeom prst="ellipse">
            <a:avLst/>
          </a:prstGeom>
          <a:solidFill>
            <a:srgbClr val="14284B"/>
          </a:solidFill>
          <a:ln/>
        </p:spPr>
      </p:sp>
      <p:sp>
        <p:nvSpPr>
          <p:cNvPr id="46" name="Text 42"/>
          <p:cNvSpPr txBox="1"/>
          <p:nvPr/>
        </p:nvSpPr>
        <p:spPr>
          <a:xfrm>
            <a:off x="3017520" y="3909060"/>
            <a:ext cx="1554480" cy="384048"/>
          </a:xfrm>
          <a:prstGeom prst="rect">
            <a:avLst/>
          </a:prstGeom>
          <a:noFill/>
          <a:ln/>
        </p:spPr>
        <p:txBody>
          <a:bodyPr wrap="square" lIns="0" tIns="0" rIns="0" bIns="0" rtlCol="0" anchor="t"/>
          <a:lstStyle/>
          <a:p>
            <a:pPr algn="ctr" indent="0" marL="0">
              <a:lnSpc>
                <a:spcPts val="1400"/>
              </a:lnSpc>
              <a:buNone/>
            </a:pPr>
            <a:r>
              <a:rPr lang="en-US" altLang="en-US" sz="1000" b="1" spc="100" kern="0" dirty="0">
                <a:solidFill>
                  <a:srgbClr val="C9A96E"/>
                </a:solidFill>
                <a:latin typeface="Arial" pitchFamily="34" charset="0"/>
                <a:ea typeface="Arial" charset="-128"/>
                <a:cs typeface="Arial" pitchFamily="34" charset="-120"/>
              </a:rPr>
              <a:t>PARENT</a:t>
            </a:r>
            <a:endParaRPr lang="en-US" sz="1000" dirty="0"/>
          </a:p>
          <a:p>
            <a:pPr algn="ctr" indent="0" marL="0">
              <a:lnSpc>
                <a:spcPts val="1400"/>
              </a:lnSpc>
              <a:buNone/>
            </a:pPr>
            <a:r>
              <a:rPr lang="en-US" altLang="en-US" sz="1000" b="1" spc="100" kern="0" dirty="0">
                <a:solidFill>
                  <a:srgbClr val="C9A96E"/>
                </a:solidFill>
                <a:latin typeface="Arial" pitchFamily="34" charset="0"/>
                <a:ea typeface="Arial" charset="-128"/>
                <a:cs typeface="Arial" pitchFamily="34" charset="-120"/>
              </a:rPr>
              <a:t>COMPANY</a:t>
            </a:r>
            <a:endParaRPr lang="en-US" sz="1000" dirty="0"/>
          </a:p>
        </p:txBody>
      </p:sp>
      <p:sp>
        <p:nvSpPr>
          <p:cNvPr id="47" name="Text 43"/>
          <p:cNvSpPr txBox="1"/>
          <p:nvPr/>
        </p:nvSpPr>
        <p:spPr>
          <a:xfrm>
            <a:off x="3017520" y="4347972"/>
            <a:ext cx="1554480" cy="32918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Yu Gothic" pitchFamily="34" charset="0"/>
                <a:ea typeface="Yu Gothic" charset="-128"/>
                <a:cs typeface="Yu Gothic" pitchFamily="34" charset="-120"/>
              </a:rPr>
              <a:t>親会社機能</a:t>
            </a:r>
            <a:endParaRPr lang="ja-JP" sz="1500" dirty="0"/>
          </a:p>
        </p:txBody>
      </p:sp>
      <p:sp>
        <p:nvSpPr>
          <p:cNvPr id="48" name="Shape 44"/>
          <p:cNvSpPr/>
          <p:nvPr/>
        </p:nvSpPr>
        <p:spPr>
          <a:xfrm>
            <a:off x="7406640" y="3017520"/>
            <a:ext cx="4233672" cy="2697480"/>
          </a:xfrm>
          <a:prstGeom prst="rect">
            <a:avLst/>
          </a:prstGeom>
          <a:solidFill>
            <a:srgbClr val="F3F5F8"/>
          </a:solidFill>
          <a:ln/>
        </p:spPr>
      </p:sp>
      <p:sp>
        <p:nvSpPr>
          <p:cNvPr id="49" name="Text 45"/>
          <p:cNvSpPr txBox="1"/>
          <p:nvPr/>
        </p:nvSpPr>
        <p:spPr>
          <a:xfrm>
            <a:off x="7680960" y="3163824"/>
            <a:ext cx="3657600" cy="274320"/>
          </a:xfrm>
          <a:prstGeom prst="rect">
            <a:avLst/>
          </a:prstGeom>
          <a:noFill/>
          <a:ln/>
        </p:spPr>
        <p:txBody>
          <a:bodyPr wrap="square" lIns="0" tIns="0" rIns="0" bIns="0" rtlCol="0" anchor="ctr"/>
          <a:lstStyle/>
          <a:p>
            <a:pPr algn="l" indent="0" marL="0">
              <a:buNone/>
            </a:pPr>
            <a:r>
              <a:rPr lang="ja-JP" altLang="en-US" sz="1300" b="1" dirty="0">
                <a:solidFill>
                  <a:srgbClr val="8C6D3F"/>
                </a:solidFill>
                <a:latin typeface="Yu Gothic" pitchFamily="34" charset="0"/>
                <a:ea typeface="Yu Gothic" charset="-128"/>
                <a:cs typeface="Yu Gothic" pitchFamily="34" charset="-120"/>
              </a:rPr>
              <a:t>目指す状態</a:t>
            </a:r>
            <a:endParaRPr lang="ja-JP" sz="1300" dirty="0"/>
          </a:p>
        </p:txBody>
      </p:sp>
      <p:sp>
        <p:nvSpPr>
          <p:cNvPr id="50" name="Text 46"/>
          <p:cNvSpPr txBox="1"/>
          <p:nvPr/>
        </p:nvSpPr>
        <p:spPr>
          <a:xfrm>
            <a:off x="7680960" y="3493008"/>
            <a:ext cx="3840480" cy="1234440"/>
          </a:xfrm>
          <a:prstGeom prst="rect">
            <a:avLst/>
          </a:prstGeom>
          <a:noFill/>
          <a:ln/>
        </p:spPr>
        <p:txBody>
          <a:bodyPr wrap="square" lIns="0" tIns="0" rIns="0" bIns="0" rtlCol="0" anchor="t"/>
          <a:lstStyle/>
          <a:p>
            <a:pPr algn="l" indent="0" marL="0">
              <a:lnSpc>
                <a:spcPts val="3100"/>
              </a:lnSpc>
              <a:buNone/>
            </a:pPr>
            <a:r>
              <a:rPr lang="ja-JP" altLang="en-US" sz="1900" dirty="0">
                <a:solidFill>
                  <a:srgbClr val="14284B"/>
                </a:solidFill>
                <a:latin typeface="Yu Mincho" pitchFamily="34" charset="0"/>
                <a:ea typeface="Yu Mincho" charset="-128"/>
                <a:cs typeface="Yu Mincho" pitchFamily="34" charset="-120"/>
              </a:rPr>
              <a:t>複数案件が同時並行で進み、</a:t>
            </a:r>
            <a:endParaRPr lang="ja-JP" sz="1900" dirty="0"/>
          </a:p>
          <a:p>
            <a:pPr algn="l" indent="0" marL="0">
              <a:lnSpc>
                <a:spcPts val="3100"/>
              </a:lnSpc>
              <a:buNone/>
            </a:pPr>
            <a:r>
              <a:rPr lang="ja-JP" altLang="en-US" sz="1900" dirty="0">
                <a:solidFill>
                  <a:srgbClr val="14284B"/>
                </a:solidFill>
                <a:latin typeface="Yu Mincho" pitchFamily="34" charset="0"/>
                <a:ea typeface="Yu Mincho" charset="-128"/>
                <a:cs typeface="Yu Mincho" pitchFamily="34" charset="-120"/>
              </a:rPr>
              <a:t>創業者本人が全てを</a:t>
            </a:r>
            <a:endParaRPr lang="ja-JP" sz="1900" dirty="0"/>
          </a:p>
          <a:p>
            <a:pPr algn="l" indent="0" marL="0">
              <a:lnSpc>
                <a:spcPts val="3100"/>
              </a:lnSpc>
              <a:buNone/>
            </a:pPr>
            <a:r>
              <a:rPr lang="ja-JP" altLang="en-US" sz="1900" dirty="0">
                <a:solidFill>
                  <a:srgbClr val="14284B"/>
                </a:solidFill>
                <a:latin typeface="Yu Mincho" pitchFamily="34" charset="0"/>
                <a:ea typeface="Yu Mincho" charset="-128"/>
                <a:cs typeface="Yu Mincho" pitchFamily="34" charset="-120"/>
              </a:rPr>
              <a:t>処理しなくても回る状態。</a:t>
            </a:r>
            <a:endParaRPr lang="ja-JP" sz="1900" dirty="0"/>
          </a:p>
        </p:txBody>
      </p:sp>
      <p:sp>
        <p:nvSpPr>
          <p:cNvPr id="51" name="Text 47"/>
          <p:cNvSpPr txBox="1"/>
          <p:nvPr/>
        </p:nvSpPr>
        <p:spPr>
          <a:xfrm>
            <a:off x="7680960" y="4846320"/>
            <a:ext cx="1463040" cy="402336"/>
          </a:xfrm>
          <a:prstGeom prst="rect">
            <a:avLst/>
          </a:prstGeom>
          <a:solidFill>
            <a:srgbClr val="FFFFFF"/>
          </a:solidFill>
          <a:ln w="12700">
            <a:solidFill>
              <a:srgbClr val="C9D1DC"/>
            </a:solidFill>
          </a:ln>
        </p:spPr>
        <p:txBody>
          <a:bodyPr wrap="square" lIns="0" tIns="0" rIns="0" bIns="0" rtlCol="0" anchor="ctr"/>
          <a:lstStyle/>
          <a:p>
            <a:pPr algn="ctr" indent="0" marL="0">
              <a:buNone/>
            </a:pPr>
            <a:r>
              <a:rPr lang="ja-JP" altLang="en-US" sz="1400" b="1" dirty="0">
                <a:solidFill>
                  <a:srgbClr val="5B6675"/>
                </a:solidFill>
                <a:latin typeface="Yu Gothic" pitchFamily="34" charset="0"/>
                <a:ea typeface="Yu Gothic" charset="-128"/>
                <a:cs typeface="Yu Gothic" pitchFamily="34" charset="-120"/>
              </a:rPr>
              <a:t>個人技</a:t>
            </a:r>
            <a:endParaRPr lang="ja-JP" sz="1400" dirty="0"/>
          </a:p>
        </p:txBody>
      </p:sp>
      <p:sp>
        <p:nvSpPr>
          <p:cNvPr id="52" name="Shape 48"/>
          <p:cNvSpPr/>
          <p:nvPr/>
        </p:nvSpPr>
        <p:spPr>
          <a:xfrm>
            <a:off x="9198864" y="5047488"/>
            <a:ext cx="493776" cy="0"/>
          </a:xfrm>
          <a:prstGeom prst="line">
            <a:avLst/>
          </a:prstGeom>
          <a:noFill/>
          <a:ln w="19050">
            <a:solidFill>
              <a:srgbClr val="B08D57"/>
            </a:solidFill>
            <a:prstDash val="solid"/>
            <a:tailEnd type="triangle"/>
          </a:ln>
        </p:spPr>
      </p:sp>
      <p:sp>
        <p:nvSpPr>
          <p:cNvPr id="53" name="Text 49"/>
          <p:cNvSpPr txBox="1"/>
          <p:nvPr/>
        </p:nvSpPr>
        <p:spPr>
          <a:xfrm>
            <a:off x="9765792" y="4846320"/>
            <a:ext cx="1645920" cy="402336"/>
          </a:xfrm>
          <a:prstGeom prst="rect">
            <a:avLst/>
          </a:prstGeom>
          <a:solidFill>
            <a:srgbClr val="14284B"/>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charset="-128"/>
                <a:cs typeface="Yu Gothic" pitchFamily="34" charset="-120"/>
              </a:rPr>
              <a:t>組織能力</a:t>
            </a:r>
            <a:endParaRPr lang="ja-JP" sz="1400" dirty="0"/>
          </a:p>
        </p:txBody>
      </p:sp>
      <p:sp>
        <p:nvSpPr>
          <p:cNvPr id="54" name="Text 50"/>
          <p:cNvSpPr txBox="1"/>
          <p:nvPr/>
        </p:nvSpPr>
        <p:spPr>
          <a:xfrm>
            <a:off x="7589520" y="5321808"/>
            <a:ext cx="1645920" cy="237744"/>
          </a:xfrm>
          <a:prstGeom prst="rect">
            <a:avLst/>
          </a:prstGeom>
          <a:noFill/>
          <a:ln/>
        </p:spPr>
        <p:txBody>
          <a:bodyPr wrap="square" lIns="0" tIns="0" rIns="0" bIns="0" rtlCol="0" anchor="ctr"/>
          <a:lstStyle/>
          <a:p>
            <a:pPr algn="ctr" indent="0" marL="0">
              <a:buNone/>
            </a:pPr>
            <a:r>
              <a:rPr lang="ja-JP" altLang="en-US" sz="1100" dirty="0">
                <a:solidFill>
                  <a:srgbClr val="5B6675"/>
                </a:solidFill>
                <a:latin typeface="Yu Gothic Medium" pitchFamily="34" charset="0"/>
                <a:ea typeface="Yu Gothic Medium" charset="-128"/>
                <a:cs typeface="Yu Gothic Medium" pitchFamily="34" charset="-120"/>
              </a:rPr>
              <a:t>創業者が処理</a:t>
            </a:r>
            <a:endParaRPr lang="ja-JP" sz="1100" dirty="0"/>
          </a:p>
        </p:txBody>
      </p:sp>
      <p:sp>
        <p:nvSpPr>
          <p:cNvPr id="55" name="Text 51"/>
          <p:cNvSpPr txBox="1"/>
          <p:nvPr/>
        </p:nvSpPr>
        <p:spPr>
          <a:xfrm>
            <a:off x="9582912" y="5321808"/>
            <a:ext cx="2011680" cy="237744"/>
          </a:xfrm>
          <a:prstGeom prst="rect">
            <a:avLst/>
          </a:prstGeom>
          <a:noFill/>
          <a:ln/>
        </p:spPr>
        <p:txBody>
          <a:bodyPr wrap="square" lIns="0" tIns="0" rIns="0" bIns="0" rtlCol="0" anchor="ctr"/>
          <a:lstStyle/>
          <a:p>
            <a:pPr algn="ctr" indent="0" marL="0">
              <a:buNone/>
            </a:pPr>
            <a:r>
              <a:rPr lang="ja-JP" altLang="en-US" sz="1100" dirty="0">
                <a:solidFill>
                  <a:srgbClr val="5B6675"/>
                </a:solidFill>
                <a:latin typeface="Yu Gothic Medium" pitchFamily="34" charset="0"/>
                <a:ea typeface="Yu Gothic Medium" charset="-128"/>
                <a:cs typeface="Yu Gothic Medium" pitchFamily="34" charset="-120"/>
              </a:rPr>
              <a:t>親会社機能が処理</a:t>
            </a:r>
            <a:endParaRPr lang="ja-JP"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14</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YEAR 5   2030–2031</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30億を作るのではない。30億を運営できるグループを作る。</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2700">
            <a:solidFill>
              <a:srgbClr val="C9D1DC"/>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5CCD6"/>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第Ⅱ章　5カ年目標とロードマップ</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14</a:t>
            </a:r>
            <a:endParaRPr lang="en-US" sz="1000" dirty="0"/>
          </a:p>
        </p:txBody>
      </p:sp>
      <p:sp>
        <p:nvSpPr>
          <p:cNvPr id="18" name="Shape 15"/>
          <p:cNvSpPr/>
          <p:nvPr/>
        </p:nvSpPr>
        <p:spPr>
          <a:xfrm>
            <a:off x="548640" y="1572768"/>
            <a:ext cx="11094415" cy="822960"/>
          </a:xfrm>
          <a:prstGeom prst="rect">
            <a:avLst/>
          </a:prstGeom>
          <a:solidFill>
            <a:srgbClr val="F3F5F8"/>
          </a:solidFill>
          <a:ln/>
        </p:spPr>
      </p:sp>
      <p:sp>
        <p:nvSpPr>
          <p:cNvPr id="19" name="Text 16"/>
          <p:cNvSpPr txBox="1"/>
          <p:nvPr/>
        </p:nvSpPr>
        <p:spPr>
          <a:xfrm>
            <a:off x="777240" y="1645920"/>
            <a:ext cx="1920240" cy="384048"/>
          </a:xfrm>
          <a:prstGeom prst="rect">
            <a:avLst/>
          </a:prstGeom>
          <a:noFill/>
          <a:ln/>
        </p:spPr>
        <p:txBody>
          <a:bodyPr wrap="square" lIns="0" tIns="0" rIns="0" bIns="0" rtlCol="0" anchor="ctr"/>
          <a:lstStyle/>
          <a:p>
            <a:pPr algn="l" indent="0" marL="0">
              <a:buNone/>
            </a:pPr>
            <a:r>
              <a:rPr lang="en-US" altLang="en-US" sz="2400" b="1" dirty="0">
                <a:solidFill>
                  <a:srgbClr val="14284B"/>
                </a:solidFill>
                <a:latin typeface="Cambria" pitchFamily="34" charset="0"/>
                <a:ea typeface="Cambria" charset="-128"/>
                <a:cs typeface="Cambria" pitchFamily="34" charset="-120"/>
              </a:rPr>
              <a:t>YEAR 5</a:t>
            </a:r>
            <a:endParaRPr lang="en-US" sz="2400" dirty="0"/>
          </a:p>
        </p:txBody>
      </p:sp>
      <p:sp>
        <p:nvSpPr>
          <p:cNvPr id="20" name="Text 17"/>
          <p:cNvSpPr txBox="1"/>
          <p:nvPr/>
        </p:nvSpPr>
        <p:spPr>
          <a:xfrm>
            <a:off x="777240" y="2039112"/>
            <a:ext cx="1920240" cy="237744"/>
          </a:xfrm>
          <a:prstGeom prst="rect">
            <a:avLst/>
          </a:prstGeom>
          <a:noFill/>
          <a:ln/>
        </p:spPr>
        <p:txBody>
          <a:bodyPr wrap="square" lIns="0" tIns="0" rIns="0" bIns="0" rtlCol="0" anchor="ctr"/>
          <a:lstStyle/>
          <a:p>
            <a:pPr algn="l" indent="0" marL="0">
              <a:buNone/>
            </a:pPr>
            <a:r>
              <a:rPr lang="en-US" altLang="en-US" sz="1200" dirty="0">
                <a:solidFill>
                  <a:srgbClr val="5B6675"/>
                </a:solidFill>
                <a:latin typeface="Arial" pitchFamily="34" charset="0"/>
                <a:ea typeface="Arial" charset="-128"/>
                <a:cs typeface="Arial" pitchFamily="34" charset="-120"/>
              </a:rPr>
              <a:t>2030.10–2031.9</a:t>
            </a:r>
            <a:endParaRPr lang="en-US" sz="1200" dirty="0"/>
          </a:p>
        </p:txBody>
      </p:sp>
      <p:sp>
        <p:nvSpPr>
          <p:cNvPr id="21" name="Shape 18"/>
          <p:cNvSpPr/>
          <p:nvPr/>
        </p:nvSpPr>
        <p:spPr>
          <a:xfrm>
            <a:off x="2788920" y="1728216"/>
            <a:ext cx="0" cy="512064"/>
          </a:xfrm>
          <a:prstGeom prst="line">
            <a:avLst/>
          </a:prstGeom>
          <a:noFill/>
          <a:ln w="9525">
            <a:solidFill>
              <a:srgbClr val="C9D1DC"/>
            </a:solidFill>
            <a:prstDash val="solid"/>
          </a:ln>
        </p:spPr>
      </p:sp>
      <p:sp>
        <p:nvSpPr>
          <p:cNvPr id="22" name="Text 19"/>
          <p:cNvSpPr txBox="1"/>
          <p:nvPr/>
        </p:nvSpPr>
        <p:spPr>
          <a:xfrm>
            <a:off x="3017520" y="1682496"/>
            <a:ext cx="402336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STAGE</a:t>
            </a:r>
            <a:endParaRPr lang="en-US" sz="1000" dirty="0"/>
          </a:p>
        </p:txBody>
      </p:sp>
      <p:sp>
        <p:nvSpPr>
          <p:cNvPr id="23" name="Text 20"/>
          <p:cNvSpPr txBox="1"/>
          <p:nvPr/>
        </p:nvSpPr>
        <p:spPr>
          <a:xfrm>
            <a:off x="3017520" y="1920240"/>
            <a:ext cx="4114800" cy="365760"/>
          </a:xfrm>
          <a:prstGeom prst="rect">
            <a:avLst/>
          </a:prstGeom>
          <a:noFill/>
          <a:ln/>
        </p:spPr>
        <p:txBody>
          <a:bodyPr wrap="square" lIns="0" tIns="0" rIns="0" bIns="0" rtlCol="0" anchor="ctr"/>
          <a:lstStyle/>
          <a:p>
            <a:pPr algn="l" indent="0" marL="0">
              <a:buNone/>
            </a:pPr>
            <a:r>
              <a:rPr lang="ja-JP" altLang="en-US" sz="1600" b="1" dirty="0">
                <a:solidFill>
                  <a:srgbClr val="14284B"/>
                </a:solidFill>
                <a:latin typeface="Yu Gothic" pitchFamily="34" charset="0"/>
                <a:ea typeface="Yu Gothic" charset="-128"/>
                <a:cs typeface="Yu Gothic" pitchFamily="34" charset="-120"/>
              </a:rPr>
              <a:t>連結30億・グループ経営基盤完成</a:t>
            </a:r>
            <a:endParaRPr lang="ja-JP" sz="1600" dirty="0"/>
          </a:p>
        </p:txBody>
      </p:sp>
      <p:graphicFrame>
        <p:nvGraphicFramePr>
          <p:cNvPr id="24" name="Chart 0" descr="グループ連結売上の暫定目標の推移（YEAR 5 を強調）"/>
          <p:cNvGraphicFramePr/>
          <p:nvPr/>
        </p:nvGraphicFramePr>
        <p:xfrm>
          <a:off x="7178040" y="1627632"/>
          <a:ext cx="2240280" cy="640080"/>
        </p:xfrm>
        <a:graphic xmlns:a="http://schemas.openxmlformats.org/drawingml/2006/main">
          <a:graphicData uri="http://schemas.openxmlformats.org/drawingml/2006/chart">
            <c:chart xmlns:c="http://schemas.openxmlformats.org/drawingml/2006/chart" r:id="rId1"/>
          </a:graphicData>
        </a:graphic>
      </p:graphicFrame>
      <p:sp>
        <p:nvSpPr>
          <p:cNvPr id="25" name="Shape 21"/>
          <p:cNvSpPr/>
          <p:nvPr/>
        </p:nvSpPr>
        <p:spPr>
          <a:xfrm>
            <a:off x="9601200" y="1728216"/>
            <a:ext cx="0" cy="512064"/>
          </a:xfrm>
          <a:prstGeom prst="line">
            <a:avLst/>
          </a:prstGeom>
          <a:noFill/>
          <a:ln w="9525">
            <a:solidFill>
              <a:srgbClr val="C9D1DC"/>
            </a:solidFill>
            <a:prstDash val="solid"/>
          </a:ln>
        </p:spPr>
      </p:sp>
      <p:sp>
        <p:nvSpPr>
          <p:cNvPr id="26" name="Text 22"/>
          <p:cNvSpPr txBox="1"/>
          <p:nvPr/>
        </p:nvSpPr>
        <p:spPr>
          <a:xfrm>
            <a:off x="9710928" y="1682496"/>
            <a:ext cx="1792224" cy="219456"/>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グループ売上（暫定）</a:t>
            </a:r>
            <a:endParaRPr lang="ja-JP" sz="1000" dirty="0"/>
          </a:p>
        </p:txBody>
      </p:sp>
      <p:sp>
        <p:nvSpPr>
          <p:cNvPr id="27" name="Text 23"/>
          <p:cNvSpPr txBox="1"/>
          <p:nvPr/>
        </p:nvSpPr>
        <p:spPr>
          <a:xfrm>
            <a:off x="9710928" y="1901952"/>
            <a:ext cx="1792224" cy="420624"/>
          </a:xfrm>
          <a:prstGeom prst="rect">
            <a:avLst/>
          </a:prstGeom>
          <a:noFill/>
          <a:ln/>
        </p:spPr>
        <p:txBody>
          <a:bodyPr wrap="square" lIns="0" tIns="0" rIns="0" bIns="0" rtlCol="0" anchor="ctr"/>
          <a:lstStyle/>
          <a:p>
            <a:pPr algn="r" indent="0" marL="0">
              <a:buNone/>
            </a:pPr>
            <a:r>
              <a:rPr lang="en-US" altLang="en-US" sz="2600" b="1" dirty="0">
                <a:solidFill>
                  <a:srgbClr val="14284B"/>
                </a:solidFill>
                <a:latin typeface="Cambria" pitchFamily="34" charset="0"/>
                <a:ea typeface="Cambria" charset="-128"/>
                <a:cs typeface="Cambria" pitchFamily="34" charset="-120"/>
              </a:rPr>
              <a:t>30</a:t>
            </a:r>
            <a:pPr algn="r" indent="0" marL="0">
              <a:buNone/>
            </a:pPr>
            <a:r>
              <a:rPr lang="ja-JP" altLang="en-US" sz="1400" b="1" dirty="0">
                <a:solidFill>
                  <a:srgbClr val="14284B"/>
                </a:solidFill>
                <a:latin typeface="Yu Gothic" pitchFamily="34" charset="0"/>
                <a:ea typeface="Yu Gothic" charset="-128"/>
                <a:cs typeface="Yu Gothic" pitchFamily="34" charset="-120"/>
              </a:rPr>
              <a:t>億円</a:t>
            </a:r>
            <a:endParaRPr lang="ja-JP" sz="1400" dirty="0"/>
          </a:p>
        </p:txBody>
      </p:sp>
      <p:sp>
        <p:nvSpPr>
          <p:cNvPr id="28" name="Text 24"/>
          <p:cNvSpPr txBox="1"/>
          <p:nvPr/>
        </p:nvSpPr>
        <p:spPr>
          <a:xfrm>
            <a:off x="548640" y="2606040"/>
            <a:ext cx="685800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成功条件（9）</a:t>
            </a:r>
            <a:pPr algn="l" indent="0" marL="0">
              <a:buNone/>
            </a:pPr>
            <a:r>
              <a:rPr lang="en-US" altLang="en-US" sz="1000" b="1" spc="200" kern="0" dirty="0">
                <a:solidFill>
                  <a:srgbClr val="8C6D3F"/>
                </a:solidFill>
                <a:latin typeface="Arial" pitchFamily="34" charset="0"/>
                <a:ea typeface="Arial" charset="-128"/>
                <a:cs typeface="Arial" pitchFamily="34" charset="-120"/>
              </a:rPr>
              <a:t>   SUCCESS CONDITIONS</a:t>
            </a:r>
            <a:endParaRPr lang="ja-JP" sz="1400" dirty="0"/>
          </a:p>
        </p:txBody>
      </p:sp>
      <p:sp>
        <p:nvSpPr>
          <p:cNvPr id="29" name="Shape 25"/>
          <p:cNvSpPr/>
          <p:nvPr/>
        </p:nvSpPr>
        <p:spPr>
          <a:xfrm>
            <a:off x="548640" y="3017520"/>
            <a:ext cx="2194560" cy="822960"/>
          </a:xfrm>
          <a:prstGeom prst="rect">
            <a:avLst/>
          </a:prstGeom>
          <a:solidFill>
            <a:srgbClr val="F3F5F8"/>
          </a:solidFill>
          <a:ln/>
        </p:spPr>
      </p:sp>
      <p:sp>
        <p:nvSpPr>
          <p:cNvPr id="30" name="Text 26"/>
          <p:cNvSpPr txBox="1"/>
          <p:nvPr/>
        </p:nvSpPr>
        <p:spPr>
          <a:xfrm>
            <a:off x="713232" y="301752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01</a:t>
            </a:r>
            <a:endParaRPr lang="en-US" sz="1300" dirty="0"/>
          </a:p>
        </p:txBody>
      </p:sp>
      <p:sp>
        <p:nvSpPr>
          <p:cNvPr id="31" name="Text 27"/>
          <p:cNvSpPr txBox="1"/>
          <p:nvPr/>
        </p:nvSpPr>
        <p:spPr>
          <a:xfrm>
            <a:off x="1115568" y="301752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複数事業</a:t>
            </a:r>
            <a:endParaRPr lang="ja-JP" sz="1500" dirty="0"/>
          </a:p>
        </p:txBody>
      </p:sp>
      <p:sp>
        <p:nvSpPr>
          <p:cNvPr id="32" name="Shape 28"/>
          <p:cNvSpPr/>
          <p:nvPr/>
        </p:nvSpPr>
        <p:spPr>
          <a:xfrm>
            <a:off x="2880360" y="3017520"/>
            <a:ext cx="2194560" cy="822960"/>
          </a:xfrm>
          <a:prstGeom prst="rect">
            <a:avLst/>
          </a:prstGeom>
          <a:solidFill>
            <a:srgbClr val="F3F5F8"/>
          </a:solidFill>
          <a:ln/>
        </p:spPr>
      </p:sp>
      <p:sp>
        <p:nvSpPr>
          <p:cNvPr id="33" name="Text 29"/>
          <p:cNvSpPr txBox="1"/>
          <p:nvPr/>
        </p:nvSpPr>
        <p:spPr>
          <a:xfrm>
            <a:off x="3044952" y="301752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02</a:t>
            </a:r>
            <a:endParaRPr lang="en-US" sz="1300" dirty="0"/>
          </a:p>
        </p:txBody>
      </p:sp>
      <p:sp>
        <p:nvSpPr>
          <p:cNvPr id="34" name="Text 30"/>
          <p:cNvSpPr txBox="1"/>
          <p:nvPr/>
        </p:nvSpPr>
        <p:spPr>
          <a:xfrm>
            <a:off x="3447288" y="301752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複数経営者</a:t>
            </a:r>
            <a:endParaRPr lang="ja-JP" sz="1500" dirty="0"/>
          </a:p>
        </p:txBody>
      </p:sp>
      <p:sp>
        <p:nvSpPr>
          <p:cNvPr id="35" name="Shape 31"/>
          <p:cNvSpPr/>
          <p:nvPr/>
        </p:nvSpPr>
        <p:spPr>
          <a:xfrm>
            <a:off x="5212080" y="3017520"/>
            <a:ext cx="2194560" cy="822960"/>
          </a:xfrm>
          <a:prstGeom prst="rect">
            <a:avLst/>
          </a:prstGeom>
          <a:solidFill>
            <a:srgbClr val="F3F5F8"/>
          </a:solidFill>
          <a:ln/>
        </p:spPr>
      </p:sp>
      <p:sp>
        <p:nvSpPr>
          <p:cNvPr id="36" name="Text 32"/>
          <p:cNvSpPr txBox="1"/>
          <p:nvPr/>
        </p:nvSpPr>
        <p:spPr>
          <a:xfrm>
            <a:off x="5376672" y="301752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03</a:t>
            </a:r>
            <a:endParaRPr lang="en-US" sz="1300" dirty="0"/>
          </a:p>
        </p:txBody>
      </p:sp>
      <p:sp>
        <p:nvSpPr>
          <p:cNvPr id="37" name="Text 33"/>
          <p:cNvSpPr txBox="1"/>
          <p:nvPr/>
        </p:nvSpPr>
        <p:spPr>
          <a:xfrm>
            <a:off x="5779008" y="301752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親会社機能</a:t>
            </a:r>
            <a:endParaRPr lang="ja-JP" sz="1500" dirty="0"/>
          </a:p>
        </p:txBody>
      </p:sp>
      <p:sp>
        <p:nvSpPr>
          <p:cNvPr id="38" name="Shape 34"/>
          <p:cNvSpPr/>
          <p:nvPr/>
        </p:nvSpPr>
        <p:spPr>
          <a:xfrm>
            <a:off x="548640" y="3977640"/>
            <a:ext cx="2194560" cy="822960"/>
          </a:xfrm>
          <a:prstGeom prst="rect">
            <a:avLst/>
          </a:prstGeom>
          <a:solidFill>
            <a:srgbClr val="F3F5F8"/>
          </a:solidFill>
          <a:ln/>
        </p:spPr>
      </p:sp>
      <p:sp>
        <p:nvSpPr>
          <p:cNvPr id="39" name="Text 35"/>
          <p:cNvSpPr txBox="1"/>
          <p:nvPr/>
        </p:nvSpPr>
        <p:spPr>
          <a:xfrm>
            <a:off x="713232" y="397764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04</a:t>
            </a:r>
            <a:endParaRPr lang="en-US" sz="1300" dirty="0"/>
          </a:p>
        </p:txBody>
      </p:sp>
      <p:sp>
        <p:nvSpPr>
          <p:cNvPr id="40" name="Text 36"/>
          <p:cNvSpPr txBox="1"/>
          <p:nvPr/>
        </p:nvSpPr>
        <p:spPr>
          <a:xfrm>
            <a:off x="1115568" y="397764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子会社自走</a:t>
            </a:r>
            <a:endParaRPr lang="ja-JP" sz="1500" dirty="0"/>
          </a:p>
        </p:txBody>
      </p:sp>
      <p:sp>
        <p:nvSpPr>
          <p:cNvPr id="41" name="Shape 37"/>
          <p:cNvSpPr/>
          <p:nvPr/>
        </p:nvSpPr>
        <p:spPr>
          <a:xfrm>
            <a:off x="2880360" y="3977640"/>
            <a:ext cx="2194560" cy="822960"/>
          </a:xfrm>
          <a:prstGeom prst="rect">
            <a:avLst/>
          </a:prstGeom>
          <a:solidFill>
            <a:srgbClr val="F3F5F8"/>
          </a:solidFill>
          <a:ln/>
        </p:spPr>
      </p:sp>
      <p:sp>
        <p:nvSpPr>
          <p:cNvPr id="42" name="Text 38"/>
          <p:cNvSpPr txBox="1"/>
          <p:nvPr/>
        </p:nvSpPr>
        <p:spPr>
          <a:xfrm>
            <a:off x="3044952" y="397764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05</a:t>
            </a:r>
            <a:endParaRPr lang="en-US" sz="1300" dirty="0"/>
          </a:p>
        </p:txBody>
      </p:sp>
      <p:sp>
        <p:nvSpPr>
          <p:cNvPr id="43" name="Text 39"/>
          <p:cNvSpPr txBox="1"/>
          <p:nvPr/>
        </p:nvSpPr>
        <p:spPr>
          <a:xfrm>
            <a:off x="3447288" y="397764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継続M&amp;A</a:t>
            </a:r>
            <a:endParaRPr lang="ja-JP" sz="1500" dirty="0"/>
          </a:p>
        </p:txBody>
      </p:sp>
      <p:sp>
        <p:nvSpPr>
          <p:cNvPr id="44" name="Shape 40"/>
          <p:cNvSpPr/>
          <p:nvPr/>
        </p:nvSpPr>
        <p:spPr>
          <a:xfrm>
            <a:off x="5212080" y="3977640"/>
            <a:ext cx="2194560" cy="822960"/>
          </a:xfrm>
          <a:prstGeom prst="rect">
            <a:avLst/>
          </a:prstGeom>
          <a:solidFill>
            <a:srgbClr val="F3F5F8"/>
          </a:solidFill>
          <a:ln/>
        </p:spPr>
      </p:sp>
      <p:sp>
        <p:nvSpPr>
          <p:cNvPr id="45" name="Text 41"/>
          <p:cNvSpPr txBox="1"/>
          <p:nvPr/>
        </p:nvSpPr>
        <p:spPr>
          <a:xfrm>
            <a:off x="5376672" y="397764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06</a:t>
            </a:r>
            <a:endParaRPr lang="en-US" sz="1300" dirty="0"/>
          </a:p>
        </p:txBody>
      </p:sp>
      <p:sp>
        <p:nvSpPr>
          <p:cNvPr id="46" name="Text 42"/>
          <p:cNvSpPr txBox="1"/>
          <p:nvPr/>
        </p:nvSpPr>
        <p:spPr>
          <a:xfrm>
            <a:off x="5779008" y="397764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新規事業</a:t>
            </a:r>
            <a:endParaRPr lang="ja-JP" sz="1500" dirty="0"/>
          </a:p>
        </p:txBody>
      </p:sp>
      <p:sp>
        <p:nvSpPr>
          <p:cNvPr id="47" name="Shape 43"/>
          <p:cNvSpPr/>
          <p:nvPr/>
        </p:nvSpPr>
        <p:spPr>
          <a:xfrm>
            <a:off x="548640" y="4937760"/>
            <a:ext cx="2194560" cy="822960"/>
          </a:xfrm>
          <a:prstGeom prst="rect">
            <a:avLst/>
          </a:prstGeom>
          <a:solidFill>
            <a:srgbClr val="F3F5F8"/>
          </a:solidFill>
          <a:ln/>
        </p:spPr>
      </p:sp>
      <p:sp>
        <p:nvSpPr>
          <p:cNvPr id="48" name="Text 44"/>
          <p:cNvSpPr txBox="1"/>
          <p:nvPr/>
        </p:nvSpPr>
        <p:spPr>
          <a:xfrm>
            <a:off x="713232" y="493776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07</a:t>
            </a:r>
            <a:endParaRPr lang="en-US" sz="1300" dirty="0"/>
          </a:p>
        </p:txBody>
      </p:sp>
      <p:sp>
        <p:nvSpPr>
          <p:cNvPr id="49" name="Text 45"/>
          <p:cNvSpPr txBox="1"/>
          <p:nvPr/>
        </p:nvSpPr>
        <p:spPr>
          <a:xfrm>
            <a:off x="1115568" y="493776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管理会計</a:t>
            </a:r>
            <a:endParaRPr lang="ja-JP" sz="1500" dirty="0"/>
          </a:p>
        </p:txBody>
      </p:sp>
      <p:sp>
        <p:nvSpPr>
          <p:cNvPr id="50" name="Shape 46"/>
          <p:cNvSpPr/>
          <p:nvPr/>
        </p:nvSpPr>
        <p:spPr>
          <a:xfrm>
            <a:off x="2880360" y="4937760"/>
            <a:ext cx="2194560" cy="822960"/>
          </a:xfrm>
          <a:prstGeom prst="rect">
            <a:avLst/>
          </a:prstGeom>
          <a:solidFill>
            <a:srgbClr val="F3F5F8"/>
          </a:solidFill>
          <a:ln/>
        </p:spPr>
      </p:sp>
      <p:sp>
        <p:nvSpPr>
          <p:cNvPr id="51" name="Text 47"/>
          <p:cNvSpPr txBox="1"/>
          <p:nvPr/>
        </p:nvSpPr>
        <p:spPr>
          <a:xfrm>
            <a:off x="3044952" y="493776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08</a:t>
            </a:r>
            <a:endParaRPr lang="en-US" sz="1300" dirty="0"/>
          </a:p>
        </p:txBody>
      </p:sp>
      <p:sp>
        <p:nvSpPr>
          <p:cNvPr id="52" name="Text 48"/>
          <p:cNvSpPr txBox="1"/>
          <p:nvPr/>
        </p:nvSpPr>
        <p:spPr>
          <a:xfrm>
            <a:off x="3447288" y="4937760"/>
            <a:ext cx="1554480" cy="822960"/>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資本配分</a:t>
            </a:r>
            <a:endParaRPr lang="ja-JP" sz="1500" dirty="0"/>
          </a:p>
        </p:txBody>
      </p:sp>
      <p:sp>
        <p:nvSpPr>
          <p:cNvPr id="53" name="Shape 49"/>
          <p:cNvSpPr/>
          <p:nvPr/>
        </p:nvSpPr>
        <p:spPr>
          <a:xfrm>
            <a:off x="5212080" y="4937760"/>
            <a:ext cx="2194560" cy="822960"/>
          </a:xfrm>
          <a:prstGeom prst="rect">
            <a:avLst/>
          </a:prstGeom>
          <a:solidFill>
            <a:srgbClr val="F3F5F8"/>
          </a:solidFill>
          <a:ln/>
        </p:spPr>
      </p:sp>
      <p:sp>
        <p:nvSpPr>
          <p:cNvPr id="54" name="Text 50"/>
          <p:cNvSpPr txBox="1"/>
          <p:nvPr/>
        </p:nvSpPr>
        <p:spPr>
          <a:xfrm>
            <a:off x="5376672" y="4937760"/>
            <a:ext cx="411480" cy="822960"/>
          </a:xfrm>
          <a:prstGeom prst="rect">
            <a:avLst/>
          </a:prstGeom>
          <a:noFill/>
          <a:ln/>
        </p:spPr>
        <p:txBody>
          <a:bodyPr wrap="square" lIns="0" tIns="0" rIns="0" bIns="0" rtlCol="0" anchor="ctr"/>
          <a:lstStyle/>
          <a:p>
            <a:pPr algn="l" indent="0" marL="0">
              <a:buNone/>
            </a:pPr>
            <a:r>
              <a:rPr lang="en-US" altLang="en-US" sz="1300" b="1" dirty="0">
                <a:solidFill>
                  <a:srgbClr val="8C6D3F"/>
                </a:solidFill>
                <a:latin typeface="Cambria" pitchFamily="34" charset="0"/>
                <a:ea typeface="Cambria" charset="-128"/>
                <a:cs typeface="Cambria" pitchFamily="34" charset="-120"/>
              </a:rPr>
              <a:t>09</a:t>
            </a:r>
            <a:endParaRPr lang="en-US" sz="1300" dirty="0"/>
          </a:p>
        </p:txBody>
      </p:sp>
      <p:sp>
        <p:nvSpPr>
          <p:cNvPr id="55" name="Text 51"/>
          <p:cNvSpPr txBox="1"/>
          <p:nvPr/>
        </p:nvSpPr>
        <p:spPr>
          <a:xfrm>
            <a:off x="5779008" y="5084064"/>
            <a:ext cx="1554480" cy="548640"/>
          </a:xfrm>
          <a:prstGeom prst="rect">
            <a:avLst/>
          </a:prstGeom>
          <a:noFill/>
          <a:ln/>
        </p:spPr>
        <p:txBody>
          <a:bodyPr wrap="square" lIns="0" tIns="0" rIns="0" bIns="0" rtlCol="0" anchor="t"/>
          <a:lstStyle/>
          <a:p>
            <a:pPr algn="l" indent="0" marL="0">
              <a:lnSpc>
                <a:spcPts val="2100"/>
              </a:lnSpc>
              <a:buNone/>
            </a:pPr>
            <a:r>
              <a:rPr lang="ja-JP" altLang="en-US" sz="1500" b="1" dirty="0">
                <a:solidFill>
                  <a:srgbClr val="14284B"/>
                </a:solidFill>
                <a:latin typeface="Yu Gothic" pitchFamily="34" charset="0"/>
                <a:ea typeface="Yu Gothic" charset="-128"/>
                <a:cs typeface="Yu Gothic" pitchFamily="34" charset="-120"/>
              </a:rPr>
              <a:t>次の50億への</a:t>
            </a:r>
            <a:endParaRPr lang="ja-JP" sz="1500" dirty="0"/>
          </a:p>
          <a:p>
            <a:pPr algn="l" indent="0" marL="0">
              <a:lnSpc>
                <a:spcPts val="2100"/>
              </a:lnSpc>
              <a:buNone/>
            </a:pPr>
            <a:r>
              <a:rPr lang="ja-JP" altLang="en-US" sz="1500" b="1" dirty="0">
                <a:solidFill>
                  <a:srgbClr val="14284B"/>
                </a:solidFill>
                <a:latin typeface="Yu Gothic" pitchFamily="34" charset="0"/>
                <a:ea typeface="Yu Gothic" charset="-128"/>
                <a:cs typeface="Yu Gothic" pitchFamily="34" charset="-120"/>
              </a:rPr>
              <a:t>投資余力</a:t>
            </a:r>
            <a:endParaRPr lang="ja-JP" sz="1500" dirty="0"/>
          </a:p>
        </p:txBody>
      </p:sp>
      <p:sp>
        <p:nvSpPr>
          <p:cNvPr id="56" name="Shape 52"/>
          <p:cNvSpPr/>
          <p:nvPr/>
        </p:nvSpPr>
        <p:spPr>
          <a:xfrm>
            <a:off x="7772400" y="3017520"/>
            <a:ext cx="3867912" cy="2743200"/>
          </a:xfrm>
          <a:prstGeom prst="rect">
            <a:avLst/>
          </a:prstGeom>
          <a:solidFill>
            <a:srgbClr val="14284B"/>
          </a:solidFill>
          <a:ln/>
        </p:spPr>
      </p:sp>
      <p:sp>
        <p:nvSpPr>
          <p:cNvPr id="57" name="Text 53"/>
          <p:cNvSpPr txBox="1"/>
          <p:nvPr/>
        </p:nvSpPr>
        <p:spPr>
          <a:xfrm>
            <a:off x="8046720" y="3163824"/>
            <a:ext cx="3383280" cy="256032"/>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FY2031  グループ連結売上</a:t>
            </a:r>
            <a:endParaRPr lang="ja-JP" sz="1200" dirty="0"/>
          </a:p>
        </p:txBody>
      </p:sp>
      <p:sp>
        <p:nvSpPr>
          <p:cNvPr id="58" name="Text 54"/>
          <p:cNvSpPr txBox="1"/>
          <p:nvPr/>
        </p:nvSpPr>
        <p:spPr>
          <a:xfrm>
            <a:off x="8046720" y="3383280"/>
            <a:ext cx="3383280" cy="1143000"/>
          </a:xfrm>
          <a:prstGeom prst="rect">
            <a:avLst/>
          </a:prstGeom>
          <a:noFill/>
          <a:ln/>
        </p:spPr>
        <p:txBody>
          <a:bodyPr wrap="square" lIns="0" tIns="0" rIns="0" bIns="0" rtlCol="0" anchor="ctr"/>
          <a:lstStyle/>
          <a:p>
            <a:pPr algn="l" indent="0" marL="0">
              <a:buNone/>
            </a:pPr>
            <a:r>
              <a:rPr lang="en-US" altLang="en-US" sz="7200" b="1" dirty="0">
                <a:solidFill>
                  <a:srgbClr val="FFFFFF"/>
                </a:solidFill>
                <a:latin typeface="Cambria" pitchFamily="34" charset="0"/>
                <a:ea typeface="Cambria" charset="-128"/>
                <a:cs typeface="Cambria" pitchFamily="34" charset="-120"/>
              </a:rPr>
              <a:t>30</a:t>
            </a:r>
            <a:pPr algn="l" indent="0" marL="0">
              <a:buNone/>
            </a:pPr>
            <a:r>
              <a:rPr lang="ja-JP" altLang="en-US" sz="2400" b="1" dirty="0">
                <a:solidFill>
                  <a:srgbClr val="FFFFFF"/>
                </a:solidFill>
                <a:latin typeface="Yu Gothic" pitchFamily="34" charset="0"/>
                <a:ea typeface="Yu Gothic" charset="-128"/>
                <a:cs typeface="Yu Gothic" pitchFamily="34" charset="-120"/>
              </a:rPr>
              <a:t>億円</a:t>
            </a:r>
            <a:endParaRPr lang="ja-JP" sz="1400" dirty="0"/>
          </a:p>
        </p:txBody>
      </p:sp>
      <p:sp>
        <p:nvSpPr>
          <p:cNvPr id="59" name="Text 55"/>
          <p:cNvSpPr txBox="1"/>
          <p:nvPr/>
        </p:nvSpPr>
        <p:spPr>
          <a:xfrm>
            <a:off x="8046720" y="4535424"/>
            <a:ext cx="3291840" cy="237744"/>
          </a:xfrm>
          <a:prstGeom prst="rect">
            <a:avLst/>
          </a:prstGeom>
          <a:noFill/>
          <a:ln/>
        </p:spPr>
        <p:txBody>
          <a:bodyPr wrap="square" lIns="0" tIns="0" rIns="0" bIns="0" rtlCol="0" anchor="ctr"/>
          <a:lstStyle/>
          <a:p>
            <a:pPr algn="l" indent="0" marL="0">
              <a:buNone/>
            </a:pPr>
            <a:r>
              <a:rPr lang="ja-JP" altLang="en-US" sz="1100" dirty="0">
                <a:solidFill>
                  <a:srgbClr val="A7B0BE"/>
                </a:solidFill>
                <a:latin typeface="Yu Gothic Medium" pitchFamily="34" charset="0"/>
                <a:ea typeface="Yu Gothic Medium" charset="-128"/>
                <a:cs typeface="Yu Gothic Medium" pitchFamily="34" charset="-120"/>
              </a:rPr>
              <a:t>暫定経営目標</a:t>
            </a:r>
            <a:endParaRPr lang="ja-JP" sz="1100" dirty="0"/>
          </a:p>
        </p:txBody>
      </p:sp>
      <p:sp>
        <p:nvSpPr>
          <p:cNvPr id="60" name="Shape 56"/>
          <p:cNvSpPr/>
          <p:nvPr/>
        </p:nvSpPr>
        <p:spPr>
          <a:xfrm>
            <a:off x="8046720" y="4919472"/>
            <a:ext cx="3319272" cy="0"/>
          </a:xfrm>
          <a:prstGeom prst="line">
            <a:avLst/>
          </a:prstGeom>
          <a:noFill/>
          <a:ln w="9525">
            <a:solidFill>
              <a:srgbClr val="3C5378"/>
            </a:solidFill>
            <a:prstDash val="solid"/>
          </a:ln>
        </p:spPr>
      </p:sp>
      <p:sp>
        <p:nvSpPr>
          <p:cNvPr id="61" name="Text 57"/>
          <p:cNvSpPr txBox="1"/>
          <p:nvPr/>
        </p:nvSpPr>
        <p:spPr>
          <a:xfrm>
            <a:off x="8046720" y="5029200"/>
            <a:ext cx="3429000" cy="274320"/>
          </a:xfrm>
          <a:prstGeom prst="rect">
            <a:avLst/>
          </a:prstGeom>
          <a:noFill/>
          <a:ln/>
        </p:spPr>
        <p:txBody>
          <a:bodyPr wrap="square" lIns="0" tIns="0" rIns="0" bIns="0" rtlCol="0" anchor="ctr"/>
          <a:lstStyle/>
          <a:p>
            <a:pPr algn="l" indent="0" marL="0">
              <a:buNone/>
            </a:pPr>
            <a:r>
              <a:rPr lang="ja-JP" altLang="en-US" sz="1300" b="1" dirty="0">
                <a:solidFill>
                  <a:srgbClr val="C9A96E"/>
                </a:solidFill>
                <a:latin typeface="Yu Gothic" pitchFamily="34" charset="0"/>
                <a:ea typeface="Yu Gothic" charset="-128"/>
                <a:cs typeface="Yu Gothic" pitchFamily="34" charset="-120"/>
              </a:rPr>
              <a:t>次のフェーズ：50億円 → 100億円</a:t>
            </a:r>
            <a:endParaRPr lang="ja-JP" sz="1300" dirty="0"/>
          </a:p>
        </p:txBody>
      </p:sp>
      <p:sp>
        <p:nvSpPr>
          <p:cNvPr id="62" name="Text 58"/>
          <p:cNvSpPr txBox="1"/>
          <p:nvPr/>
        </p:nvSpPr>
        <p:spPr>
          <a:xfrm>
            <a:off x="8046720" y="5358384"/>
            <a:ext cx="3291840" cy="219456"/>
          </a:xfrm>
          <a:prstGeom prst="rect">
            <a:avLst/>
          </a:prstGeom>
          <a:noFill/>
          <a:ln/>
        </p:spPr>
        <p:txBody>
          <a:bodyPr wrap="square" lIns="0" tIns="0" rIns="0" bIns="0" rtlCol="0" anchor="ctr"/>
          <a:lstStyle/>
          <a:p>
            <a:pPr algn="l" indent="0" marL="0">
              <a:buNone/>
            </a:pPr>
            <a:r>
              <a:rPr lang="ja-JP" altLang="en-US" sz="1000" dirty="0">
                <a:solidFill>
                  <a:srgbClr val="A7B0BE"/>
                </a:solidFill>
                <a:latin typeface="Yu Gothic Medium" pitchFamily="34" charset="0"/>
                <a:ea typeface="Yu Gothic Medium" charset="-128"/>
                <a:cs typeface="Yu Gothic Medium" pitchFamily="34" charset="-120"/>
              </a:rPr>
              <a:t>詳細 P.22</a:t>
            </a:r>
            <a:endParaRPr lang="ja-JP"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15</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GROUP STRUCTURE</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親会社が原則100%保有し、各子会社は別の社長が経営する。</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15</a:t>
            </a:r>
            <a:endParaRPr lang="en-US" sz="1000" dirty="0"/>
          </a:p>
        </p:txBody>
      </p:sp>
      <p:sp>
        <p:nvSpPr>
          <p:cNvPr id="18" name="Shape 15"/>
          <p:cNvSpPr/>
          <p:nvPr/>
        </p:nvSpPr>
        <p:spPr>
          <a:xfrm>
            <a:off x="3063240" y="1737360"/>
            <a:ext cx="1645920" cy="603504"/>
          </a:xfrm>
          <a:prstGeom prst="rect">
            <a:avLst/>
          </a:prstGeom>
          <a:noFill/>
          <a:ln w="15875">
            <a:solidFill>
              <a:srgbClr val="14284B"/>
            </a:solidFill>
            <a:prstDash val="solid"/>
          </a:ln>
        </p:spPr>
      </p:sp>
      <p:sp>
        <p:nvSpPr>
          <p:cNvPr id="19" name="Text 16"/>
          <p:cNvSpPr txBox="1"/>
          <p:nvPr/>
        </p:nvSpPr>
        <p:spPr>
          <a:xfrm>
            <a:off x="3063240" y="1737360"/>
            <a:ext cx="1645920" cy="329184"/>
          </a:xfrm>
          <a:prstGeom prst="rect">
            <a:avLst/>
          </a:prstGeom>
          <a:noFill/>
          <a:ln/>
        </p:spPr>
        <p:txBody>
          <a:bodyPr wrap="square" lIns="0" tIns="0" rIns="0" bIns="0" rtlCol="0" anchor="ctr"/>
          <a:lstStyle/>
          <a:p>
            <a:pPr algn="ctr" indent="0" marL="0">
              <a:buNone/>
            </a:pPr>
            <a:r>
              <a:rPr lang="ja-JP" altLang="en-US" sz="1500" b="1" dirty="0">
                <a:solidFill>
                  <a:srgbClr val="14284B"/>
                </a:solidFill>
                <a:latin typeface="Yu Gothic" pitchFamily="34" charset="0"/>
                <a:ea typeface="Yu Gothic" charset="-128"/>
                <a:cs typeface="Yu Gothic" pitchFamily="34" charset="-120"/>
              </a:rPr>
              <a:t>創業者</a:t>
            </a:r>
            <a:endParaRPr lang="ja-JP" sz="1500" dirty="0"/>
          </a:p>
        </p:txBody>
      </p:sp>
      <p:sp>
        <p:nvSpPr>
          <p:cNvPr id="20" name="Text 17"/>
          <p:cNvSpPr txBox="1"/>
          <p:nvPr/>
        </p:nvSpPr>
        <p:spPr>
          <a:xfrm>
            <a:off x="3063240" y="2048256"/>
            <a:ext cx="1645920" cy="237744"/>
          </a:xfrm>
          <a:prstGeom prst="rect">
            <a:avLst/>
          </a:prstGeom>
          <a:noFill/>
          <a:ln/>
        </p:spPr>
        <p:txBody>
          <a:bodyPr wrap="square" lIns="0" tIns="0" rIns="0" bIns="0" rtlCol="0" anchor="ctr"/>
          <a:lstStyle/>
          <a:p>
            <a:pPr algn="ctr" indent="0" marL="0">
              <a:buNone/>
            </a:pPr>
            <a:r>
              <a:rPr lang="ja-JP" altLang="en-US" sz="1050" dirty="0">
                <a:solidFill>
                  <a:srgbClr val="5B6675"/>
                </a:solidFill>
                <a:latin typeface="Yu Gothic Medium" pitchFamily="34" charset="0"/>
                <a:ea typeface="Yu Gothic Medium" charset="-128"/>
                <a:cs typeface="Yu Gothic Medium" pitchFamily="34" charset="-120"/>
              </a:rPr>
              <a:t>親会社100%株主</a:t>
            </a:r>
            <a:endParaRPr lang="ja-JP" sz="1050" dirty="0"/>
          </a:p>
        </p:txBody>
      </p:sp>
      <p:sp>
        <p:nvSpPr>
          <p:cNvPr id="21" name="Shape 18"/>
          <p:cNvSpPr/>
          <p:nvPr/>
        </p:nvSpPr>
        <p:spPr>
          <a:xfrm>
            <a:off x="3886200" y="2340864"/>
            <a:ext cx="0" cy="448056"/>
          </a:xfrm>
          <a:prstGeom prst="line">
            <a:avLst/>
          </a:prstGeom>
          <a:noFill/>
          <a:ln w="15875">
            <a:solidFill>
              <a:srgbClr val="14284B"/>
            </a:solidFill>
            <a:prstDash val="solid"/>
          </a:ln>
        </p:spPr>
      </p:sp>
      <p:sp>
        <p:nvSpPr>
          <p:cNvPr id="22" name="Text 19"/>
          <p:cNvSpPr txBox="1"/>
          <p:nvPr/>
        </p:nvSpPr>
        <p:spPr>
          <a:xfrm>
            <a:off x="3995928" y="2450592"/>
            <a:ext cx="731520" cy="237744"/>
          </a:xfrm>
          <a:prstGeom prst="rect">
            <a:avLst/>
          </a:prstGeom>
          <a:noFill/>
          <a:ln/>
        </p:spPr>
        <p:txBody>
          <a:bodyPr wrap="square" lIns="0" tIns="0" rIns="0" bIns="0" rtlCol="0" anchor="ctr"/>
          <a:lstStyle/>
          <a:p>
            <a:pPr algn="l" indent="0" marL="0">
              <a:buNone/>
            </a:pPr>
            <a:r>
              <a:rPr lang="en-US" altLang="en-US" sz="1200" b="1" dirty="0">
                <a:solidFill>
                  <a:srgbClr val="8C6D3F"/>
                </a:solidFill>
                <a:latin typeface="Arial" pitchFamily="34" charset="0"/>
                <a:ea typeface="Arial" charset="-128"/>
                <a:cs typeface="Arial" pitchFamily="34" charset="-120"/>
              </a:rPr>
              <a:t>100%</a:t>
            </a:r>
            <a:endParaRPr lang="en-US" sz="1200" dirty="0"/>
          </a:p>
        </p:txBody>
      </p:sp>
      <p:sp>
        <p:nvSpPr>
          <p:cNvPr id="23" name="Shape 20"/>
          <p:cNvSpPr/>
          <p:nvPr/>
        </p:nvSpPr>
        <p:spPr>
          <a:xfrm>
            <a:off x="2423160" y="2788920"/>
            <a:ext cx="2926080" cy="868680"/>
          </a:xfrm>
          <a:prstGeom prst="rect">
            <a:avLst/>
          </a:prstGeom>
          <a:solidFill>
            <a:srgbClr val="14284B"/>
          </a:solidFill>
          <a:ln/>
        </p:spPr>
      </p:sp>
      <p:sp>
        <p:nvSpPr>
          <p:cNvPr id="24" name="Text 21"/>
          <p:cNvSpPr txBox="1"/>
          <p:nvPr/>
        </p:nvSpPr>
        <p:spPr>
          <a:xfrm>
            <a:off x="2423160" y="2852928"/>
            <a:ext cx="2926080" cy="219456"/>
          </a:xfrm>
          <a:prstGeom prst="rect">
            <a:avLst/>
          </a:prstGeom>
          <a:noFill/>
          <a:ln/>
        </p:spPr>
        <p:txBody>
          <a:bodyPr wrap="square" lIns="0" tIns="0" rIns="0" bIns="0" rtlCol="0" anchor="ctr"/>
          <a:lstStyle/>
          <a:p>
            <a:pPr algn="ctr" indent="0" marL="0">
              <a:buNone/>
            </a:pPr>
            <a:r>
              <a:rPr lang="en-US" altLang="en-US" sz="1000" b="1" spc="200" kern="0" dirty="0">
                <a:solidFill>
                  <a:srgbClr val="C9A96E"/>
                </a:solidFill>
                <a:latin typeface="Arial" pitchFamily="34" charset="0"/>
                <a:ea typeface="Arial" charset="-128"/>
                <a:cs typeface="Arial" pitchFamily="34" charset="-120"/>
              </a:rPr>
              <a:t>PARENT COMPANY</a:t>
            </a:r>
            <a:endParaRPr lang="en-US" sz="1000" dirty="0"/>
          </a:p>
        </p:txBody>
      </p:sp>
      <p:sp>
        <p:nvSpPr>
          <p:cNvPr id="25" name="Text 22"/>
          <p:cNvSpPr txBox="1"/>
          <p:nvPr/>
        </p:nvSpPr>
        <p:spPr>
          <a:xfrm>
            <a:off x="2423160" y="3072384"/>
            <a:ext cx="2926080" cy="347472"/>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Yu Gothic" pitchFamily="34" charset="0"/>
                <a:ea typeface="Yu Gothic" charset="-128"/>
                <a:cs typeface="Yu Gothic" pitchFamily="34" charset="-120"/>
              </a:rPr>
              <a:t>親会社</a:t>
            </a:r>
            <a:endParaRPr lang="ja-JP" sz="1800" dirty="0"/>
          </a:p>
        </p:txBody>
      </p:sp>
      <p:sp>
        <p:nvSpPr>
          <p:cNvPr id="26" name="Text 23"/>
          <p:cNvSpPr txBox="1"/>
          <p:nvPr/>
        </p:nvSpPr>
        <p:spPr>
          <a:xfrm>
            <a:off x="2423160" y="3401568"/>
            <a:ext cx="2926080" cy="219456"/>
          </a:xfrm>
          <a:prstGeom prst="rect">
            <a:avLst/>
          </a:prstGeom>
          <a:noFill/>
          <a:ln/>
        </p:spPr>
        <p:txBody>
          <a:bodyPr wrap="square" lIns="0" tIns="0" rIns="0" bIns="0" rtlCol="0" anchor="ctr"/>
          <a:lstStyle/>
          <a:p>
            <a:pPr algn="ctr" indent="0" marL="0">
              <a:buNone/>
            </a:pPr>
            <a:r>
              <a:rPr lang="ja-JP" altLang="en-US" sz="1100" dirty="0">
                <a:solidFill>
                  <a:srgbClr val="D5DBE3"/>
                </a:solidFill>
                <a:latin typeface="Yu Gothic Medium" pitchFamily="34" charset="0"/>
                <a:ea typeface="Yu Gothic Medium" charset="-128"/>
                <a:cs typeface="Yu Gothic Medium" pitchFamily="34" charset="-120"/>
              </a:rPr>
              <a:t>代表取締役：創業者</a:t>
            </a:r>
            <a:endParaRPr lang="ja-JP" sz="1100" dirty="0"/>
          </a:p>
        </p:txBody>
      </p:sp>
      <p:sp>
        <p:nvSpPr>
          <p:cNvPr id="27" name="Shape 24"/>
          <p:cNvSpPr/>
          <p:nvPr/>
        </p:nvSpPr>
        <p:spPr>
          <a:xfrm>
            <a:off x="3886200" y="3657600"/>
            <a:ext cx="0" cy="320040"/>
          </a:xfrm>
          <a:prstGeom prst="line">
            <a:avLst/>
          </a:prstGeom>
          <a:noFill/>
          <a:ln w="15875">
            <a:solidFill>
              <a:srgbClr val="14284B"/>
            </a:solidFill>
            <a:prstDash val="solid"/>
          </a:ln>
        </p:spPr>
      </p:sp>
      <p:sp>
        <p:nvSpPr>
          <p:cNvPr id="28" name="Shape 25"/>
          <p:cNvSpPr/>
          <p:nvPr/>
        </p:nvSpPr>
        <p:spPr>
          <a:xfrm>
            <a:off x="1161288" y="3977640"/>
            <a:ext cx="5449824" cy="0"/>
          </a:xfrm>
          <a:prstGeom prst="line">
            <a:avLst/>
          </a:prstGeom>
          <a:noFill/>
          <a:ln w="15875">
            <a:solidFill>
              <a:srgbClr val="14284B"/>
            </a:solidFill>
            <a:prstDash val="solid"/>
          </a:ln>
        </p:spPr>
      </p:sp>
      <p:sp>
        <p:nvSpPr>
          <p:cNvPr id="29" name="Shape 26"/>
          <p:cNvSpPr/>
          <p:nvPr/>
        </p:nvSpPr>
        <p:spPr>
          <a:xfrm>
            <a:off x="1161288" y="3977640"/>
            <a:ext cx="0" cy="411480"/>
          </a:xfrm>
          <a:prstGeom prst="line">
            <a:avLst/>
          </a:prstGeom>
          <a:noFill/>
          <a:ln w="12700">
            <a:solidFill>
              <a:srgbClr val="14284B"/>
            </a:solidFill>
            <a:prstDash val="solid"/>
          </a:ln>
        </p:spPr>
      </p:sp>
      <p:sp>
        <p:nvSpPr>
          <p:cNvPr id="30" name="Text 27"/>
          <p:cNvSpPr txBox="1"/>
          <p:nvPr/>
        </p:nvSpPr>
        <p:spPr>
          <a:xfrm>
            <a:off x="1216152" y="4059936"/>
            <a:ext cx="566928" cy="219456"/>
          </a:xfrm>
          <a:prstGeom prst="rect">
            <a:avLst/>
          </a:prstGeom>
          <a:noFill/>
          <a:ln/>
        </p:spPr>
        <p:txBody>
          <a:bodyPr wrap="square" lIns="0" tIns="0" rIns="0" bIns="0" rtlCol="0" anchor="ctr"/>
          <a:lstStyle/>
          <a:p>
            <a:pPr algn="l" indent="0" marL="0">
              <a:buNone/>
            </a:pPr>
            <a:r>
              <a:rPr lang="en-US" altLang="en-US" sz="1050" b="1" dirty="0">
                <a:solidFill>
                  <a:srgbClr val="8C6D3F"/>
                </a:solidFill>
                <a:latin typeface="Arial" pitchFamily="34" charset="0"/>
                <a:ea typeface="Arial" charset="-128"/>
                <a:cs typeface="Arial" pitchFamily="34" charset="-120"/>
              </a:rPr>
              <a:t>100%</a:t>
            </a:r>
            <a:endParaRPr lang="en-US" sz="1050" dirty="0"/>
          </a:p>
        </p:txBody>
      </p:sp>
      <p:sp>
        <p:nvSpPr>
          <p:cNvPr id="31" name="Text 28"/>
          <p:cNvSpPr txBox="1"/>
          <p:nvPr/>
        </p:nvSpPr>
        <p:spPr>
          <a:xfrm>
            <a:off x="548640" y="4389120"/>
            <a:ext cx="1225296" cy="868680"/>
          </a:xfrm>
          <a:prstGeom prst="rect">
            <a:avLst/>
          </a:prstGeom>
          <a:noFill/>
          <a:ln w="19050">
            <a:solidFill>
              <a:srgbClr val="14284B"/>
            </a:solidFill>
          </a:ln>
        </p:spPr>
        <p:txBody>
          <a:bodyPr wrap="square" lIns="0" tIns="0" rIns="0" bIns="0" rtlCol="0" anchor="ctr"/>
          <a:lstStyle/>
          <a:p>
            <a:pPr algn="ctr" indent="0" marL="0">
              <a:lnSpc>
                <a:spcPts val="1900"/>
              </a:lnSpc>
              <a:buNone/>
            </a:pPr>
            <a:r>
              <a:rPr lang="ja-JP" altLang="en-US" sz="1300" b="1" dirty="0">
                <a:solidFill>
                  <a:srgbClr val="14284B"/>
                </a:solidFill>
                <a:latin typeface="Yu Gothic" pitchFamily="34" charset="0"/>
                <a:ea typeface="Yu Gothic" charset="-128"/>
                <a:cs typeface="Yu Gothic" pitchFamily="34" charset="-120"/>
              </a:rPr>
              <a:t>株式会社</a:t>
            </a:r>
            <a:endParaRPr lang="ja-JP" sz="1300" dirty="0"/>
          </a:p>
          <a:p>
            <a:pPr algn="ctr" indent="0" marL="0">
              <a:lnSpc>
                <a:spcPts val="1900"/>
              </a:lnSpc>
              <a:buNone/>
            </a:pPr>
            <a:r>
              <a:rPr lang="ja-JP" altLang="en-US" sz="1300" b="1" dirty="0">
                <a:solidFill>
                  <a:srgbClr val="14284B"/>
                </a:solidFill>
                <a:latin typeface="Yu Gothic" pitchFamily="34" charset="0"/>
                <a:ea typeface="Yu Gothic" charset="-128"/>
                <a:cs typeface="Yu Gothic" pitchFamily="34" charset="-120"/>
              </a:rPr>
              <a:t>ROOTIVE</a:t>
            </a:r>
            <a:endParaRPr lang="ja-JP" sz="1300" dirty="0"/>
          </a:p>
        </p:txBody>
      </p:sp>
      <p:sp>
        <p:nvSpPr>
          <p:cNvPr id="32" name="Shape 29"/>
          <p:cNvSpPr/>
          <p:nvPr/>
        </p:nvSpPr>
        <p:spPr>
          <a:xfrm>
            <a:off x="2523744" y="3977640"/>
            <a:ext cx="0" cy="411480"/>
          </a:xfrm>
          <a:prstGeom prst="line">
            <a:avLst/>
          </a:prstGeom>
          <a:noFill/>
          <a:ln w="12700">
            <a:solidFill>
              <a:srgbClr val="14284B"/>
            </a:solidFill>
            <a:prstDash val="solid"/>
          </a:ln>
        </p:spPr>
      </p:sp>
      <p:sp>
        <p:nvSpPr>
          <p:cNvPr id="33" name="Text 30"/>
          <p:cNvSpPr txBox="1"/>
          <p:nvPr/>
        </p:nvSpPr>
        <p:spPr>
          <a:xfrm>
            <a:off x="2578608" y="4059936"/>
            <a:ext cx="566928" cy="219456"/>
          </a:xfrm>
          <a:prstGeom prst="rect">
            <a:avLst/>
          </a:prstGeom>
          <a:noFill/>
          <a:ln/>
        </p:spPr>
        <p:txBody>
          <a:bodyPr wrap="square" lIns="0" tIns="0" rIns="0" bIns="0" rtlCol="0" anchor="ctr"/>
          <a:lstStyle/>
          <a:p>
            <a:pPr algn="l" indent="0" marL="0">
              <a:buNone/>
            </a:pPr>
            <a:r>
              <a:rPr lang="en-US" altLang="en-US" sz="1050" b="1" dirty="0">
                <a:solidFill>
                  <a:srgbClr val="8C6D3F"/>
                </a:solidFill>
                <a:latin typeface="Arial" pitchFamily="34" charset="0"/>
                <a:ea typeface="Arial" charset="-128"/>
                <a:cs typeface="Arial" pitchFamily="34" charset="-120"/>
              </a:rPr>
              <a:t>100%</a:t>
            </a:r>
            <a:endParaRPr lang="en-US" sz="1050" dirty="0"/>
          </a:p>
        </p:txBody>
      </p:sp>
      <p:sp>
        <p:nvSpPr>
          <p:cNvPr id="34" name="Shape 31"/>
          <p:cNvSpPr/>
          <p:nvPr/>
        </p:nvSpPr>
        <p:spPr>
          <a:xfrm>
            <a:off x="1911096" y="4389120"/>
            <a:ext cx="1225296" cy="868680"/>
          </a:xfrm>
          <a:prstGeom prst="rect">
            <a:avLst/>
          </a:prstGeom>
          <a:noFill/>
          <a:ln w="12700">
            <a:solidFill>
              <a:srgbClr val="A7B0BE"/>
            </a:solidFill>
            <a:prstDash val="dash"/>
          </a:ln>
        </p:spPr>
      </p:sp>
      <p:sp>
        <p:nvSpPr>
          <p:cNvPr id="35" name="Text 32"/>
          <p:cNvSpPr txBox="1"/>
          <p:nvPr/>
        </p:nvSpPr>
        <p:spPr>
          <a:xfrm>
            <a:off x="1911096" y="4526280"/>
            <a:ext cx="1225296" cy="329184"/>
          </a:xfrm>
          <a:prstGeom prst="rect">
            <a:avLst/>
          </a:prstGeom>
          <a:noFill/>
          <a:ln/>
        </p:spPr>
        <p:txBody>
          <a:bodyPr wrap="square" lIns="0" tIns="0" rIns="0" bIns="0" rtlCol="0" anchor="ctr"/>
          <a:lstStyle/>
          <a:p>
            <a:pPr algn="ctr" indent="0" marL="0">
              <a:buNone/>
            </a:pPr>
            <a:r>
              <a:rPr lang="ja-JP" altLang="en-US" sz="1500" b="1" dirty="0">
                <a:solidFill>
                  <a:srgbClr val="14284B"/>
                </a:solidFill>
                <a:latin typeface="Yu Gothic" pitchFamily="34" charset="0"/>
                <a:ea typeface="Yu Gothic" charset="-128"/>
                <a:cs typeface="Yu Gothic" pitchFamily="34" charset="-120"/>
              </a:rPr>
              <a:t>A社</a:t>
            </a:r>
            <a:endParaRPr lang="ja-JP" sz="1500" dirty="0"/>
          </a:p>
        </p:txBody>
      </p:sp>
      <p:sp>
        <p:nvSpPr>
          <p:cNvPr id="36" name="Text 33"/>
          <p:cNvSpPr txBox="1"/>
          <p:nvPr/>
        </p:nvSpPr>
        <p:spPr>
          <a:xfrm>
            <a:off x="1911096" y="4873752"/>
            <a:ext cx="1225296" cy="219456"/>
          </a:xfrm>
          <a:prstGeom prst="rect">
            <a:avLst/>
          </a:prstGeom>
          <a:noFill/>
          <a:ln/>
        </p:spPr>
        <p:txBody>
          <a:bodyPr wrap="square" lIns="0" tIns="0" rIns="0" bIns="0" rtlCol="0" anchor="ctr"/>
          <a:lstStyle/>
          <a:p>
            <a:pPr algn="ctr" indent="0" marL="0">
              <a:buNone/>
            </a:pPr>
            <a:r>
              <a:rPr lang="ja-JP" altLang="en-US" sz="1000" dirty="0">
                <a:solidFill>
                  <a:srgbClr val="5B6675"/>
                </a:solidFill>
                <a:latin typeface="Yu Gothic Medium" pitchFamily="34" charset="0"/>
                <a:ea typeface="Yu Gothic Medium" charset="-128"/>
                <a:cs typeface="Yu Gothic Medium" pitchFamily="34" charset="-120"/>
              </a:rPr>
              <a:t>例示</a:t>
            </a:r>
            <a:endParaRPr lang="ja-JP" sz="1000" dirty="0"/>
          </a:p>
        </p:txBody>
      </p:sp>
      <p:sp>
        <p:nvSpPr>
          <p:cNvPr id="37" name="Shape 34"/>
          <p:cNvSpPr/>
          <p:nvPr/>
        </p:nvSpPr>
        <p:spPr>
          <a:xfrm>
            <a:off x="3886200" y="3977640"/>
            <a:ext cx="0" cy="411480"/>
          </a:xfrm>
          <a:prstGeom prst="line">
            <a:avLst/>
          </a:prstGeom>
          <a:noFill/>
          <a:ln w="12700">
            <a:solidFill>
              <a:srgbClr val="14284B"/>
            </a:solidFill>
            <a:prstDash val="solid"/>
          </a:ln>
        </p:spPr>
      </p:sp>
      <p:sp>
        <p:nvSpPr>
          <p:cNvPr id="38" name="Text 35"/>
          <p:cNvSpPr txBox="1"/>
          <p:nvPr/>
        </p:nvSpPr>
        <p:spPr>
          <a:xfrm>
            <a:off x="3941064" y="4059936"/>
            <a:ext cx="566928" cy="219456"/>
          </a:xfrm>
          <a:prstGeom prst="rect">
            <a:avLst/>
          </a:prstGeom>
          <a:noFill/>
          <a:ln/>
        </p:spPr>
        <p:txBody>
          <a:bodyPr wrap="square" lIns="0" tIns="0" rIns="0" bIns="0" rtlCol="0" anchor="ctr"/>
          <a:lstStyle/>
          <a:p>
            <a:pPr algn="l" indent="0" marL="0">
              <a:buNone/>
            </a:pPr>
            <a:r>
              <a:rPr lang="en-US" altLang="en-US" sz="1050" b="1" dirty="0">
                <a:solidFill>
                  <a:srgbClr val="8C6D3F"/>
                </a:solidFill>
                <a:latin typeface="Arial" pitchFamily="34" charset="0"/>
                <a:ea typeface="Arial" charset="-128"/>
                <a:cs typeface="Arial" pitchFamily="34" charset="-120"/>
              </a:rPr>
              <a:t>100%</a:t>
            </a:r>
            <a:endParaRPr lang="en-US" sz="1050" dirty="0"/>
          </a:p>
        </p:txBody>
      </p:sp>
      <p:sp>
        <p:nvSpPr>
          <p:cNvPr id="39" name="Shape 36"/>
          <p:cNvSpPr/>
          <p:nvPr/>
        </p:nvSpPr>
        <p:spPr>
          <a:xfrm>
            <a:off x="3273552" y="4389120"/>
            <a:ext cx="1225296" cy="868680"/>
          </a:xfrm>
          <a:prstGeom prst="rect">
            <a:avLst/>
          </a:prstGeom>
          <a:noFill/>
          <a:ln w="12700">
            <a:solidFill>
              <a:srgbClr val="A7B0BE"/>
            </a:solidFill>
            <a:prstDash val="dash"/>
          </a:ln>
        </p:spPr>
      </p:sp>
      <p:sp>
        <p:nvSpPr>
          <p:cNvPr id="40" name="Text 37"/>
          <p:cNvSpPr txBox="1"/>
          <p:nvPr/>
        </p:nvSpPr>
        <p:spPr>
          <a:xfrm>
            <a:off x="3273552" y="4526280"/>
            <a:ext cx="1225296" cy="329184"/>
          </a:xfrm>
          <a:prstGeom prst="rect">
            <a:avLst/>
          </a:prstGeom>
          <a:noFill/>
          <a:ln/>
        </p:spPr>
        <p:txBody>
          <a:bodyPr wrap="square" lIns="0" tIns="0" rIns="0" bIns="0" rtlCol="0" anchor="ctr"/>
          <a:lstStyle/>
          <a:p>
            <a:pPr algn="ctr" indent="0" marL="0">
              <a:buNone/>
            </a:pPr>
            <a:r>
              <a:rPr lang="ja-JP" altLang="en-US" sz="1500" b="1" dirty="0">
                <a:solidFill>
                  <a:srgbClr val="14284B"/>
                </a:solidFill>
                <a:latin typeface="Yu Gothic" pitchFamily="34" charset="0"/>
                <a:ea typeface="Yu Gothic" charset="-128"/>
                <a:cs typeface="Yu Gothic" pitchFamily="34" charset="-120"/>
              </a:rPr>
              <a:t>B社</a:t>
            </a:r>
            <a:endParaRPr lang="ja-JP" sz="1500" dirty="0"/>
          </a:p>
        </p:txBody>
      </p:sp>
      <p:sp>
        <p:nvSpPr>
          <p:cNvPr id="41" name="Text 38"/>
          <p:cNvSpPr txBox="1"/>
          <p:nvPr/>
        </p:nvSpPr>
        <p:spPr>
          <a:xfrm>
            <a:off x="3273552" y="4873752"/>
            <a:ext cx="1225296" cy="219456"/>
          </a:xfrm>
          <a:prstGeom prst="rect">
            <a:avLst/>
          </a:prstGeom>
          <a:noFill/>
          <a:ln/>
        </p:spPr>
        <p:txBody>
          <a:bodyPr wrap="square" lIns="0" tIns="0" rIns="0" bIns="0" rtlCol="0" anchor="ctr"/>
          <a:lstStyle/>
          <a:p>
            <a:pPr algn="ctr" indent="0" marL="0">
              <a:buNone/>
            </a:pPr>
            <a:r>
              <a:rPr lang="ja-JP" altLang="en-US" sz="1000" dirty="0">
                <a:solidFill>
                  <a:srgbClr val="5B6675"/>
                </a:solidFill>
                <a:latin typeface="Yu Gothic Medium" pitchFamily="34" charset="0"/>
                <a:ea typeface="Yu Gothic Medium" charset="-128"/>
                <a:cs typeface="Yu Gothic Medium" pitchFamily="34" charset="-120"/>
              </a:rPr>
              <a:t>例示</a:t>
            </a:r>
            <a:endParaRPr lang="ja-JP" sz="1000" dirty="0"/>
          </a:p>
        </p:txBody>
      </p:sp>
      <p:sp>
        <p:nvSpPr>
          <p:cNvPr id="42" name="Shape 39"/>
          <p:cNvSpPr/>
          <p:nvPr/>
        </p:nvSpPr>
        <p:spPr>
          <a:xfrm>
            <a:off x="5248656" y="3977640"/>
            <a:ext cx="0" cy="411480"/>
          </a:xfrm>
          <a:prstGeom prst="line">
            <a:avLst/>
          </a:prstGeom>
          <a:noFill/>
          <a:ln w="12700">
            <a:solidFill>
              <a:srgbClr val="14284B"/>
            </a:solidFill>
            <a:prstDash val="solid"/>
          </a:ln>
        </p:spPr>
      </p:sp>
      <p:sp>
        <p:nvSpPr>
          <p:cNvPr id="43" name="Text 40"/>
          <p:cNvSpPr txBox="1"/>
          <p:nvPr/>
        </p:nvSpPr>
        <p:spPr>
          <a:xfrm>
            <a:off x="5303520" y="4059936"/>
            <a:ext cx="566928" cy="219456"/>
          </a:xfrm>
          <a:prstGeom prst="rect">
            <a:avLst/>
          </a:prstGeom>
          <a:noFill/>
          <a:ln/>
        </p:spPr>
        <p:txBody>
          <a:bodyPr wrap="square" lIns="0" tIns="0" rIns="0" bIns="0" rtlCol="0" anchor="ctr"/>
          <a:lstStyle/>
          <a:p>
            <a:pPr algn="l" indent="0" marL="0">
              <a:buNone/>
            </a:pPr>
            <a:r>
              <a:rPr lang="en-US" altLang="en-US" sz="1050" b="1" dirty="0">
                <a:solidFill>
                  <a:srgbClr val="8C6D3F"/>
                </a:solidFill>
                <a:latin typeface="Arial" pitchFamily="34" charset="0"/>
                <a:ea typeface="Arial" charset="-128"/>
                <a:cs typeface="Arial" pitchFamily="34" charset="-120"/>
              </a:rPr>
              <a:t>100%</a:t>
            </a:r>
            <a:endParaRPr lang="en-US" sz="1050" dirty="0"/>
          </a:p>
        </p:txBody>
      </p:sp>
      <p:sp>
        <p:nvSpPr>
          <p:cNvPr id="44" name="Shape 41"/>
          <p:cNvSpPr/>
          <p:nvPr/>
        </p:nvSpPr>
        <p:spPr>
          <a:xfrm>
            <a:off x="4636008" y="4389120"/>
            <a:ext cx="1225296" cy="868680"/>
          </a:xfrm>
          <a:prstGeom prst="rect">
            <a:avLst/>
          </a:prstGeom>
          <a:noFill/>
          <a:ln w="12700">
            <a:solidFill>
              <a:srgbClr val="A7B0BE"/>
            </a:solidFill>
            <a:prstDash val="dash"/>
          </a:ln>
        </p:spPr>
      </p:sp>
      <p:sp>
        <p:nvSpPr>
          <p:cNvPr id="45" name="Text 42"/>
          <p:cNvSpPr txBox="1"/>
          <p:nvPr/>
        </p:nvSpPr>
        <p:spPr>
          <a:xfrm>
            <a:off x="4636008" y="4526280"/>
            <a:ext cx="1225296" cy="329184"/>
          </a:xfrm>
          <a:prstGeom prst="rect">
            <a:avLst/>
          </a:prstGeom>
          <a:noFill/>
          <a:ln/>
        </p:spPr>
        <p:txBody>
          <a:bodyPr wrap="square" lIns="0" tIns="0" rIns="0" bIns="0" rtlCol="0" anchor="ctr"/>
          <a:lstStyle/>
          <a:p>
            <a:pPr algn="ctr" indent="0" marL="0">
              <a:buNone/>
            </a:pPr>
            <a:r>
              <a:rPr lang="ja-JP" altLang="en-US" sz="1500" b="1" dirty="0">
                <a:solidFill>
                  <a:srgbClr val="14284B"/>
                </a:solidFill>
                <a:latin typeface="Yu Gothic" pitchFamily="34" charset="0"/>
                <a:ea typeface="Yu Gothic" charset="-128"/>
                <a:cs typeface="Yu Gothic" pitchFamily="34" charset="-120"/>
              </a:rPr>
              <a:t>C社</a:t>
            </a:r>
            <a:endParaRPr lang="ja-JP" sz="1500" dirty="0"/>
          </a:p>
        </p:txBody>
      </p:sp>
      <p:sp>
        <p:nvSpPr>
          <p:cNvPr id="46" name="Text 43"/>
          <p:cNvSpPr txBox="1"/>
          <p:nvPr/>
        </p:nvSpPr>
        <p:spPr>
          <a:xfrm>
            <a:off x="4636008" y="4873752"/>
            <a:ext cx="1225296" cy="219456"/>
          </a:xfrm>
          <a:prstGeom prst="rect">
            <a:avLst/>
          </a:prstGeom>
          <a:noFill/>
          <a:ln/>
        </p:spPr>
        <p:txBody>
          <a:bodyPr wrap="square" lIns="0" tIns="0" rIns="0" bIns="0" rtlCol="0" anchor="ctr"/>
          <a:lstStyle/>
          <a:p>
            <a:pPr algn="ctr" indent="0" marL="0">
              <a:buNone/>
            </a:pPr>
            <a:r>
              <a:rPr lang="ja-JP" altLang="en-US" sz="1000" dirty="0">
                <a:solidFill>
                  <a:srgbClr val="5B6675"/>
                </a:solidFill>
                <a:latin typeface="Yu Gothic Medium" pitchFamily="34" charset="0"/>
                <a:ea typeface="Yu Gothic Medium" charset="-128"/>
                <a:cs typeface="Yu Gothic Medium" pitchFamily="34" charset="-120"/>
              </a:rPr>
              <a:t>例示</a:t>
            </a:r>
            <a:endParaRPr lang="ja-JP" sz="1000" dirty="0"/>
          </a:p>
        </p:txBody>
      </p:sp>
      <p:sp>
        <p:nvSpPr>
          <p:cNvPr id="47" name="Shape 44"/>
          <p:cNvSpPr/>
          <p:nvPr/>
        </p:nvSpPr>
        <p:spPr>
          <a:xfrm>
            <a:off x="6611112" y="3977640"/>
            <a:ext cx="0" cy="411480"/>
          </a:xfrm>
          <a:prstGeom prst="line">
            <a:avLst/>
          </a:prstGeom>
          <a:noFill/>
          <a:ln w="12700">
            <a:solidFill>
              <a:srgbClr val="14284B"/>
            </a:solidFill>
            <a:prstDash val="solid"/>
          </a:ln>
        </p:spPr>
      </p:sp>
      <p:sp>
        <p:nvSpPr>
          <p:cNvPr id="48" name="Text 45"/>
          <p:cNvSpPr txBox="1"/>
          <p:nvPr/>
        </p:nvSpPr>
        <p:spPr>
          <a:xfrm>
            <a:off x="6665976" y="4059936"/>
            <a:ext cx="566928" cy="219456"/>
          </a:xfrm>
          <a:prstGeom prst="rect">
            <a:avLst/>
          </a:prstGeom>
          <a:noFill/>
          <a:ln/>
        </p:spPr>
        <p:txBody>
          <a:bodyPr wrap="square" lIns="0" tIns="0" rIns="0" bIns="0" rtlCol="0" anchor="ctr"/>
          <a:lstStyle/>
          <a:p>
            <a:pPr algn="l" indent="0" marL="0">
              <a:buNone/>
            </a:pPr>
            <a:r>
              <a:rPr lang="en-US" altLang="en-US" sz="1050" b="1" dirty="0">
                <a:solidFill>
                  <a:srgbClr val="8C6D3F"/>
                </a:solidFill>
                <a:latin typeface="Arial" pitchFamily="34" charset="0"/>
                <a:ea typeface="Arial" charset="-128"/>
                <a:cs typeface="Arial" pitchFamily="34" charset="-120"/>
              </a:rPr>
              <a:t>100%</a:t>
            </a:r>
            <a:endParaRPr lang="en-US" sz="1050" dirty="0"/>
          </a:p>
        </p:txBody>
      </p:sp>
      <p:sp>
        <p:nvSpPr>
          <p:cNvPr id="49" name="Shape 46"/>
          <p:cNvSpPr/>
          <p:nvPr/>
        </p:nvSpPr>
        <p:spPr>
          <a:xfrm>
            <a:off x="5998464" y="4389120"/>
            <a:ext cx="1225296" cy="868680"/>
          </a:xfrm>
          <a:prstGeom prst="rect">
            <a:avLst/>
          </a:prstGeom>
          <a:noFill/>
          <a:ln w="12700">
            <a:solidFill>
              <a:srgbClr val="A7B0BE"/>
            </a:solidFill>
            <a:prstDash val="dash"/>
          </a:ln>
        </p:spPr>
      </p:sp>
      <p:sp>
        <p:nvSpPr>
          <p:cNvPr id="50" name="Text 47"/>
          <p:cNvSpPr txBox="1"/>
          <p:nvPr/>
        </p:nvSpPr>
        <p:spPr>
          <a:xfrm>
            <a:off x="5998464" y="4526280"/>
            <a:ext cx="1225296" cy="329184"/>
          </a:xfrm>
          <a:prstGeom prst="rect">
            <a:avLst/>
          </a:prstGeom>
          <a:noFill/>
          <a:ln/>
        </p:spPr>
        <p:txBody>
          <a:bodyPr wrap="square" lIns="0" tIns="0" rIns="0" bIns="0" rtlCol="0" anchor="ctr"/>
          <a:lstStyle/>
          <a:p>
            <a:pPr algn="ctr" indent="0" marL="0">
              <a:buNone/>
            </a:pPr>
            <a:r>
              <a:rPr lang="ja-JP" altLang="en-US" sz="1500" b="1" dirty="0">
                <a:solidFill>
                  <a:srgbClr val="14284B"/>
                </a:solidFill>
                <a:latin typeface="Yu Gothic" pitchFamily="34" charset="0"/>
                <a:ea typeface="Yu Gothic" charset="-128"/>
                <a:cs typeface="Yu Gothic" pitchFamily="34" charset="-120"/>
              </a:rPr>
              <a:t>D社</a:t>
            </a:r>
            <a:endParaRPr lang="ja-JP" sz="1500" dirty="0"/>
          </a:p>
        </p:txBody>
      </p:sp>
      <p:sp>
        <p:nvSpPr>
          <p:cNvPr id="51" name="Text 48"/>
          <p:cNvSpPr txBox="1"/>
          <p:nvPr/>
        </p:nvSpPr>
        <p:spPr>
          <a:xfrm>
            <a:off x="5998464" y="4873752"/>
            <a:ext cx="1225296" cy="219456"/>
          </a:xfrm>
          <a:prstGeom prst="rect">
            <a:avLst/>
          </a:prstGeom>
          <a:noFill/>
          <a:ln/>
        </p:spPr>
        <p:txBody>
          <a:bodyPr wrap="square" lIns="0" tIns="0" rIns="0" bIns="0" rtlCol="0" anchor="ctr"/>
          <a:lstStyle/>
          <a:p>
            <a:pPr algn="ctr" indent="0" marL="0">
              <a:buNone/>
            </a:pPr>
            <a:r>
              <a:rPr lang="ja-JP" altLang="en-US" sz="1000" dirty="0">
                <a:solidFill>
                  <a:srgbClr val="5B6675"/>
                </a:solidFill>
                <a:latin typeface="Yu Gothic Medium" pitchFamily="34" charset="0"/>
                <a:ea typeface="Yu Gothic Medium" charset="-128"/>
                <a:cs typeface="Yu Gothic Medium" pitchFamily="34" charset="-120"/>
              </a:rPr>
              <a:t>例示</a:t>
            </a:r>
            <a:endParaRPr lang="ja-JP" sz="1000" dirty="0"/>
          </a:p>
        </p:txBody>
      </p:sp>
      <p:sp>
        <p:nvSpPr>
          <p:cNvPr id="52" name="Text 49"/>
          <p:cNvSpPr txBox="1"/>
          <p:nvPr/>
        </p:nvSpPr>
        <p:spPr>
          <a:xfrm>
            <a:off x="548640" y="5468112"/>
            <a:ext cx="6675120" cy="420624"/>
          </a:xfrm>
          <a:prstGeom prst="rect">
            <a:avLst/>
          </a:prstGeom>
          <a:noFill/>
          <a:ln/>
        </p:spPr>
        <p:txBody>
          <a:bodyPr wrap="square" lIns="0" tIns="0" rIns="0" bIns="0" rtlCol="0" anchor="t"/>
          <a:lstStyle/>
          <a:p>
            <a:pPr algn="l" indent="0" marL="0">
              <a:lnSpc>
                <a:spcPts val="1500"/>
              </a:lnSpc>
              <a:buNone/>
            </a:pPr>
            <a:r>
              <a:rPr lang="ja-JP" altLang="en-US" sz="1000" dirty="0">
                <a:solidFill>
                  <a:srgbClr val="5B6675"/>
                </a:solidFill>
                <a:latin typeface="Yu Gothic Medium" pitchFamily="34" charset="0"/>
                <a:ea typeface="Yu Gothic Medium" charset="-128"/>
                <a:cs typeface="Yu Gothic Medium" pitchFamily="34" charset="-120"/>
              </a:rPr>
              <a:t>※ A社〜D社は構造を示す例示であり、社数・業種・時期の目標ではない。</a:t>
            </a:r>
            <a:endParaRPr lang="ja-JP" sz="1000" dirty="0"/>
          </a:p>
          <a:p>
            <a:pPr algn="l" indent="0" marL="0">
              <a:lnSpc>
                <a:spcPts val="1500"/>
              </a:lnSpc>
              <a:buNone/>
            </a:pPr>
            <a:r>
              <a:rPr lang="ja-JP" altLang="en-US" sz="1000" dirty="0">
                <a:solidFill>
                  <a:srgbClr val="5B6675"/>
                </a:solidFill>
                <a:latin typeface="Yu Gothic Medium" pitchFamily="34" charset="0"/>
                <a:ea typeface="Yu Gothic Medium" charset="-128"/>
                <a:cs typeface="Yu Gothic Medium" pitchFamily="34" charset="-120"/>
              </a:rPr>
              <a:t>※ ROOTIVEの子会社化の方法（株式移転等）と税務は、専門家と協議のうえ確定する。</a:t>
            </a:r>
            <a:endParaRPr lang="ja-JP" sz="1000" dirty="0"/>
          </a:p>
        </p:txBody>
      </p:sp>
      <p:sp>
        <p:nvSpPr>
          <p:cNvPr id="53" name="Shape 50"/>
          <p:cNvSpPr/>
          <p:nvPr/>
        </p:nvSpPr>
        <p:spPr>
          <a:xfrm>
            <a:off x="7589520" y="1737360"/>
            <a:ext cx="4050792" cy="1664208"/>
          </a:xfrm>
          <a:prstGeom prst="rect">
            <a:avLst/>
          </a:prstGeom>
          <a:solidFill>
            <a:srgbClr val="F3F5F8"/>
          </a:solidFill>
          <a:ln/>
        </p:spPr>
      </p:sp>
      <p:sp>
        <p:nvSpPr>
          <p:cNvPr id="54" name="Text 51"/>
          <p:cNvSpPr txBox="1"/>
          <p:nvPr/>
        </p:nvSpPr>
        <p:spPr>
          <a:xfrm>
            <a:off x="7818120" y="1847088"/>
            <a:ext cx="182880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CAPITAL</a:t>
            </a:r>
            <a:endParaRPr lang="en-US" sz="1000" dirty="0"/>
          </a:p>
        </p:txBody>
      </p:sp>
      <p:sp>
        <p:nvSpPr>
          <p:cNvPr id="55" name="Text 52"/>
          <p:cNvSpPr txBox="1"/>
          <p:nvPr/>
        </p:nvSpPr>
        <p:spPr>
          <a:xfrm>
            <a:off x="7818120" y="2066544"/>
            <a:ext cx="320040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資本の基本</a:t>
            </a:r>
            <a:endParaRPr lang="ja-JP" sz="1500" dirty="0"/>
          </a:p>
        </p:txBody>
      </p:sp>
      <p:sp>
        <p:nvSpPr>
          <p:cNvPr id="56" name="Shape 53"/>
          <p:cNvSpPr/>
          <p:nvPr/>
        </p:nvSpPr>
        <p:spPr>
          <a:xfrm>
            <a:off x="7818120" y="2531872"/>
            <a:ext cx="54864" cy="54864"/>
          </a:xfrm>
          <a:prstGeom prst="ellipse">
            <a:avLst/>
          </a:prstGeom>
          <a:solidFill>
            <a:srgbClr val="B08D57"/>
          </a:solidFill>
          <a:ln/>
        </p:spPr>
      </p:sp>
      <p:sp>
        <p:nvSpPr>
          <p:cNvPr id="57" name="Text 54"/>
          <p:cNvSpPr txBox="1"/>
          <p:nvPr/>
        </p:nvSpPr>
        <p:spPr>
          <a:xfrm>
            <a:off x="8001000" y="2432304"/>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親会社が各子会社を原則100%保有</a:t>
            </a:r>
            <a:endParaRPr lang="ja-JP" sz="1300" dirty="0"/>
          </a:p>
        </p:txBody>
      </p:sp>
      <p:sp>
        <p:nvSpPr>
          <p:cNvPr id="58" name="Shape 55"/>
          <p:cNvSpPr/>
          <p:nvPr/>
        </p:nvSpPr>
        <p:spPr>
          <a:xfrm>
            <a:off x="7818120" y="2813304"/>
            <a:ext cx="54864" cy="54864"/>
          </a:xfrm>
          <a:prstGeom prst="ellipse">
            <a:avLst/>
          </a:prstGeom>
          <a:solidFill>
            <a:srgbClr val="B08D57"/>
          </a:solidFill>
          <a:ln/>
        </p:spPr>
      </p:sp>
      <p:sp>
        <p:nvSpPr>
          <p:cNvPr id="59" name="Text 56"/>
          <p:cNvSpPr txBox="1"/>
          <p:nvPr/>
        </p:nvSpPr>
        <p:spPr>
          <a:xfrm>
            <a:off x="8001000" y="2713736"/>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創業者は親会社の100%株主</a:t>
            </a:r>
            <a:endParaRPr lang="ja-JP" sz="1300" dirty="0"/>
          </a:p>
        </p:txBody>
      </p:sp>
      <p:sp>
        <p:nvSpPr>
          <p:cNvPr id="60" name="Shape 57"/>
          <p:cNvSpPr/>
          <p:nvPr/>
        </p:nvSpPr>
        <p:spPr>
          <a:xfrm>
            <a:off x="7818120" y="3094736"/>
            <a:ext cx="54864" cy="54864"/>
          </a:xfrm>
          <a:prstGeom prst="ellipse">
            <a:avLst/>
          </a:prstGeom>
          <a:solidFill>
            <a:srgbClr val="B08D57"/>
          </a:solidFill>
          <a:ln/>
        </p:spPr>
      </p:sp>
      <p:sp>
        <p:nvSpPr>
          <p:cNvPr id="61" name="Text 58"/>
          <p:cNvSpPr txBox="1"/>
          <p:nvPr/>
        </p:nvSpPr>
        <p:spPr>
          <a:xfrm>
            <a:off x="8001000" y="2995168"/>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創業者は親会社の代表取締役</a:t>
            </a:r>
            <a:endParaRPr lang="ja-JP" sz="1300" dirty="0"/>
          </a:p>
        </p:txBody>
      </p:sp>
      <p:sp>
        <p:nvSpPr>
          <p:cNvPr id="62" name="Shape 59"/>
          <p:cNvSpPr/>
          <p:nvPr/>
        </p:nvSpPr>
        <p:spPr>
          <a:xfrm>
            <a:off x="7589520" y="3538728"/>
            <a:ext cx="4050792" cy="2514600"/>
          </a:xfrm>
          <a:prstGeom prst="rect">
            <a:avLst/>
          </a:prstGeom>
          <a:solidFill>
            <a:srgbClr val="F3F5F8"/>
          </a:solidFill>
          <a:ln/>
        </p:spPr>
      </p:sp>
      <p:sp>
        <p:nvSpPr>
          <p:cNvPr id="63" name="Text 60"/>
          <p:cNvSpPr txBox="1"/>
          <p:nvPr/>
        </p:nvSpPr>
        <p:spPr>
          <a:xfrm>
            <a:off x="7818120" y="3648456"/>
            <a:ext cx="2286000" cy="219456"/>
          </a:xfrm>
          <a:prstGeom prst="rect">
            <a:avLst/>
          </a:prstGeom>
          <a:noFill/>
          <a:ln/>
        </p:spPr>
        <p:txBody>
          <a:bodyPr wrap="square" lIns="0" tIns="0" rIns="0" bIns="0" rtlCol="0" anchor="ctr"/>
          <a:lstStyle/>
          <a:p>
            <a:pPr algn="l" indent="0" marL="0">
              <a:buNone/>
            </a:pPr>
            <a:r>
              <a:rPr lang="en-US" altLang="en-US" sz="1000" b="1" spc="200" kern="0" dirty="0">
                <a:solidFill>
                  <a:srgbClr val="8C6D3F"/>
                </a:solidFill>
                <a:latin typeface="Arial" pitchFamily="34" charset="0"/>
                <a:ea typeface="Arial" charset="-128"/>
                <a:cs typeface="Arial" pitchFamily="34" charset="-120"/>
              </a:rPr>
              <a:t>SUBSIDIARIES</a:t>
            </a:r>
            <a:endParaRPr lang="en-US" sz="1000" dirty="0"/>
          </a:p>
        </p:txBody>
      </p:sp>
      <p:sp>
        <p:nvSpPr>
          <p:cNvPr id="64" name="Text 61"/>
          <p:cNvSpPr txBox="1"/>
          <p:nvPr/>
        </p:nvSpPr>
        <p:spPr>
          <a:xfrm>
            <a:off x="7818120" y="3867912"/>
            <a:ext cx="320040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各子会社の原則</a:t>
            </a:r>
            <a:endParaRPr lang="ja-JP" sz="1500" dirty="0"/>
          </a:p>
        </p:txBody>
      </p:sp>
      <p:sp>
        <p:nvSpPr>
          <p:cNvPr id="65" name="Shape 62"/>
          <p:cNvSpPr/>
          <p:nvPr/>
        </p:nvSpPr>
        <p:spPr>
          <a:xfrm>
            <a:off x="7818120" y="4351528"/>
            <a:ext cx="54864" cy="54864"/>
          </a:xfrm>
          <a:prstGeom prst="ellipse">
            <a:avLst/>
          </a:prstGeom>
          <a:solidFill>
            <a:srgbClr val="B08D57"/>
          </a:solidFill>
          <a:ln/>
        </p:spPr>
      </p:sp>
      <p:sp>
        <p:nvSpPr>
          <p:cNvPr id="66" name="Text 63"/>
          <p:cNvSpPr txBox="1"/>
          <p:nvPr/>
        </p:nvSpPr>
        <p:spPr>
          <a:xfrm>
            <a:off x="8001000" y="4251960"/>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別の代表取締役社長を配置</a:t>
            </a:r>
            <a:endParaRPr lang="ja-JP" sz="1300" dirty="0"/>
          </a:p>
        </p:txBody>
      </p:sp>
      <p:sp>
        <p:nvSpPr>
          <p:cNvPr id="67" name="Shape 64"/>
          <p:cNvSpPr/>
          <p:nvPr/>
        </p:nvSpPr>
        <p:spPr>
          <a:xfrm>
            <a:off x="7818120" y="4632960"/>
            <a:ext cx="54864" cy="54864"/>
          </a:xfrm>
          <a:prstGeom prst="ellipse">
            <a:avLst/>
          </a:prstGeom>
          <a:solidFill>
            <a:srgbClr val="B08D57"/>
          </a:solidFill>
          <a:ln/>
        </p:spPr>
      </p:sp>
      <p:sp>
        <p:nvSpPr>
          <p:cNvPr id="68" name="Text 65"/>
          <p:cNvSpPr txBox="1"/>
          <p:nvPr/>
        </p:nvSpPr>
        <p:spPr>
          <a:xfrm>
            <a:off x="8001000" y="4533392"/>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創業者は代表権を持たない</a:t>
            </a:r>
            <a:endParaRPr lang="ja-JP" sz="1300" dirty="0"/>
          </a:p>
        </p:txBody>
      </p:sp>
      <p:sp>
        <p:nvSpPr>
          <p:cNvPr id="69" name="Shape 66"/>
          <p:cNvSpPr/>
          <p:nvPr/>
        </p:nvSpPr>
        <p:spPr>
          <a:xfrm>
            <a:off x="7818120" y="4914392"/>
            <a:ext cx="54864" cy="54864"/>
          </a:xfrm>
          <a:prstGeom prst="ellipse">
            <a:avLst/>
          </a:prstGeom>
          <a:solidFill>
            <a:srgbClr val="B08D57"/>
          </a:solidFill>
          <a:ln/>
        </p:spPr>
      </p:sp>
      <p:sp>
        <p:nvSpPr>
          <p:cNvPr id="70" name="Text 67"/>
          <p:cNvSpPr txBox="1"/>
          <p:nvPr/>
        </p:nvSpPr>
        <p:spPr>
          <a:xfrm>
            <a:off x="8001000" y="4814824"/>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日常経営を行わない</a:t>
            </a:r>
            <a:endParaRPr lang="ja-JP" sz="1300" dirty="0"/>
          </a:p>
        </p:txBody>
      </p:sp>
      <p:sp>
        <p:nvSpPr>
          <p:cNvPr id="71" name="Shape 68"/>
          <p:cNvSpPr/>
          <p:nvPr/>
        </p:nvSpPr>
        <p:spPr>
          <a:xfrm>
            <a:off x="7818120" y="5195824"/>
            <a:ext cx="54864" cy="54864"/>
          </a:xfrm>
          <a:prstGeom prst="ellipse">
            <a:avLst/>
          </a:prstGeom>
          <a:solidFill>
            <a:srgbClr val="B08D57"/>
          </a:solidFill>
          <a:ln/>
        </p:spPr>
      </p:sp>
      <p:sp>
        <p:nvSpPr>
          <p:cNvPr id="72" name="Text 69"/>
          <p:cNvSpPr txBox="1"/>
          <p:nvPr/>
        </p:nvSpPr>
        <p:spPr>
          <a:xfrm>
            <a:off x="8001000" y="5096256"/>
            <a:ext cx="3474720" cy="254000"/>
          </a:xfrm>
          <a:prstGeom prst="rect">
            <a:avLst/>
          </a:prstGeom>
          <a:noFill/>
          <a:ln/>
        </p:spPr>
        <p:txBody>
          <a:bodyPr wrap="square" lIns="0" tIns="0" rIns="0" bIns="0" rtlCol="0" anchor="ctr"/>
          <a:lstStyle/>
          <a:p>
            <a:pPr algn="l" indent="0" marL="0">
              <a:buNone/>
            </a:pPr>
            <a:r>
              <a:rPr lang="ja-JP" altLang="en-US" sz="1300" dirty="0">
                <a:solidFill>
                  <a:srgbClr val="1B1F27"/>
                </a:solidFill>
                <a:latin typeface="Yu Gothic Medium" pitchFamily="34" charset="0"/>
                <a:ea typeface="Yu Gothic Medium" charset="-128"/>
                <a:cs typeface="Yu Gothic Medium" pitchFamily="34" charset="-120"/>
              </a:rPr>
              <a:t>原則として子会社取締役には入らない</a:t>
            </a:r>
            <a:endParaRPr lang="ja-JP" sz="1300" dirty="0"/>
          </a:p>
        </p:txBody>
      </p:sp>
      <p:sp>
        <p:nvSpPr>
          <p:cNvPr id="73" name="Shape 70"/>
          <p:cNvSpPr/>
          <p:nvPr/>
        </p:nvSpPr>
        <p:spPr>
          <a:xfrm>
            <a:off x="7818120" y="5477256"/>
            <a:ext cx="54864" cy="54864"/>
          </a:xfrm>
          <a:prstGeom prst="ellipse">
            <a:avLst/>
          </a:prstGeom>
          <a:solidFill>
            <a:srgbClr val="B08D57"/>
          </a:solidFill>
          <a:ln/>
        </p:spPr>
      </p:sp>
      <p:sp>
        <p:nvSpPr>
          <p:cNvPr id="74" name="Text 71"/>
          <p:cNvSpPr txBox="1"/>
          <p:nvPr/>
        </p:nvSpPr>
        <p:spPr>
          <a:xfrm>
            <a:off x="8001000" y="5377688"/>
            <a:ext cx="3474720" cy="508000"/>
          </a:xfrm>
          <a:prstGeom prst="rect">
            <a:avLst/>
          </a:prstGeom>
          <a:noFill/>
          <a:ln/>
        </p:spPr>
        <p:txBody>
          <a:bodyPr wrap="square" lIns="0" tIns="0" rIns="0" bIns="0" rtlCol="0" anchor="t"/>
          <a:lstStyle/>
          <a:p>
            <a:pPr algn="l" indent="0" marL="0">
              <a:lnSpc>
                <a:spcPts val="2000"/>
              </a:lnSpc>
              <a:buNone/>
            </a:pPr>
            <a:r>
              <a:rPr lang="ja-JP" altLang="en-US" sz="1300" dirty="0">
                <a:solidFill>
                  <a:srgbClr val="1B1F27"/>
                </a:solidFill>
                <a:latin typeface="Yu Gothic Medium" pitchFamily="34" charset="0"/>
                <a:ea typeface="Yu Gothic Medium" charset="-128"/>
                <a:cs typeface="Yu Gothic Medium" pitchFamily="34" charset="-120"/>
              </a:rPr>
              <a:t>必要に応じて会長として</a:t>
            </a:r>
            <a:endParaRPr lang="ja-JP" sz="1300" dirty="0"/>
          </a:p>
          <a:p>
            <a:pPr algn="l" indent="0" marL="0">
              <a:lnSpc>
                <a:spcPts val="2000"/>
              </a:lnSpc>
              <a:buNone/>
            </a:pPr>
            <a:r>
              <a:rPr lang="ja-JP" altLang="en-US" sz="1300" dirty="0">
                <a:solidFill>
                  <a:srgbClr val="1B1F27"/>
                </a:solidFill>
                <a:latin typeface="Yu Gothic Medium" pitchFamily="34" charset="0"/>
                <a:ea typeface="Yu Gothic Medium" charset="-128"/>
                <a:cs typeface="Yu Gothic Medium" pitchFamily="34" charset="-120"/>
              </a:rPr>
              <a:t>経営監督・社長支援</a:t>
            </a:r>
            <a:endParaRPr lang="ja-JP"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16</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OWNERSHIP × EXECUTION</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FFFFFF"/>
                </a:solidFill>
                <a:latin typeface="Yu Gothic" pitchFamily="34" charset="0"/>
                <a:ea typeface="Yu Gothic" charset="-128"/>
                <a:cs typeface="Yu Gothic" pitchFamily="34" charset="-120"/>
              </a:rPr>
              <a:t>所有と執行を分ける。</a:t>
            </a:r>
            <a:endParaRPr lang="ja-JP" sz="2600" dirty="0"/>
          </a:p>
        </p:txBody>
      </p:sp>
      <p:sp>
        <p:nvSpPr>
          <p:cNvPr id="4" name="Text 2"/>
          <p:cNvSpPr txBox="1"/>
          <p:nvPr/>
        </p:nvSpPr>
        <p:spPr>
          <a:xfrm>
            <a:off x="548640" y="1325880"/>
            <a:ext cx="11094415" cy="329184"/>
          </a:xfrm>
          <a:prstGeom prst="rect">
            <a:avLst/>
          </a:prstGeom>
          <a:noFill/>
          <a:ln/>
        </p:spPr>
        <p:txBody>
          <a:bodyPr wrap="square" lIns="0" tIns="0" rIns="0" bIns="0" rtlCol="0" anchor="ctr"/>
          <a:lstStyle/>
          <a:p>
            <a:pPr algn="l" indent="0" marL="0">
              <a:buNone/>
            </a:pPr>
            <a:r>
              <a:rPr lang="ja-JP" altLang="en-US" sz="1400" dirty="0">
                <a:solidFill>
                  <a:srgbClr val="D5DBE3"/>
                </a:solidFill>
                <a:latin typeface="Yu Gothic Medium" pitchFamily="34" charset="0"/>
                <a:ea typeface="Yu Gothic Medium" charset="-128"/>
                <a:cs typeface="Yu Gothic Medium" pitchFamily="34" charset="-120"/>
              </a:rPr>
              <a:t>資本を持つ親会社と、日常を経営する子会社社長の役割を明確に分ける。</a:t>
            </a:r>
            <a:endParaRPr lang="ja-JP" sz="1400" dirty="0"/>
          </a:p>
        </p:txBody>
      </p:sp>
      <p:sp>
        <p:nvSpPr>
          <p:cNvPr id="5" name="Shape 3"/>
          <p:cNvSpPr/>
          <p:nvPr/>
        </p:nvSpPr>
        <p:spPr>
          <a:xfrm>
            <a:off x="8880856" y="585216"/>
            <a:ext cx="436880" cy="0"/>
          </a:xfrm>
          <a:prstGeom prst="line">
            <a:avLst/>
          </a:prstGeom>
          <a:noFill/>
          <a:ln w="12700">
            <a:solidFill>
              <a:srgbClr val="2E4468"/>
            </a:solidFill>
            <a:prstDash val="solid"/>
          </a:ln>
        </p:spPr>
      </p:sp>
      <p:sp>
        <p:nvSpPr>
          <p:cNvPr id="6" name="Shape 4"/>
          <p:cNvSpPr/>
          <p:nvPr/>
        </p:nvSpPr>
        <p:spPr>
          <a:xfrm>
            <a:off x="9878771" y="585216"/>
            <a:ext cx="444805" cy="0"/>
          </a:xfrm>
          <a:prstGeom prst="line">
            <a:avLst/>
          </a:prstGeom>
          <a:noFill/>
          <a:ln w="19050">
            <a:solidFill>
              <a:srgbClr val="C9A96E"/>
            </a:solidFill>
            <a:prstDash val="solid"/>
          </a:ln>
        </p:spPr>
      </p:sp>
      <p:sp>
        <p:nvSpPr>
          <p:cNvPr id="7" name="Shape 5"/>
          <p:cNvSpPr/>
          <p:nvPr/>
        </p:nvSpPr>
        <p:spPr>
          <a:xfrm>
            <a:off x="10884611" y="585216"/>
            <a:ext cx="353365" cy="0"/>
          </a:xfrm>
          <a:prstGeom prst="line">
            <a:avLst/>
          </a:prstGeom>
          <a:noFill/>
          <a:ln w="12700">
            <a:solidFill>
              <a:srgbClr val="2E4468"/>
            </a:solidFill>
            <a:prstDash val="sysDash"/>
          </a:ln>
        </p:spPr>
      </p:sp>
      <p:sp>
        <p:nvSpPr>
          <p:cNvPr id="8" name="Shape 6"/>
          <p:cNvSpPr/>
          <p:nvPr/>
        </p:nvSpPr>
        <p:spPr>
          <a:xfrm>
            <a:off x="8348472" y="539496"/>
            <a:ext cx="91440" cy="91440"/>
          </a:xfrm>
          <a:prstGeom prst="ellipse">
            <a:avLst/>
          </a:prstGeom>
          <a:solidFill>
            <a:srgbClr val="6F829C"/>
          </a:solidFill>
          <a:ln/>
        </p:spPr>
      </p:sp>
      <p:sp>
        <p:nvSpPr>
          <p:cNvPr id="9" name="Text 7"/>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NOW</a:t>
            </a:r>
            <a:endParaRPr lang="en-US" sz="1000" dirty="0"/>
          </a:p>
        </p:txBody>
      </p:sp>
      <p:sp>
        <p:nvSpPr>
          <p:cNvPr id="10" name="Shape 8"/>
          <p:cNvSpPr/>
          <p:nvPr/>
        </p:nvSpPr>
        <p:spPr>
          <a:xfrm>
            <a:off x="9354312" y="539496"/>
            <a:ext cx="91440" cy="91440"/>
          </a:xfrm>
          <a:prstGeom prst="ellipse">
            <a:avLst/>
          </a:prstGeom>
          <a:solidFill>
            <a:srgbClr val="C9A96E"/>
          </a:solidFill>
          <a:ln/>
        </p:spPr>
      </p:sp>
      <p:sp>
        <p:nvSpPr>
          <p:cNvPr id="11" name="Text 9"/>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2028</a:t>
            </a:r>
            <a:endParaRPr lang="en-US" sz="1000" dirty="0"/>
          </a:p>
        </p:txBody>
      </p:sp>
      <p:sp>
        <p:nvSpPr>
          <p:cNvPr id="12" name="Shape 10"/>
          <p:cNvSpPr/>
          <p:nvPr/>
        </p:nvSpPr>
        <p:spPr>
          <a:xfrm>
            <a:off x="10360152" y="539496"/>
            <a:ext cx="91440" cy="91440"/>
          </a:xfrm>
          <a:prstGeom prst="ellipse">
            <a:avLst/>
          </a:prstGeom>
          <a:solidFill>
            <a:srgbClr val="C9A96E"/>
          </a:solidFill>
          <a:ln/>
        </p:spPr>
      </p:sp>
      <p:sp>
        <p:nvSpPr>
          <p:cNvPr id="13" name="Text 11"/>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2031</a:t>
            </a:r>
            <a:endParaRPr lang="en-US" sz="1000" dirty="0"/>
          </a:p>
        </p:txBody>
      </p:sp>
      <p:sp>
        <p:nvSpPr>
          <p:cNvPr id="14" name="Shape 12"/>
          <p:cNvSpPr/>
          <p:nvPr/>
        </p:nvSpPr>
        <p:spPr>
          <a:xfrm>
            <a:off x="11274552" y="539496"/>
            <a:ext cx="91440" cy="91440"/>
          </a:xfrm>
          <a:prstGeom prst="ellipse">
            <a:avLst/>
          </a:prstGeom>
          <a:solidFill>
            <a:srgbClr val="6F829C"/>
          </a:solidFill>
          <a:ln/>
        </p:spPr>
      </p:sp>
      <p:sp>
        <p:nvSpPr>
          <p:cNvPr id="15" name="Text 13"/>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IPO</a:t>
            </a:r>
            <a:endParaRPr lang="en-US" sz="1000" dirty="0"/>
          </a:p>
        </p:txBody>
      </p:sp>
      <p:sp>
        <p:nvSpPr>
          <p:cNvPr id="16" name="Text 14"/>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7" name="Text 15"/>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16</a:t>
            </a:r>
            <a:endParaRPr lang="en-US" sz="1000" dirty="0"/>
          </a:p>
        </p:txBody>
      </p:sp>
      <p:sp>
        <p:nvSpPr>
          <p:cNvPr id="19" name="Shape 16"/>
          <p:cNvSpPr/>
          <p:nvPr/>
        </p:nvSpPr>
        <p:spPr>
          <a:xfrm>
            <a:off x="548640" y="1874520"/>
            <a:ext cx="4206240" cy="4069080"/>
          </a:xfrm>
          <a:prstGeom prst="rect">
            <a:avLst/>
          </a:prstGeom>
          <a:solidFill>
            <a:srgbClr val="13243F"/>
          </a:solidFill>
          <a:ln/>
        </p:spPr>
      </p:sp>
      <p:sp>
        <p:nvSpPr>
          <p:cNvPr id="20" name="Text 17"/>
          <p:cNvSpPr txBox="1"/>
          <p:nvPr/>
        </p:nvSpPr>
        <p:spPr>
          <a:xfrm>
            <a:off x="822960" y="2029968"/>
            <a:ext cx="3657600" cy="274320"/>
          </a:xfrm>
          <a:prstGeom prst="rect">
            <a:avLst/>
          </a:prstGeom>
          <a:noFill/>
          <a:ln/>
        </p:spPr>
        <p:txBody>
          <a:bodyPr wrap="square" lIns="0" tIns="0" rIns="0" bIns="0" rtlCol="0" anchor="ctr"/>
          <a:lstStyle/>
          <a:p>
            <a:pPr algn="l" indent="0" marL="0">
              <a:buNone/>
            </a:pPr>
            <a:r>
              <a:rPr lang="en-US" altLang="en-US" sz="1400" b="1" spc="200" kern="0" dirty="0">
                <a:solidFill>
                  <a:srgbClr val="C9A96E"/>
                </a:solidFill>
                <a:latin typeface="Arial" pitchFamily="34" charset="0"/>
                <a:ea typeface="Arial" charset="-128"/>
                <a:cs typeface="Arial" pitchFamily="34" charset="-120"/>
              </a:rPr>
              <a:t>PARENT COMPANY</a:t>
            </a:r>
            <a:endParaRPr lang="en-US" sz="1400" dirty="0"/>
          </a:p>
        </p:txBody>
      </p:sp>
      <p:sp>
        <p:nvSpPr>
          <p:cNvPr id="21" name="Text 18"/>
          <p:cNvSpPr txBox="1"/>
          <p:nvPr/>
        </p:nvSpPr>
        <p:spPr>
          <a:xfrm>
            <a:off x="822960" y="2331720"/>
            <a:ext cx="3657600" cy="384048"/>
          </a:xfrm>
          <a:prstGeom prst="rect">
            <a:avLst/>
          </a:prstGeom>
          <a:noFill/>
          <a:ln/>
        </p:spPr>
        <p:txBody>
          <a:bodyPr wrap="square" lIns="0" tIns="0" rIns="0" bIns="0" rtlCol="0" anchor="ctr"/>
          <a:lstStyle/>
          <a:p>
            <a:pPr algn="l" indent="0" marL="0">
              <a:buNone/>
            </a:pPr>
            <a:r>
              <a:rPr lang="ja-JP" altLang="en-US" sz="2000" b="1" dirty="0">
                <a:solidFill>
                  <a:srgbClr val="FFFFFF"/>
                </a:solidFill>
                <a:latin typeface="Yu Gothic" pitchFamily="34" charset="0"/>
                <a:ea typeface="Yu Gothic" charset="-128"/>
                <a:cs typeface="Yu Gothic" pitchFamily="34" charset="-120"/>
              </a:rPr>
              <a:t>親会社｜所有</a:t>
            </a:r>
            <a:endParaRPr lang="ja-JP" sz="2000" dirty="0"/>
          </a:p>
        </p:txBody>
      </p:sp>
      <p:sp>
        <p:nvSpPr>
          <p:cNvPr id="22" name="Text 19"/>
          <p:cNvSpPr txBox="1"/>
          <p:nvPr/>
        </p:nvSpPr>
        <p:spPr>
          <a:xfrm>
            <a:off x="822960" y="2880360"/>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資本</a:t>
            </a:r>
            <a:endParaRPr lang="ja-JP" sz="1700" dirty="0"/>
          </a:p>
        </p:txBody>
      </p:sp>
      <p:sp>
        <p:nvSpPr>
          <p:cNvPr id="23" name="Shape 20"/>
          <p:cNvSpPr/>
          <p:nvPr/>
        </p:nvSpPr>
        <p:spPr>
          <a:xfrm>
            <a:off x="822960" y="3291840"/>
            <a:ext cx="3657600" cy="0"/>
          </a:xfrm>
          <a:prstGeom prst="line">
            <a:avLst/>
          </a:prstGeom>
          <a:noFill/>
          <a:ln w="9525">
            <a:solidFill>
              <a:srgbClr val="2E4468"/>
            </a:solidFill>
            <a:prstDash val="solid"/>
          </a:ln>
        </p:spPr>
      </p:sp>
      <p:sp>
        <p:nvSpPr>
          <p:cNvPr id="24" name="Text 21"/>
          <p:cNvSpPr txBox="1"/>
          <p:nvPr/>
        </p:nvSpPr>
        <p:spPr>
          <a:xfrm>
            <a:off x="822960" y="3300984"/>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社長人事</a:t>
            </a:r>
            <a:endParaRPr lang="ja-JP" sz="1700" dirty="0"/>
          </a:p>
        </p:txBody>
      </p:sp>
      <p:sp>
        <p:nvSpPr>
          <p:cNvPr id="25" name="Shape 22"/>
          <p:cNvSpPr/>
          <p:nvPr/>
        </p:nvSpPr>
        <p:spPr>
          <a:xfrm>
            <a:off x="822960" y="3712464"/>
            <a:ext cx="3657600" cy="0"/>
          </a:xfrm>
          <a:prstGeom prst="line">
            <a:avLst/>
          </a:prstGeom>
          <a:noFill/>
          <a:ln w="9525">
            <a:solidFill>
              <a:srgbClr val="2E4468"/>
            </a:solidFill>
            <a:prstDash val="solid"/>
          </a:ln>
        </p:spPr>
      </p:sp>
      <p:sp>
        <p:nvSpPr>
          <p:cNvPr id="26" name="Text 23"/>
          <p:cNvSpPr txBox="1"/>
          <p:nvPr/>
        </p:nvSpPr>
        <p:spPr>
          <a:xfrm>
            <a:off x="822960" y="3721608"/>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M&amp;A</a:t>
            </a:r>
            <a:endParaRPr lang="ja-JP" sz="1700" dirty="0"/>
          </a:p>
        </p:txBody>
      </p:sp>
      <p:sp>
        <p:nvSpPr>
          <p:cNvPr id="27" name="Shape 24"/>
          <p:cNvSpPr/>
          <p:nvPr/>
        </p:nvSpPr>
        <p:spPr>
          <a:xfrm>
            <a:off x="822960" y="4133088"/>
            <a:ext cx="3657600" cy="0"/>
          </a:xfrm>
          <a:prstGeom prst="line">
            <a:avLst/>
          </a:prstGeom>
          <a:noFill/>
          <a:ln w="9525">
            <a:solidFill>
              <a:srgbClr val="2E4468"/>
            </a:solidFill>
            <a:prstDash val="solid"/>
          </a:ln>
        </p:spPr>
      </p:sp>
      <p:sp>
        <p:nvSpPr>
          <p:cNvPr id="28" name="Text 25"/>
          <p:cNvSpPr txBox="1"/>
          <p:nvPr/>
        </p:nvSpPr>
        <p:spPr>
          <a:xfrm>
            <a:off x="822960" y="4142232"/>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大型投資</a:t>
            </a:r>
            <a:endParaRPr lang="ja-JP" sz="1700" dirty="0"/>
          </a:p>
        </p:txBody>
      </p:sp>
      <p:sp>
        <p:nvSpPr>
          <p:cNvPr id="29" name="Shape 26"/>
          <p:cNvSpPr/>
          <p:nvPr/>
        </p:nvSpPr>
        <p:spPr>
          <a:xfrm>
            <a:off x="822960" y="4553712"/>
            <a:ext cx="3657600" cy="0"/>
          </a:xfrm>
          <a:prstGeom prst="line">
            <a:avLst/>
          </a:prstGeom>
          <a:noFill/>
          <a:ln w="9525">
            <a:solidFill>
              <a:srgbClr val="2E4468"/>
            </a:solidFill>
            <a:prstDash val="solid"/>
          </a:ln>
        </p:spPr>
      </p:sp>
      <p:sp>
        <p:nvSpPr>
          <p:cNvPr id="30" name="Text 27"/>
          <p:cNvSpPr txBox="1"/>
          <p:nvPr/>
        </p:nvSpPr>
        <p:spPr>
          <a:xfrm>
            <a:off x="822960" y="4562856"/>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戦略</a:t>
            </a:r>
            <a:endParaRPr lang="ja-JP" sz="1700" dirty="0"/>
          </a:p>
        </p:txBody>
      </p:sp>
      <p:sp>
        <p:nvSpPr>
          <p:cNvPr id="31" name="Shape 28"/>
          <p:cNvSpPr/>
          <p:nvPr/>
        </p:nvSpPr>
        <p:spPr>
          <a:xfrm>
            <a:off x="822960" y="4974336"/>
            <a:ext cx="3657600" cy="0"/>
          </a:xfrm>
          <a:prstGeom prst="line">
            <a:avLst/>
          </a:prstGeom>
          <a:noFill/>
          <a:ln w="9525">
            <a:solidFill>
              <a:srgbClr val="2E4468"/>
            </a:solidFill>
            <a:prstDash val="solid"/>
          </a:ln>
        </p:spPr>
      </p:sp>
      <p:sp>
        <p:nvSpPr>
          <p:cNvPr id="32" name="Text 29"/>
          <p:cNvSpPr txBox="1"/>
          <p:nvPr/>
        </p:nvSpPr>
        <p:spPr>
          <a:xfrm>
            <a:off x="822960" y="4983480"/>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財務</a:t>
            </a:r>
            <a:endParaRPr lang="ja-JP" sz="1700" dirty="0"/>
          </a:p>
        </p:txBody>
      </p:sp>
      <p:sp>
        <p:nvSpPr>
          <p:cNvPr id="33" name="Shape 30"/>
          <p:cNvSpPr/>
          <p:nvPr/>
        </p:nvSpPr>
        <p:spPr>
          <a:xfrm>
            <a:off x="822960" y="5394960"/>
            <a:ext cx="3657600" cy="0"/>
          </a:xfrm>
          <a:prstGeom prst="line">
            <a:avLst/>
          </a:prstGeom>
          <a:noFill/>
          <a:ln w="9525">
            <a:solidFill>
              <a:srgbClr val="2E4468"/>
            </a:solidFill>
            <a:prstDash val="solid"/>
          </a:ln>
        </p:spPr>
      </p:sp>
      <p:sp>
        <p:nvSpPr>
          <p:cNvPr id="34" name="Text 31"/>
          <p:cNvSpPr txBox="1"/>
          <p:nvPr/>
        </p:nvSpPr>
        <p:spPr>
          <a:xfrm>
            <a:off x="822960" y="5404104"/>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撤退判断</a:t>
            </a:r>
            <a:endParaRPr lang="ja-JP" sz="1700" dirty="0"/>
          </a:p>
        </p:txBody>
      </p:sp>
      <p:sp>
        <p:nvSpPr>
          <p:cNvPr id="35" name="Shape 32"/>
          <p:cNvSpPr/>
          <p:nvPr/>
        </p:nvSpPr>
        <p:spPr>
          <a:xfrm>
            <a:off x="7434072" y="1874520"/>
            <a:ext cx="4206240" cy="4069080"/>
          </a:xfrm>
          <a:prstGeom prst="rect">
            <a:avLst/>
          </a:prstGeom>
          <a:solidFill>
            <a:srgbClr val="13243F"/>
          </a:solidFill>
          <a:ln/>
        </p:spPr>
      </p:sp>
      <p:sp>
        <p:nvSpPr>
          <p:cNvPr id="36" name="Text 33"/>
          <p:cNvSpPr txBox="1"/>
          <p:nvPr/>
        </p:nvSpPr>
        <p:spPr>
          <a:xfrm>
            <a:off x="7708392" y="2029968"/>
            <a:ext cx="3657600" cy="274320"/>
          </a:xfrm>
          <a:prstGeom prst="rect">
            <a:avLst/>
          </a:prstGeom>
          <a:noFill/>
          <a:ln/>
        </p:spPr>
        <p:txBody>
          <a:bodyPr wrap="square" lIns="0" tIns="0" rIns="0" bIns="0" rtlCol="0" anchor="ctr"/>
          <a:lstStyle/>
          <a:p>
            <a:pPr algn="l" indent="0" marL="0">
              <a:buNone/>
            </a:pPr>
            <a:r>
              <a:rPr lang="en-US" altLang="en-US" sz="1400" b="1" spc="200" kern="0" dirty="0">
                <a:solidFill>
                  <a:srgbClr val="C9A96E"/>
                </a:solidFill>
                <a:latin typeface="Arial" pitchFamily="34" charset="0"/>
                <a:ea typeface="Arial" charset="-128"/>
                <a:cs typeface="Arial" pitchFamily="34" charset="-120"/>
              </a:rPr>
              <a:t>SUBSIDIARY CEO</a:t>
            </a:r>
            <a:endParaRPr lang="en-US" sz="1400" dirty="0"/>
          </a:p>
        </p:txBody>
      </p:sp>
      <p:sp>
        <p:nvSpPr>
          <p:cNvPr id="37" name="Text 34"/>
          <p:cNvSpPr txBox="1"/>
          <p:nvPr/>
        </p:nvSpPr>
        <p:spPr>
          <a:xfrm>
            <a:off x="7708392" y="2331720"/>
            <a:ext cx="3657600" cy="384048"/>
          </a:xfrm>
          <a:prstGeom prst="rect">
            <a:avLst/>
          </a:prstGeom>
          <a:noFill/>
          <a:ln/>
        </p:spPr>
        <p:txBody>
          <a:bodyPr wrap="square" lIns="0" tIns="0" rIns="0" bIns="0" rtlCol="0" anchor="ctr"/>
          <a:lstStyle/>
          <a:p>
            <a:pPr algn="l" indent="0" marL="0">
              <a:buNone/>
            </a:pPr>
            <a:r>
              <a:rPr lang="ja-JP" altLang="en-US" sz="2000" b="1" dirty="0">
                <a:solidFill>
                  <a:srgbClr val="FFFFFF"/>
                </a:solidFill>
                <a:latin typeface="Yu Gothic" pitchFamily="34" charset="0"/>
                <a:ea typeface="Yu Gothic" charset="-128"/>
                <a:cs typeface="Yu Gothic" pitchFamily="34" charset="-120"/>
              </a:rPr>
              <a:t>子会社社長｜執行</a:t>
            </a:r>
            <a:endParaRPr lang="ja-JP" sz="2000" dirty="0"/>
          </a:p>
        </p:txBody>
      </p:sp>
      <p:sp>
        <p:nvSpPr>
          <p:cNvPr id="38" name="Text 35"/>
          <p:cNvSpPr txBox="1"/>
          <p:nvPr/>
        </p:nvSpPr>
        <p:spPr>
          <a:xfrm>
            <a:off x="7708392" y="2880360"/>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売上</a:t>
            </a:r>
            <a:endParaRPr lang="ja-JP" sz="1700" dirty="0"/>
          </a:p>
        </p:txBody>
      </p:sp>
      <p:sp>
        <p:nvSpPr>
          <p:cNvPr id="39" name="Shape 36"/>
          <p:cNvSpPr/>
          <p:nvPr/>
        </p:nvSpPr>
        <p:spPr>
          <a:xfrm>
            <a:off x="7708392" y="3375965"/>
            <a:ext cx="3657600" cy="0"/>
          </a:xfrm>
          <a:prstGeom prst="line">
            <a:avLst/>
          </a:prstGeom>
          <a:noFill/>
          <a:ln w="9525">
            <a:solidFill>
              <a:srgbClr val="2E4468"/>
            </a:solidFill>
            <a:prstDash val="solid"/>
          </a:ln>
        </p:spPr>
      </p:sp>
      <p:sp>
        <p:nvSpPr>
          <p:cNvPr id="40" name="Text 37"/>
          <p:cNvSpPr txBox="1"/>
          <p:nvPr/>
        </p:nvSpPr>
        <p:spPr>
          <a:xfrm>
            <a:off x="7708392" y="3385109"/>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利益</a:t>
            </a:r>
            <a:endParaRPr lang="ja-JP" sz="1700" dirty="0"/>
          </a:p>
        </p:txBody>
      </p:sp>
      <p:sp>
        <p:nvSpPr>
          <p:cNvPr id="41" name="Shape 38"/>
          <p:cNvSpPr/>
          <p:nvPr/>
        </p:nvSpPr>
        <p:spPr>
          <a:xfrm>
            <a:off x="7708392" y="3880714"/>
            <a:ext cx="3657600" cy="0"/>
          </a:xfrm>
          <a:prstGeom prst="line">
            <a:avLst/>
          </a:prstGeom>
          <a:noFill/>
          <a:ln w="9525">
            <a:solidFill>
              <a:srgbClr val="2E4468"/>
            </a:solidFill>
            <a:prstDash val="solid"/>
          </a:ln>
        </p:spPr>
      </p:sp>
      <p:sp>
        <p:nvSpPr>
          <p:cNvPr id="42" name="Text 39"/>
          <p:cNvSpPr txBox="1"/>
          <p:nvPr/>
        </p:nvSpPr>
        <p:spPr>
          <a:xfrm>
            <a:off x="7708392" y="3889858"/>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顧客</a:t>
            </a:r>
            <a:endParaRPr lang="ja-JP" sz="1700" dirty="0"/>
          </a:p>
        </p:txBody>
      </p:sp>
      <p:sp>
        <p:nvSpPr>
          <p:cNvPr id="43" name="Shape 40"/>
          <p:cNvSpPr/>
          <p:nvPr/>
        </p:nvSpPr>
        <p:spPr>
          <a:xfrm>
            <a:off x="7708392" y="4385462"/>
            <a:ext cx="3657600" cy="0"/>
          </a:xfrm>
          <a:prstGeom prst="line">
            <a:avLst/>
          </a:prstGeom>
          <a:noFill/>
          <a:ln w="9525">
            <a:solidFill>
              <a:srgbClr val="2E4468"/>
            </a:solidFill>
            <a:prstDash val="solid"/>
          </a:ln>
        </p:spPr>
      </p:sp>
      <p:sp>
        <p:nvSpPr>
          <p:cNvPr id="44" name="Text 41"/>
          <p:cNvSpPr txBox="1"/>
          <p:nvPr/>
        </p:nvSpPr>
        <p:spPr>
          <a:xfrm>
            <a:off x="7708392" y="4394606"/>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人材</a:t>
            </a:r>
            <a:endParaRPr lang="ja-JP" sz="1700" dirty="0"/>
          </a:p>
        </p:txBody>
      </p:sp>
      <p:sp>
        <p:nvSpPr>
          <p:cNvPr id="45" name="Shape 42"/>
          <p:cNvSpPr/>
          <p:nvPr/>
        </p:nvSpPr>
        <p:spPr>
          <a:xfrm>
            <a:off x="7708392" y="4890211"/>
            <a:ext cx="3657600" cy="0"/>
          </a:xfrm>
          <a:prstGeom prst="line">
            <a:avLst/>
          </a:prstGeom>
          <a:noFill/>
          <a:ln w="9525">
            <a:solidFill>
              <a:srgbClr val="2E4468"/>
            </a:solidFill>
            <a:prstDash val="solid"/>
          </a:ln>
        </p:spPr>
      </p:sp>
      <p:sp>
        <p:nvSpPr>
          <p:cNvPr id="46" name="Text 43"/>
          <p:cNvSpPr txBox="1"/>
          <p:nvPr/>
        </p:nvSpPr>
        <p:spPr>
          <a:xfrm>
            <a:off x="7708392" y="4899355"/>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現場</a:t>
            </a:r>
            <a:endParaRPr lang="ja-JP" sz="1700" dirty="0"/>
          </a:p>
        </p:txBody>
      </p:sp>
      <p:sp>
        <p:nvSpPr>
          <p:cNvPr id="47" name="Shape 44"/>
          <p:cNvSpPr/>
          <p:nvPr/>
        </p:nvSpPr>
        <p:spPr>
          <a:xfrm>
            <a:off x="7708392" y="5394960"/>
            <a:ext cx="3657600" cy="0"/>
          </a:xfrm>
          <a:prstGeom prst="line">
            <a:avLst/>
          </a:prstGeom>
          <a:noFill/>
          <a:ln w="9525">
            <a:solidFill>
              <a:srgbClr val="2E4468"/>
            </a:solidFill>
            <a:prstDash val="solid"/>
          </a:ln>
        </p:spPr>
      </p:sp>
      <p:sp>
        <p:nvSpPr>
          <p:cNvPr id="48" name="Text 45"/>
          <p:cNvSpPr txBox="1"/>
          <p:nvPr/>
        </p:nvSpPr>
        <p:spPr>
          <a:xfrm>
            <a:off x="7708392" y="5404104"/>
            <a:ext cx="3657600" cy="402336"/>
          </a:xfrm>
          <a:prstGeom prst="rect">
            <a:avLst/>
          </a:prstGeom>
          <a:noFill/>
          <a:ln/>
        </p:spPr>
        <p:txBody>
          <a:bodyPr wrap="square" lIns="0" tIns="0" rIns="0" bIns="0" rtlCol="0" anchor="ctr"/>
          <a:lstStyle/>
          <a:p>
            <a:pPr algn="l" indent="0" marL="0">
              <a:buNone/>
            </a:pPr>
            <a:r>
              <a:rPr lang="ja-JP" altLang="en-US" sz="1700" dirty="0">
                <a:solidFill>
                  <a:srgbClr val="FFFFFF"/>
                </a:solidFill>
                <a:latin typeface="Yu Gothic Medium" pitchFamily="34" charset="0"/>
                <a:ea typeface="Yu Gothic Medium" charset="-128"/>
                <a:cs typeface="Yu Gothic Medium" pitchFamily="34" charset="-120"/>
              </a:rPr>
              <a:t>日常経営</a:t>
            </a:r>
            <a:endParaRPr lang="ja-JP" sz="1700" dirty="0"/>
          </a:p>
        </p:txBody>
      </p:sp>
      <p:sp>
        <p:nvSpPr>
          <p:cNvPr id="49" name="Text 46"/>
          <p:cNvSpPr txBox="1"/>
          <p:nvPr/>
        </p:nvSpPr>
        <p:spPr>
          <a:xfrm>
            <a:off x="4846320" y="2697480"/>
            <a:ext cx="2496312" cy="457200"/>
          </a:xfrm>
          <a:prstGeom prst="rect">
            <a:avLst/>
          </a:prstGeom>
          <a:noFill/>
          <a:ln/>
        </p:spPr>
        <p:txBody>
          <a:bodyPr wrap="square" lIns="0" tIns="0" rIns="0" bIns="0" rtlCol="0" anchor="ctr"/>
          <a:lstStyle/>
          <a:p>
            <a:pPr algn="ctr" indent="0" marL="0">
              <a:buNone/>
            </a:pPr>
            <a:r>
              <a:rPr lang="en-US" altLang="en-US" sz="2600" b="1" dirty="0">
                <a:solidFill>
                  <a:srgbClr val="FFFFFF"/>
                </a:solidFill>
                <a:latin typeface="Cambria" pitchFamily="34" charset="0"/>
                <a:ea typeface="Cambria" charset="-128"/>
                <a:cs typeface="Cambria" pitchFamily="34" charset="-120"/>
              </a:rPr>
              <a:t>OWNER</a:t>
            </a:r>
            <a:endParaRPr lang="en-US" sz="2600" dirty="0"/>
          </a:p>
        </p:txBody>
      </p:sp>
      <p:sp>
        <p:nvSpPr>
          <p:cNvPr id="50" name="Text 47"/>
          <p:cNvSpPr txBox="1"/>
          <p:nvPr/>
        </p:nvSpPr>
        <p:spPr>
          <a:xfrm>
            <a:off x="4846320" y="3154680"/>
            <a:ext cx="2496312" cy="256032"/>
          </a:xfrm>
          <a:prstGeom prst="rect">
            <a:avLst/>
          </a:prstGeom>
          <a:noFill/>
          <a:ln/>
        </p:spPr>
        <p:txBody>
          <a:bodyPr wrap="square" lIns="0" tIns="0" rIns="0" bIns="0" rtlCol="0" anchor="ctr"/>
          <a:lstStyle/>
          <a:p>
            <a:pPr algn="ctr" indent="0" marL="0">
              <a:buNone/>
            </a:pPr>
            <a:r>
              <a:rPr lang="ja-JP" altLang="en-US" sz="1200" dirty="0">
                <a:solidFill>
                  <a:srgbClr val="A7B0BE"/>
                </a:solidFill>
                <a:latin typeface="Yu Gothic Medium" pitchFamily="34" charset="0"/>
                <a:ea typeface="Yu Gothic Medium" charset="-128"/>
                <a:cs typeface="Yu Gothic Medium" pitchFamily="34" charset="-120"/>
              </a:rPr>
              <a:t>所有</a:t>
            </a:r>
            <a:endParaRPr lang="ja-JP" sz="1200" dirty="0"/>
          </a:p>
        </p:txBody>
      </p:sp>
      <p:sp>
        <p:nvSpPr>
          <p:cNvPr id="51" name="Text 48"/>
          <p:cNvSpPr txBox="1"/>
          <p:nvPr/>
        </p:nvSpPr>
        <p:spPr>
          <a:xfrm>
            <a:off x="4846320" y="3456432"/>
            <a:ext cx="2496312" cy="877824"/>
          </a:xfrm>
          <a:prstGeom prst="rect">
            <a:avLst/>
          </a:prstGeom>
          <a:noFill/>
          <a:ln/>
        </p:spPr>
        <p:txBody>
          <a:bodyPr wrap="square" lIns="0" tIns="0" rIns="0" bIns="0" rtlCol="0" anchor="ctr"/>
          <a:lstStyle/>
          <a:p>
            <a:pPr algn="ctr" indent="0" marL="0">
              <a:buNone/>
            </a:pPr>
            <a:r>
              <a:rPr lang="ja-JP" altLang="en-US" sz="5400" b="1" dirty="0">
                <a:solidFill>
                  <a:srgbClr val="C9A96E"/>
                </a:solidFill>
                <a:latin typeface="Yu Gothic" pitchFamily="34" charset="0"/>
                <a:ea typeface="Yu Gothic" charset="-128"/>
                <a:cs typeface="Yu Gothic" pitchFamily="34" charset="-120"/>
              </a:rPr>
              <a:t>≠</a:t>
            </a:r>
            <a:endParaRPr lang="ja-JP" sz="5400" dirty="0"/>
          </a:p>
        </p:txBody>
      </p:sp>
      <p:sp>
        <p:nvSpPr>
          <p:cNvPr id="52" name="Text 49"/>
          <p:cNvSpPr txBox="1"/>
          <p:nvPr/>
        </p:nvSpPr>
        <p:spPr>
          <a:xfrm>
            <a:off x="4846320" y="4370832"/>
            <a:ext cx="2496312" cy="457200"/>
          </a:xfrm>
          <a:prstGeom prst="rect">
            <a:avLst/>
          </a:prstGeom>
          <a:noFill/>
          <a:ln/>
        </p:spPr>
        <p:txBody>
          <a:bodyPr wrap="square" lIns="0" tIns="0" rIns="0" bIns="0" rtlCol="0" anchor="ctr"/>
          <a:lstStyle/>
          <a:p>
            <a:pPr algn="ctr" indent="0" marL="0">
              <a:buNone/>
            </a:pPr>
            <a:r>
              <a:rPr lang="en-US" altLang="en-US" sz="2600" b="1" dirty="0">
                <a:solidFill>
                  <a:srgbClr val="FFFFFF"/>
                </a:solidFill>
                <a:latin typeface="Cambria" pitchFamily="34" charset="0"/>
                <a:ea typeface="Cambria" charset="-128"/>
                <a:cs typeface="Cambria" pitchFamily="34" charset="-120"/>
              </a:rPr>
              <a:t>OPERATOR</a:t>
            </a:r>
            <a:endParaRPr lang="en-US" sz="2600" dirty="0"/>
          </a:p>
        </p:txBody>
      </p:sp>
      <p:sp>
        <p:nvSpPr>
          <p:cNvPr id="53" name="Text 50"/>
          <p:cNvSpPr txBox="1"/>
          <p:nvPr/>
        </p:nvSpPr>
        <p:spPr>
          <a:xfrm>
            <a:off x="4846320" y="4828032"/>
            <a:ext cx="2496312" cy="256032"/>
          </a:xfrm>
          <a:prstGeom prst="rect">
            <a:avLst/>
          </a:prstGeom>
          <a:noFill/>
          <a:ln/>
        </p:spPr>
        <p:txBody>
          <a:bodyPr wrap="square" lIns="0" tIns="0" rIns="0" bIns="0" rtlCol="0" anchor="ctr"/>
          <a:lstStyle/>
          <a:p>
            <a:pPr algn="ctr" indent="0" marL="0">
              <a:buNone/>
            </a:pPr>
            <a:r>
              <a:rPr lang="ja-JP" altLang="en-US" sz="1200" dirty="0">
                <a:solidFill>
                  <a:srgbClr val="A7B0BE"/>
                </a:solidFill>
                <a:latin typeface="Yu Gothic Medium" pitchFamily="34" charset="0"/>
                <a:ea typeface="Yu Gothic Medium" charset="-128"/>
                <a:cs typeface="Yu Gothic Medium" pitchFamily="34" charset="-120"/>
              </a:rPr>
              <a:t>執行</a:t>
            </a:r>
            <a:endParaRPr lang="ja-JP"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17</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CAPITAL ALLOCATION</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親会社の最大の仕事は、資本配分である。</a:t>
            </a:r>
            <a:endParaRPr lang="ja-JP" sz="2600" dirty="0"/>
          </a:p>
        </p:txBody>
      </p:sp>
      <p:sp>
        <p:nvSpPr>
          <p:cNvPr id="4" name="Text 2"/>
          <p:cNvSpPr txBox="1"/>
          <p:nvPr/>
        </p:nvSpPr>
        <p:spPr>
          <a:xfrm>
            <a:off x="548640" y="1325880"/>
            <a:ext cx="11094415" cy="329184"/>
          </a:xfrm>
          <a:prstGeom prst="rect">
            <a:avLst/>
          </a:prstGeom>
          <a:noFill/>
          <a:ln/>
        </p:spPr>
        <p:txBody>
          <a:bodyPr wrap="square" lIns="0" tIns="0" rIns="0" bIns="0" rtlCol="0" anchor="ctr"/>
          <a:lstStyle/>
          <a:p>
            <a:pPr algn="l" indent="0" marL="0">
              <a:buNone/>
            </a:pPr>
            <a:r>
              <a:rPr lang="ja-JP" altLang="en-US" sz="1400" dirty="0">
                <a:solidFill>
                  <a:srgbClr val="5B6675"/>
                </a:solidFill>
                <a:latin typeface="Yu Gothic Medium" pitchFamily="34" charset="0"/>
                <a:ea typeface="Yu Gothic Medium" charset="-128"/>
                <a:cs typeface="Yu Gothic Medium" pitchFamily="34" charset="-120"/>
              </a:rPr>
              <a:t>利益として生まれたキャッシュを、どこへどう配分すれば企業価値が最大になるかを判断する。</a:t>
            </a:r>
            <a:endParaRPr lang="ja-JP" sz="1400" dirty="0"/>
          </a:p>
        </p:txBody>
      </p:sp>
      <p:sp>
        <p:nvSpPr>
          <p:cNvPr id="5" name="Shape 3"/>
          <p:cNvSpPr/>
          <p:nvPr/>
        </p:nvSpPr>
        <p:spPr>
          <a:xfrm>
            <a:off x="8880856" y="585216"/>
            <a:ext cx="436880" cy="0"/>
          </a:xfrm>
          <a:prstGeom prst="line">
            <a:avLst/>
          </a:prstGeom>
          <a:noFill/>
          <a:ln w="12700">
            <a:solidFill>
              <a:srgbClr val="C9D1DC"/>
            </a:solidFill>
            <a:prstDash val="solid"/>
          </a:ln>
        </p:spPr>
      </p:sp>
      <p:sp>
        <p:nvSpPr>
          <p:cNvPr id="6" name="Shape 4"/>
          <p:cNvSpPr/>
          <p:nvPr/>
        </p:nvSpPr>
        <p:spPr>
          <a:xfrm>
            <a:off x="9878771" y="585216"/>
            <a:ext cx="444805" cy="0"/>
          </a:xfrm>
          <a:prstGeom prst="line">
            <a:avLst/>
          </a:prstGeom>
          <a:noFill/>
          <a:ln w="19050">
            <a:solidFill>
              <a:srgbClr val="B08D57"/>
            </a:solidFill>
            <a:prstDash val="solid"/>
          </a:ln>
        </p:spPr>
      </p:sp>
      <p:sp>
        <p:nvSpPr>
          <p:cNvPr id="7" name="Shape 5"/>
          <p:cNvSpPr/>
          <p:nvPr/>
        </p:nvSpPr>
        <p:spPr>
          <a:xfrm>
            <a:off x="10884611" y="585216"/>
            <a:ext cx="353365" cy="0"/>
          </a:xfrm>
          <a:prstGeom prst="line">
            <a:avLst/>
          </a:prstGeom>
          <a:noFill/>
          <a:ln w="12700">
            <a:solidFill>
              <a:srgbClr val="C9D1DC"/>
            </a:solidFill>
            <a:prstDash val="sysDash"/>
          </a:ln>
        </p:spPr>
      </p:sp>
      <p:sp>
        <p:nvSpPr>
          <p:cNvPr id="8" name="Shape 6"/>
          <p:cNvSpPr/>
          <p:nvPr/>
        </p:nvSpPr>
        <p:spPr>
          <a:xfrm>
            <a:off x="8348472" y="539496"/>
            <a:ext cx="91440" cy="91440"/>
          </a:xfrm>
          <a:prstGeom prst="ellipse">
            <a:avLst/>
          </a:prstGeom>
          <a:solidFill>
            <a:srgbClr val="C5CCD6"/>
          </a:solidFill>
          <a:ln/>
        </p:spPr>
      </p:sp>
      <p:sp>
        <p:nvSpPr>
          <p:cNvPr id="9" name="Text 7"/>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10" name="Shape 8"/>
          <p:cNvSpPr/>
          <p:nvPr/>
        </p:nvSpPr>
        <p:spPr>
          <a:xfrm>
            <a:off x="9354312" y="539496"/>
            <a:ext cx="91440" cy="91440"/>
          </a:xfrm>
          <a:prstGeom prst="ellipse">
            <a:avLst/>
          </a:prstGeom>
          <a:solidFill>
            <a:srgbClr val="B08D57"/>
          </a:solidFill>
          <a:ln/>
        </p:spPr>
      </p:sp>
      <p:sp>
        <p:nvSpPr>
          <p:cNvPr id="11" name="Text 9"/>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2" name="Shape 10"/>
          <p:cNvSpPr/>
          <p:nvPr/>
        </p:nvSpPr>
        <p:spPr>
          <a:xfrm>
            <a:off x="10360152" y="539496"/>
            <a:ext cx="91440" cy="91440"/>
          </a:xfrm>
          <a:prstGeom prst="ellipse">
            <a:avLst/>
          </a:prstGeom>
          <a:solidFill>
            <a:srgbClr val="B08D57"/>
          </a:solidFill>
          <a:ln/>
        </p:spPr>
      </p:sp>
      <p:sp>
        <p:nvSpPr>
          <p:cNvPr id="13" name="Text 11"/>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4" name="Shape 12"/>
          <p:cNvSpPr/>
          <p:nvPr/>
        </p:nvSpPr>
        <p:spPr>
          <a:xfrm>
            <a:off x="11274552" y="539496"/>
            <a:ext cx="91440" cy="91440"/>
          </a:xfrm>
          <a:prstGeom prst="ellipse">
            <a:avLst/>
          </a:prstGeom>
          <a:solidFill>
            <a:srgbClr val="C5CCD6"/>
          </a:solidFill>
          <a:ln/>
        </p:spPr>
      </p:sp>
      <p:sp>
        <p:nvSpPr>
          <p:cNvPr id="15" name="Text 13"/>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6" name="Text 14"/>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7" name="Text 15"/>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17</a:t>
            </a:r>
            <a:endParaRPr lang="en-US" sz="1000" dirty="0"/>
          </a:p>
        </p:txBody>
      </p:sp>
      <p:sp>
        <p:nvSpPr>
          <p:cNvPr id="19" name="Shape 16"/>
          <p:cNvSpPr/>
          <p:nvPr/>
        </p:nvSpPr>
        <p:spPr>
          <a:xfrm>
            <a:off x="548640" y="2514600"/>
            <a:ext cx="1828800" cy="1280160"/>
          </a:xfrm>
          <a:prstGeom prst="rect">
            <a:avLst/>
          </a:prstGeom>
          <a:solidFill>
            <a:srgbClr val="F3F5F8"/>
          </a:solidFill>
          <a:ln/>
        </p:spPr>
      </p:sp>
      <p:sp>
        <p:nvSpPr>
          <p:cNvPr id="20" name="Text 17"/>
          <p:cNvSpPr txBox="1"/>
          <p:nvPr/>
        </p:nvSpPr>
        <p:spPr>
          <a:xfrm>
            <a:off x="731520" y="2642616"/>
            <a:ext cx="1554480" cy="347472"/>
          </a:xfrm>
          <a:prstGeom prst="rect">
            <a:avLst/>
          </a:prstGeom>
          <a:noFill/>
          <a:ln/>
        </p:spPr>
        <p:txBody>
          <a:bodyPr wrap="square" lIns="0" tIns="0" rIns="0" bIns="0" rtlCol="0" anchor="ctr"/>
          <a:lstStyle/>
          <a:p>
            <a:pPr algn="l" indent="0" marL="0">
              <a:buNone/>
            </a:pPr>
            <a:r>
              <a:rPr lang="en-US" altLang="en-US" sz="1600" b="1" spc="100" kern="0" dirty="0">
                <a:solidFill>
                  <a:srgbClr val="14284B"/>
                </a:solidFill>
                <a:latin typeface="Arial" pitchFamily="34" charset="0"/>
                <a:ea typeface="Arial" charset="-128"/>
                <a:cs typeface="Arial" pitchFamily="34" charset="-120"/>
              </a:rPr>
              <a:t>CASH</a:t>
            </a:r>
            <a:endParaRPr lang="en-US" sz="1600" dirty="0"/>
          </a:p>
        </p:txBody>
      </p:sp>
      <p:sp>
        <p:nvSpPr>
          <p:cNvPr id="21" name="Text 18"/>
          <p:cNvSpPr txBox="1"/>
          <p:nvPr/>
        </p:nvSpPr>
        <p:spPr>
          <a:xfrm>
            <a:off x="731520" y="3081528"/>
            <a:ext cx="1600200" cy="548640"/>
          </a:xfrm>
          <a:prstGeom prst="rect">
            <a:avLst/>
          </a:prstGeom>
          <a:noFill/>
          <a:ln/>
        </p:spPr>
        <p:txBody>
          <a:bodyPr wrap="square" lIns="0" tIns="0" rIns="0" bIns="0" rtlCol="0" anchor="t"/>
          <a:lstStyle/>
          <a:p>
            <a:pPr algn="l" indent="0" marL="0">
              <a:lnSpc>
                <a:spcPts val="1800"/>
              </a:lnSpc>
              <a:buNone/>
            </a:pPr>
            <a:r>
              <a:rPr lang="ja-JP" altLang="en-US" sz="1200" dirty="0">
                <a:solidFill>
                  <a:srgbClr val="1B1F27"/>
                </a:solidFill>
                <a:latin typeface="Yu Gothic Medium" pitchFamily="34" charset="0"/>
                <a:ea typeface="Yu Gothic Medium" charset="-128"/>
                <a:cs typeface="Yu Gothic Medium" pitchFamily="34" charset="-120"/>
              </a:rPr>
              <a:t>利益として</a:t>
            </a:r>
            <a:endParaRPr lang="ja-JP" sz="1200" dirty="0"/>
          </a:p>
          <a:p>
            <a:pPr algn="l" indent="0" marL="0">
              <a:lnSpc>
                <a:spcPts val="1800"/>
              </a:lnSpc>
              <a:buNone/>
            </a:pPr>
            <a:r>
              <a:rPr lang="ja-JP" altLang="en-US" sz="1200" dirty="0">
                <a:solidFill>
                  <a:srgbClr val="1B1F27"/>
                </a:solidFill>
                <a:latin typeface="Yu Gothic Medium" pitchFamily="34" charset="0"/>
                <a:ea typeface="Yu Gothic Medium" charset="-128"/>
                <a:cs typeface="Yu Gothic Medium" pitchFamily="34" charset="-120"/>
              </a:rPr>
              <a:t>生まれたキャッシュ</a:t>
            </a:r>
            <a:endParaRPr lang="ja-JP" sz="1200" dirty="0"/>
          </a:p>
        </p:txBody>
      </p:sp>
      <p:sp>
        <p:nvSpPr>
          <p:cNvPr id="22" name="Shape 19"/>
          <p:cNvSpPr/>
          <p:nvPr/>
        </p:nvSpPr>
        <p:spPr>
          <a:xfrm>
            <a:off x="2423160" y="3154680"/>
            <a:ext cx="365760" cy="0"/>
          </a:xfrm>
          <a:prstGeom prst="line">
            <a:avLst/>
          </a:prstGeom>
          <a:noFill/>
          <a:ln w="25400">
            <a:solidFill>
              <a:srgbClr val="B08D57"/>
            </a:solidFill>
            <a:prstDash val="solid"/>
            <a:tailEnd type="triangle"/>
          </a:ln>
        </p:spPr>
      </p:sp>
      <p:sp>
        <p:nvSpPr>
          <p:cNvPr id="23" name="Shape 20"/>
          <p:cNvSpPr/>
          <p:nvPr/>
        </p:nvSpPr>
        <p:spPr>
          <a:xfrm>
            <a:off x="548640" y="3977640"/>
            <a:ext cx="1828800" cy="1280160"/>
          </a:xfrm>
          <a:prstGeom prst="rect">
            <a:avLst/>
          </a:prstGeom>
          <a:solidFill>
            <a:srgbClr val="F3F5F8"/>
          </a:solidFill>
          <a:ln/>
        </p:spPr>
      </p:sp>
      <p:sp>
        <p:nvSpPr>
          <p:cNvPr id="24" name="Text 21"/>
          <p:cNvSpPr txBox="1"/>
          <p:nvPr/>
        </p:nvSpPr>
        <p:spPr>
          <a:xfrm>
            <a:off x="731520" y="4105656"/>
            <a:ext cx="1554480" cy="347472"/>
          </a:xfrm>
          <a:prstGeom prst="rect">
            <a:avLst/>
          </a:prstGeom>
          <a:noFill/>
          <a:ln/>
        </p:spPr>
        <p:txBody>
          <a:bodyPr wrap="square" lIns="0" tIns="0" rIns="0" bIns="0" rtlCol="0" anchor="ctr"/>
          <a:lstStyle/>
          <a:p>
            <a:pPr algn="l" indent="0" marL="0">
              <a:buNone/>
            </a:pPr>
            <a:r>
              <a:rPr lang="en-US" altLang="en-US" sz="1600" b="1" spc="100" kern="0" dirty="0">
                <a:solidFill>
                  <a:srgbClr val="14284B"/>
                </a:solidFill>
                <a:latin typeface="Arial" pitchFamily="34" charset="0"/>
                <a:ea typeface="Arial" charset="-128"/>
                <a:cs typeface="Arial" pitchFamily="34" charset="-120"/>
              </a:rPr>
              <a:t>FINANCING</a:t>
            </a:r>
            <a:endParaRPr lang="en-US" sz="1600" dirty="0"/>
          </a:p>
        </p:txBody>
      </p:sp>
      <p:sp>
        <p:nvSpPr>
          <p:cNvPr id="25" name="Text 22"/>
          <p:cNvSpPr txBox="1"/>
          <p:nvPr/>
        </p:nvSpPr>
        <p:spPr>
          <a:xfrm>
            <a:off x="731520" y="4544568"/>
            <a:ext cx="1600200" cy="548640"/>
          </a:xfrm>
          <a:prstGeom prst="rect">
            <a:avLst/>
          </a:prstGeom>
          <a:noFill/>
          <a:ln/>
        </p:spPr>
        <p:txBody>
          <a:bodyPr wrap="square" lIns="0" tIns="0" rIns="0" bIns="0" rtlCol="0" anchor="t"/>
          <a:lstStyle/>
          <a:p>
            <a:pPr algn="l" indent="0" marL="0">
              <a:lnSpc>
                <a:spcPts val="1800"/>
              </a:lnSpc>
              <a:buNone/>
            </a:pPr>
            <a:r>
              <a:rPr lang="ja-JP" altLang="en-US" sz="1200" dirty="0">
                <a:solidFill>
                  <a:srgbClr val="1B1F27"/>
                </a:solidFill>
                <a:latin typeface="Yu Gothic Medium" pitchFamily="34" charset="0"/>
                <a:ea typeface="Yu Gothic Medium" charset="-128"/>
                <a:cs typeface="Yu Gothic Medium" pitchFamily="34" charset="-120"/>
              </a:rPr>
              <a:t>金融機関からの</a:t>
            </a:r>
            <a:endParaRPr lang="ja-JP" sz="1200" dirty="0"/>
          </a:p>
          <a:p>
            <a:pPr algn="l" indent="0" marL="0">
              <a:lnSpc>
                <a:spcPts val="1800"/>
              </a:lnSpc>
              <a:buNone/>
            </a:pPr>
            <a:r>
              <a:rPr lang="ja-JP" altLang="en-US" sz="1200" dirty="0">
                <a:solidFill>
                  <a:srgbClr val="1B1F27"/>
                </a:solidFill>
                <a:latin typeface="Yu Gothic Medium" pitchFamily="34" charset="0"/>
                <a:ea typeface="Yu Gothic Medium" charset="-128"/>
                <a:cs typeface="Yu Gothic Medium" pitchFamily="34" charset="-120"/>
              </a:rPr>
              <a:t>借入（M&amp;A融資）</a:t>
            </a:r>
            <a:endParaRPr lang="ja-JP" sz="1200" dirty="0"/>
          </a:p>
        </p:txBody>
      </p:sp>
      <p:sp>
        <p:nvSpPr>
          <p:cNvPr id="26" name="Shape 23"/>
          <p:cNvSpPr/>
          <p:nvPr/>
        </p:nvSpPr>
        <p:spPr>
          <a:xfrm>
            <a:off x="2423160" y="4617720"/>
            <a:ext cx="365760" cy="0"/>
          </a:xfrm>
          <a:prstGeom prst="line">
            <a:avLst/>
          </a:prstGeom>
          <a:noFill/>
          <a:ln w="25400">
            <a:solidFill>
              <a:srgbClr val="B08D57"/>
            </a:solidFill>
            <a:prstDash val="solid"/>
            <a:tailEnd type="triangle"/>
          </a:ln>
        </p:spPr>
      </p:sp>
      <p:sp>
        <p:nvSpPr>
          <p:cNvPr id="27" name="Shape 24"/>
          <p:cNvSpPr/>
          <p:nvPr/>
        </p:nvSpPr>
        <p:spPr>
          <a:xfrm>
            <a:off x="2834640" y="2514600"/>
            <a:ext cx="2286000" cy="2743200"/>
          </a:xfrm>
          <a:prstGeom prst="rect">
            <a:avLst/>
          </a:prstGeom>
          <a:solidFill>
            <a:srgbClr val="14284B"/>
          </a:solidFill>
          <a:ln/>
        </p:spPr>
      </p:sp>
      <p:sp>
        <p:nvSpPr>
          <p:cNvPr id="28" name="Text 25"/>
          <p:cNvSpPr txBox="1"/>
          <p:nvPr/>
        </p:nvSpPr>
        <p:spPr>
          <a:xfrm>
            <a:off x="2834640" y="3127248"/>
            <a:ext cx="2286000" cy="475488"/>
          </a:xfrm>
          <a:prstGeom prst="rect">
            <a:avLst/>
          </a:prstGeom>
          <a:noFill/>
          <a:ln/>
        </p:spPr>
        <p:txBody>
          <a:bodyPr wrap="square" lIns="0" tIns="0" rIns="0" bIns="0" rtlCol="0" anchor="t"/>
          <a:lstStyle/>
          <a:p>
            <a:pPr algn="ctr" indent="0" marL="0">
              <a:lnSpc>
                <a:spcPts val="1800"/>
              </a:lnSpc>
              <a:buNone/>
            </a:pPr>
            <a:r>
              <a:rPr lang="en-US" altLang="en-US" sz="1300" b="1" spc="100" kern="0" dirty="0">
                <a:solidFill>
                  <a:srgbClr val="C9A96E"/>
                </a:solidFill>
                <a:latin typeface="Arial" pitchFamily="34" charset="0"/>
                <a:ea typeface="Arial" charset="-128"/>
                <a:cs typeface="Arial" pitchFamily="34" charset="-120"/>
              </a:rPr>
              <a:t>CAPITAL</a:t>
            </a:r>
            <a:endParaRPr lang="en-US" sz="1300" dirty="0"/>
          </a:p>
          <a:p>
            <a:pPr algn="ctr" indent="0" marL="0">
              <a:lnSpc>
                <a:spcPts val="1800"/>
              </a:lnSpc>
              <a:buNone/>
            </a:pPr>
            <a:r>
              <a:rPr lang="en-US" altLang="en-US" sz="1300" b="1" spc="100" kern="0" dirty="0">
                <a:solidFill>
                  <a:srgbClr val="C9A96E"/>
                </a:solidFill>
                <a:latin typeface="Arial" pitchFamily="34" charset="0"/>
                <a:ea typeface="Arial" charset="-128"/>
                <a:cs typeface="Arial" pitchFamily="34" charset="-120"/>
              </a:rPr>
              <a:t>ALLOCATION</a:t>
            </a:r>
            <a:endParaRPr lang="en-US" sz="1300" dirty="0"/>
          </a:p>
        </p:txBody>
      </p:sp>
      <p:sp>
        <p:nvSpPr>
          <p:cNvPr id="29" name="Text 26"/>
          <p:cNvSpPr txBox="1"/>
          <p:nvPr/>
        </p:nvSpPr>
        <p:spPr>
          <a:xfrm>
            <a:off x="2834640" y="3721608"/>
            <a:ext cx="2286000" cy="548640"/>
          </a:xfrm>
          <a:prstGeom prst="rect">
            <a:avLst/>
          </a:prstGeom>
          <a:noFill/>
          <a:ln/>
        </p:spPr>
        <p:txBody>
          <a:bodyPr wrap="square" lIns="0" tIns="0" rIns="0" bIns="0" rtlCol="0" anchor="ctr"/>
          <a:lstStyle/>
          <a:p>
            <a:pPr algn="ctr" indent="0" marL="0">
              <a:buNone/>
            </a:pPr>
            <a:r>
              <a:rPr lang="ja-JP" altLang="en-US" sz="2800" dirty="0">
                <a:solidFill>
                  <a:srgbClr val="FFFFFF"/>
                </a:solidFill>
                <a:latin typeface="Yu Mincho" pitchFamily="34" charset="0"/>
                <a:ea typeface="Yu Mincho" charset="-128"/>
                <a:cs typeface="Yu Mincho" pitchFamily="34" charset="-120"/>
              </a:rPr>
              <a:t>資本配分</a:t>
            </a:r>
            <a:endParaRPr lang="ja-JP" sz="2800" dirty="0"/>
          </a:p>
        </p:txBody>
      </p:sp>
      <p:sp>
        <p:nvSpPr>
          <p:cNvPr id="30" name="Text 27"/>
          <p:cNvSpPr txBox="1"/>
          <p:nvPr/>
        </p:nvSpPr>
        <p:spPr>
          <a:xfrm>
            <a:off x="2834640" y="4407408"/>
            <a:ext cx="2286000" cy="237744"/>
          </a:xfrm>
          <a:prstGeom prst="rect">
            <a:avLst/>
          </a:prstGeom>
          <a:noFill/>
          <a:ln/>
        </p:spPr>
        <p:txBody>
          <a:bodyPr wrap="square" lIns="0" tIns="0" rIns="0" bIns="0" rtlCol="0" anchor="ctr"/>
          <a:lstStyle/>
          <a:p>
            <a:pPr algn="ctr" indent="0" marL="0">
              <a:buNone/>
            </a:pPr>
            <a:r>
              <a:rPr lang="ja-JP" altLang="en-US" sz="1100" dirty="0">
                <a:solidFill>
                  <a:srgbClr val="D5DBE3"/>
                </a:solidFill>
                <a:latin typeface="Yu Gothic Medium" pitchFamily="34" charset="0"/>
                <a:ea typeface="Yu Gothic Medium" charset="-128"/>
                <a:cs typeface="Yu Gothic Medium" pitchFamily="34" charset="-120"/>
              </a:rPr>
              <a:t>親会社の最大の仕事</a:t>
            </a:r>
            <a:endParaRPr lang="ja-JP" sz="1100" dirty="0"/>
          </a:p>
        </p:txBody>
      </p:sp>
      <p:sp>
        <p:nvSpPr>
          <p:cNvPr id="31" name="Shape 28"/>
          <p:cNvSpPr/>
          <p:nvPr/>
        </p:nvSpPr>
        <p:spPr>
          <a:xfrm>
            <a:off x="5120640" y="3886200"/>
            <a:ext cx="320040" cy="0"/>
          </a:xfrm>
          <a:prstGeom prst="line">
            <a:avLst/>
          </a:prstGeom>
          <a:noFill/>
          <a:ln w="15875">
            <a:solidFill>
              <a:srgbClr val="14284B"/>
            </a:solidFill>
            <a:prstDash val="solid"/>
          </a:ln>
        </p:spPr>
      </p:sp>
      <p:sp>
        <p:nvSpPr>
          <p:cNvPr id="32" name="Shape 29"/>
          <p:cNvSpPr/>
          <p:nvPr/>
        </p:nvSpPr>
        <p:spPr>
          <a:xfrm>
            <a:off x="5440680" y="2267712"/>
            <a:ext cx="0" cy="3291840"/>
          </a:xfrm>
          <a:prstGeom prst="line">
            <a:avLst/>
          </a:prstGeom>
          <a:noFill/>
          <a:ln w="15875">
            <a:solidFill>
              <a:srgbClr val="14284B"/>
            </a:solidFill>
            <a:prstDash val="solid"/>
          </a:ln>
        </p:spPr>
      </p:sp>
      <p:sp>
        <p:nvSpPr>
          <p:cNvPr id="33" name="Shape 30"/>
          <p:cNvSpPr/>
          <p:nvPr/>
        </p:nvSpPr>
        <p:spPr>
          <a:xfrm>
            <a:off x="5440680" y="2267712"/>
            <a:ext cx="301752" cy="0"/>
          </a:xfrm>
          <a:prstGeom prst="line">
            <a:avLst/>
          </a:prstGeom>
          <a:noFill/>
          <a:ln w="15875">
            <a:solidFill>
              <a:srgbClr val="14284B"/>
            </a:solidFill>
            <a:prstDash val="solid"/>
            <a:tailEnd type="triangle"/>
          </a:ln>
        </p:spPr>
      </p:sp>
      <p:sp>
        <p:nvSpPr>
          <p:cNvPr id="34" name="Shape 31"/>
          <p:cNvSpPr/>
          <p:nvPr/>
        </p:nvSpPr>
        <p:spPr>
          <a:xfrm>
            <a:off x="5760720" y="2011680"/>
            <a:ext cx="3520440" cy="512064"/>
          </a:xfrm>
          <a:prstGeom prst="rect">
            <a:avLst/>
          </a:prstGeom>
          <a:solidFill>
            <a:srgbClr val="FFFFFF"/>
          </a:solidFill>
          <a:ln w="12700">
            <a:solidFill>
              <a:srgbClr val="C9D1DC"/>
            </a:solidFill>
            <a:prstDash val="solid"/>
          </a:ln>
        </p:spPr>
      </p:sp>
      <p:sp>
        <p:nvSpPr>
          <p:cNvPr id="35" name="Text 32"/>
          <p:cNvSpPr txBox="1"/>
          <p:nvPr/>
        </p:nvSpPr>
        <p:spPr>
          <a:xfrm>
            <a:off x="5925312" y="2011680"/>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ORGANIC GROWTH</a:t>
            </a:r>
            <a:endParaRPr lang="en-US" sz="1100" dirty="0"/>
          </a:p>
        </p:txBody>
      </p:sp>
      <p:sp>
        <p:nvSpPr>
          <p:cNvPr id="36" name="Text 33"/>
          <p:cNvSpPr txBox="1"/>
          <p:nvPr/>
        </p:nvSpPr>
        <p:spPr>
          <a:xfrm>
            <a:off x="7571232" y="2011680"/>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既存事業</a:t>
            </a:r>
            <a:endParaRPr lang="ja-JP" sz="1400" dirty="0"/>
          </a:p>
        </p:txBody>
      </p:sp>
      <p:sp>
        <p:nvSpPr>
          <p:cNvPr id="37" name="Shape 34"/>
          <p:cNvSpPr/>
          <p:nvPr/>
        </p:nvSpPr>
        <p:spPr>
          <a:xfrm>
            <a:off x="9281160" y="2267712"/>
            <a:ext cx="182880" cy="0"/>
          </a:xfrm>
          <a:prstGeom prst="line">
            <a:avLst/>
          </a:prstGeom>
          <a:noFill/>
          <a:ln w="15875">
            <a:solidFill>
              <a:srgbClr val="14284B"/>
            </a:solidFill>
            <a:prstDash val="solid"/>
          </a:ln>
        </p:spPr>
      </p:sp>
      <p:sp>
        <p:nvSpPr>
          <p:cNvPr id="38" name="Shape 35"/>
          <p:cNvSpPr/>
          <p:nvPr/>
        </p:nvSpPr>
        <p:spPr>
          <a:xfrm>
            <a:off x="5440680" y="2926080"/>
            <a:ext cx="301752" cy="0"/>
          </a:xfrm>
          <a:prstGeom prst="line">
            <a:avLst/>
          </a:prstGeom>
          <a:noFill/>
          <a:ln w="15875">
            <a:solidFill>
              <a:srgbClr val="14284B"/>
            </a:solidFill>
            <a:prstDash val="solid"/>
            <a:tailEnd type="triangle"/>
          </a:ln>
        </p:spPr>
      </p:sp>
      <p:sp>
        <p:nvSpPr>
          <p:cNvPr id="39" name="Shape 36"/>
          <p:cNvSpPr/>
          <p:nvPr/>
        </p:nvSpPr>
        <p:spPr>
          <a:xfrm>
            <a:off x="5760720" y="2670048"/>
            <a:ext cx="3520440" cy="512064"/>
          </a:xfrm>
          <a:prstGeom prst="rect">
            <a:avLst/>
          </a:prstGeom>
          <a:solidFill>
            <a:srgbClr val="FFFFFF"/>
          </a:solidFill>
          <a:ln w="12700">
            <a:solidFill>
              <a:srgbClr val="C9D1DC"/>
            </a:solidFill>
            <a:prstDash val="solid"/>
          </a:ln>
        </p:spPr>
      </p:sp>
      <p:sp>
        <p:nvSpPr>
          <p:cNvPr id="40" name="Text 37"/>
          <p:cNvSpPr txBox="1"/>
          <p:nvPr/>
        </p:nvSpPr>
        <p:spPr>
          <a:xfrm>
            <a:off x="5925312" y="2670048"/>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M&amp;A</a:t>
            </a:r>
            <a:endParaRPr lang="en-US" sz="1100" dirty="0"/>
          </a:p>
        </p:txBody>
      </p:sp>
      <p:sp>
        <p:nvSpPr>
          <p:cNvPr id="41" name="Text 38"/>
          <p:cNvSpPr txBox="1"/>
          <p:nvPr/>
        </p:nvSpPr>
        <p:spPr>
          <a:xfrm>
            <a:off x="7571232" y="2670048"/>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企業買収</a:t>
            </a:r>
            <a:endParaRPr lang="ja-JP" sz="1400" dirty="0"/>
          </a:p>
        </p:txBody>
      </p:sp>
      <p:sp>
        <p:nvSpPr>
          <p:cNvPr id="42" name="Shape 39"/>
          <p:cNvSpPr/>
          <p:nvPr/>
        </p:nvSpPr>
        <p:spPr>
          <a:xfrm>
            <a:off x="9281160" y="2926080"/>
            <a:ext cx="182880" cy="0"/>
          </a:xfrm>
          <a:prstGeom prst="line">
            <a:avLst/>
          </a:prstGeom>
          <a:noFill/>
          <a:ln w="15875">
            <a:solidFill>
              <a:srgbClr val="14284B"/>
            </a:solidFill>
            <a:prstDash val="solid"/>
          </a:ln>
        </p:spPr>
      </p:sp>
      <p:sp>
        <p:nvSpPr>
          <p:cNvPr id="43" name="Shape 40"/>
          <p:cNvSpPr/>
          <p:nvPr/>
        </p:nvSpPr>
        <p:spPr>
          <a:xfrm>
            <a:off x="5440680" y="3584448"/>
            <a:ext cx="301752" cy="0"/>
          </a:xfrm>
          <a:prstGeom prst="line">
            <a:avLst/>
          </a:prstGeom>
          <a:noFill/>
          <a:ln w="15875">
            <a:solidFill>
              <a:srgbClr val="14284B"/>
            </a:solidFill>
            <a:prstDash val="solid"/>
            <a:tailEnd type="triangle"/>
          </a:ln>
        </p:spPr>
      </p:sp>
      <p:sp>
        <p:nvSpPr>
          <p:cNvPr id="44" name="Shape 41"/>
          <p:cNvSpPr/>
          <p:nvPr/>
        </p:nvSpPr>
        <p:spPr>
          <a:xfrm>
            <a:off x="5760720" y="3328416"/>
            <a:ext cx="3520440" cy="512064"/>
          </a:xfrm>
          <a:prstGeom prst="rect">
            <a:avLst/>
          </a:prstGeom>
          <a:solidFill>
            <a:srgbClr val="FFFFFF"/>
          </a:solidFill>
          <a:ln w="12700">
            <a:solidFill>
              <a:srgbClr val="C9D1DC"/>
            </a:solidFill>
            <a:prstDash val="solid"/>
          </a:ln>
        </p:spPr>
      </p:sp>
      <p:sp>
        <p:nvSpPr>
          <p:cNvPr id="45" name="Text 42"/>
          <p:cNvSpPr txBox="1"/>
          <p:nvPr/>
        </p:nvSpPr>
        <p:spPr>
          <a:xfrm>
            <a:off x="5925312" y="3328416"/>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NEW BUSINESS</a:t>
            </a:r>
            <a:endParaRPr lang="en-US" sz="1100" dirty="0"/>
          </a:p>
        </p:txBody>
      </p:sp>
      <p:sp>
        <p:nvSpPr>
          <p:cNvPr id="46" name="Text 43"/>
          <p:cNvSpPr txBox="1"/>
          <p:nvPr/>
        </p:nvSpPr>
        <p:spPr>
          <a:xfrm>
            <a:off x="7571232" y="3328416"/>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新規事業</a:t>
            </a:r>
            <a:endParaRPr lang="ja-JP" sz="1400" dirty="0"/>
          </a:p>
        </p:txBody>
      </p:sp>
      <p:sp>
        <p:nvSpPr>
          <p:cNvPr id="47" name="Shape 44"/>
          <p:cNvSpPr/>
          <p:nvPr/>
        </p:nvSpPr>
        <p:spPr>
          <a:xfrm>
            <a:off x="9281160" y="3584448"/>
            <a:ext cx="182880" cy="0"/>
          </a:xfrm>
          <a:prstGeom prst="line">
            <a:avLst/>
          </a:prstGeom>
          <a:noFill/>
          <a:ln w="15875">
            <a:solidFill>
              <a:srgbClr val="14284B"/>
            </a:solidFill>
            <a:prstDash val="solid"/>
          </a:ln>
        </p:spPr>
      </p:sp>
      <p:sp>
        <p:nvSpPr>
          <p:cNvPr id="48" name="Shape 45"/>
          <p:cNvSpPr/>
          <p:nvPr/>
        </p:nvSpPr>
        <p:spPr>
          <a:xfrm>
            <a:off x="5440680" y="4242816"/>
            <a:ext cx="301752" cy="0"/>
          </a:xfrm>
          <a:prstGeom prst="line">
            <a:avLst/>
          </a:prstGeom>
          <a:noFill/>
          <a:ln w="15875">
            <a:solidFill>
              <a:srgbClr val="14284B"/>
            </a:solidFill>
            <a:prstDash val="solid"/>
            <a:tailEnd type="triangle"/>
          </a:ln>
        </p:spPr>
      </p:sp>
      <p:sp>
        <p:nvSpPr>
          <p:cNvPr id="49" name="Shape 46"/>
          <p:cNvSpPr/>
          <p:nvPr/>
        </p:nvSpPr>
        <p:spPr>
          <a:xfrm>
            <a:off x="5760720" y="3986784"/>
            <a:ext cx="3520440" cy="512064"/>
          </a:xfrm>
          <a:prstGeom prst="rect">
            <a:avLst/>
          </a:prstGeom>
          <a:solidFill>
            <a:srgbClr val="FFFFFF"/>
          </a:solidFill>
          <a:ln w="12700">
            <a:solidFill>
              <a:srgbClr val="C9D1DC"/>
            </a:solidFill>
            <a:prstDash val="solid"/>
          </a:ln>
        </p:spPr>
      </p:sp>
      <p:sp>
        <p:nvSpPr>
          <p:cNvPr id="50" name="Text 47"/>
          <p:cNvSpPr txBox="1"/>
          <p:nvPr/>
        </p:nvSpPr>
        <p:spPr>
          <a:xfrm>
            <a:off x="5925312" y="3986784"/>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PEOPLE</a:t>
            </a:r>
            <a:endParaRPr lang="en-US" sz="1100" dirty="0"/>
          </a:p>
        </p:txBody>
      </p:sp>
      <p:sp>
        <p:nvSpPr>
          <p:cNvPr id="51" name="Text 48"/>
          <p:cNvSpPr txBox="1"/>
          <p:nvPr/>
        </p:nvSpPr>
        <p:spPr>
          <a:xfrm>
            <a:off x="7571232" y="3986784"/>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人材</a:t>
            </a:r>
            <a:endParaRPr lang="ja-JP" sz="1400" dirty="0"/>
          </a:p>
        </p:txBody>
      </p:sp>
      <p:sp>
        <p:nvSpPr>
          <p:cNvPr id="52" name="Shape 49"/>
          <p:cNvSpPr/>
          <p:nvPr/>
        </p:nvSpPr>
        <p:spPr>
          <a:xfrm>
            <a:off x="9281160" y="4242816"/>
            <a:ext cx="182880" cy="0"/>
          </a:xfrm>
          <a:prstGeom prst="line">
            <a:avLst/>
          </a:prstGeom>
          <a:noFill/>
          <a:ln w="15875">
            <a:solidFill>
              <a:srgbClr val="14284B"/>
            </a:solidFill>
            <a:prstDash val="solid"/>
          </a:ln>
        </p:spPr>
      </p:sp>
      <p:sp>
        <p:nvSpPr>
          <p:cNvPr id="53" name="Shape 50"/>
          <p:cNvSpPr/>
          <p:nvPr/>
        </p:nvSpPr>
        <p:spPr>
          <a:xfrm>
            <a:off x="5440680" y="4901184"/>
            <a:ext cx="301752" cy="0"/>
          </a:xfrm>
          <a:prstGeom prst="line">
            <a:avLst/>
          </a:prstGeom>
          <a:noFill/>
          <a:ln w="15875">
            <a:solidFill>
              <a:srgbClr val="14284B"/>
            </a:solidFill>
            <a:prstDash val="solid"/>
            <a:tailEnd type="triangle"/>
          </a:ln>
        </p:spPr>
      </p:sp>
      <p:sp>
        <p:nvSpPr>
          <p:cNvPr id="54" name="Shape 51"/>
          <p:cNvSpPr/>
          <p:nvPr/>
        </p:nvSpPr>
        <p:spPr>
          <a:xfrm>
            <a:off x="5760720" y="4645152"/>
            <a:ext cx="3520440" cy="512064"/>
          </a:xfrm>
          <a:prstGeom prst="rect">
            <a:avLst/>
          </a:prstGeom>
          <a:solidFill>
            <a:srgbClr val="FFFFFF"/>
          </a:solidFill>
          <a:ln w="12700">
            <a:solidFill>
              <a:srgbClr val="C9D1DC"/>
            </a:solidFill>
            <a:prstDash val="solid"/>
          </a:ln>
        </p:spPr>
      </p:sp>
      <p:sp>
        <p:nvSpPr>
          <p:cNvPr id="55" name="Text 52"/>
          <p:cNvSpPr txBox="1"/>
          <p:nvPr/>
        </p:nvSpPr>
        <p:spPr>
          <a:xfrm>
            <a:off x="5925312" y="4645152"/>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TECH</a:t>
            </a:r>
            <a:endParaRPr lang="en-US" sz="1100" dirty="0"/>
          </a:p>
        </p:txBody>
      </p:sp>
      <p:sp>
        <p:nvSpPr>
          <p:cNvPr id="56" name="Text 53"/>
          <p:cNvSpPr txBox="1"/>
          <p:nvPr/>
        </p:nvSpPr>
        <p:spPr>
          <a:xfrm>
            <a:off x="7571232" y="4645152"/>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DX</a:t>
            </a:r>
            <a:endParaRPr lang="ja-JP" sz="1400" dirty="0"/>
          </a:p>
        </p:txBody>
      </p:sp>
      <p:sp>
        <p:nvSpPr>
          <p:cNvPr id="57" name="Shape 54"/>
          <p:cNvSpPr/>
          <p:nvPr/>
        </p:nvSpPr>
        <p:spPr>
          <a:xfrm>
            <a:off x="9281160" y="4901184"/>
            <a:ext cx="182880" cy="0"/>
          </a:xfrm>
          <a:prstGeom prst="line">
            <a:avLst/>
          </a:prstGeom>
          <a:noFill/>
          <a:ln w="15875">
            <a:solidFill>
              <a:srgbClr val="14284B"/>
            </a:solidFill>
            <a:prstDash val="solid"/>
          </a:ln>
        </p:spPr>
      </p:sp>
      <p:sp>
        <p:nvSpPr>
          <p:cNvPr id="58" name="Shape 55"/>
          <p:cNvSpPr/>
          <p:nvPr/>
        </p:nvSpPr>
        <p:spPr>
          <a:xfrm>
            <a:off x="5440680" y="5559552"/>
            <a:ext cx="301752" cy="0"/>
          </a:xfrm>
          <a:prstGeom prst="line">
            <a:avLst/>
          </a:prstGeom>
          <a:noFill/>
          <a:ln w="15875">
            <a:solidFill>
              <a:srgbClr val="14284B"/>
            </a:solidFill>
            <a:prstDash val="solid"/>
            <a:tailEnd type="triangle"/>
          </a:ln>
        </p:spPr>
      </p:sp>
      <p:sp>
        <p:nvSpPr>
          <p:cNvPr id="59" name="Shape 56"/>
          <p:cNvSpPr/>
          <p:nvPr/>
        </p:nvSpPr>
        <p:spPr>
          <a:xfrm>
            <a:off x="5760720" y="5303520"/>
            <a:ext cx="3520440" cy="512064"/>
          </a:xfrm>
          <a:prstGeom prst="rect">
            <a:avLst/>
          </a:prstGeom>
          <a:solidFill>
            <a:srgbClr val="FFFFFF"/>
          </a:solidFill>
          <a:ln w="12700">
            <a:solidFill>
              <a:srgbClr val="C9D1DC"/>
            </a:solidFill>
            <a:prstDash val="solid"/>
          </a:ln>
        </p:spPr>
      </p:sp>
      <p:sp>
        <p:nvSpPr>
          <p:cNvPr id="60" name="Text 57"/>
          <p:cNvSpPr txBox="1"/>
          <p:nvPr/>
        </p:nvSpPr>
        <p:spPr>
          <a:xfrm>
            <a:off x="5925312" y="5303520"/>
            <a:ext cx="1600200" cy="512064"/>
          </a:xfrm>
          <a:prstGeom prst="rect">
            <a:avLst/>
          </a:prstGeom>
          <a:noFill/>
          <a:ln/>
        </p:spPr>
        <p:txBody>
          <a:bodyPr wrap="square" lIns="0" tIns="0" rIns="0" bIns="0" rtlCol="0" anchor="ctr"/>
          <a:lstStyle/>
          <a:p>
            <a:pPr algn="l" indent="0" marL="0">
              <a:buNone/>
            </a:pPr>
            <a:r>
              <a:rPr lang="en-US" altLang="en-US" sz="1100" b="1" dirty="0">
                <a:solidFill>
                  <a:srgbClr val="8C6D3F"/>
                </a:solidFill>
                <a:latin typeface="Arial" pitchFamily="34" charset="0"/>
                <a:ea typeface="Arial" charset="-128"/>
                <a:cs typeface="Arial" pitchFamily="34" charset="-120"/>
              </a:rPr>
              <a:t>BALANCE SHEET</a:t>
            </a:r>
            <a:endParaRPr lang="en-US" sz="1100" dirty="0"/>
          </a:p>
        </p:txBody>
      </p:sp>
      <p:sp>
        <p:nvSpPr>
          <p:cNvPr id="61" name="Text 58"/>
          <p:cNvSpPr txBox="1"/>
          <p:nvPr/>
        </p:nvSpPr>
        <p:spPr>
          <a:xfrm>
            <a:off x="7571232" y="5303520"/>
            <a:ext cx="1645920" cy="512064"/>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借入返済・現預金</a:t>
            </a:r>
            <a:endParaRPr lang="ja-JP" sz="1400" dirty="0"/>
          </a:p>
        </p:txBody>
      </p:sp>
      <p:sp>
        <p:nvSpPr>
          <p:cNvPr id="62" name="Shape 59"/>
          <p:cNvSpPr/>
          <p:nvPr/>
        </p:nvSpPr>
        <p:spPr>
          <a:xfrm>
            <a:off x="9281160" y="5559552"/>
            <a:ext cx="182880" cy="0"/>
          </a:xfrm>
          <a:prstGeom prst="line">
            <a:avLst/>
          </a:prstGeom>
          <a:noFill/>
          <a:ln w="15875">
            <a:solidFill>
              <a:srgbClr val="14284B"/>
            </a:solidFill>
            <a:prstDash val="solid"/>
          </a:ln>
        </p:spPr>
      </p:sp>
      <p:sp>
        <p:nvSpPr>
          <p:cNvPr id="63" name="Shape 60"/>
          <p:cNvSpPr/>
          <p:nvPr/>
        </p:nvSpPr>
        <p:spPr>
          <a:xfrm>
            <a:off x="9464040" y="2267712"/>
            <a:ext cx="0" cy="3291840"/>
          </a:xfrm>
          <a:prstGeom prst="line">
            <a:avLst/>
          </a:prstGeom>
          <a:noFill/>
          <a:ln w="15875">
            <a:solidFill>
              <a:srgbClr val="14284B"/>
            </a:solidFill>
            <a:prstDash val="solid"/>
          </a:ln>
        </p:spPr>
      </p:sp>
      <p:sp>
        <p:nvSpPr>
          <p:cNvPr id="64" name="Shape 61"/>
          <p:cNvSpPr/>
          <p:nvPr/>
        </p:nvSpPr>
        <p:spPr>
          <a:xfrm>
            <a:off x="9464040" y="3886200"/>
            <a:ext cx="210312" cy="0"/>
          </a:xfrm>
          <a:prstGeom prst="line">
            <a:avLst/>
          </a:prstGeom>
          <a:noFill/>
          <a:ln w="19050">
            <a:solidFill>
              <a:srgbClr val="14284B"/>
            </a:solidFill>
            <a:prstDash val="solid"/>
            <a:tailEnd type="triangle"/>
          </a:ln>
        </p:spPr>
      </p:sp>
      <p:sp>
        <p:nvSpPr>
          <p:cNvPr id="65" name="Shape 62"/>
          <p:cNvSpPr/>
          <p:nvPr/>
        </p:nvSpPr>
        <p:spPr>
          <a:xfrm>
            <a:off x="9692640" y="3108960"/>
            <a:ext cx="1947672" cy="1554480"/>
          </a:xfrm>
          <a:prstGeom prst="rect">
            <a:avLst/>
          </a:prstGeom>
          <a:solidFill>
            <a:srgbClr val="FFFFFF"/>
          </a:solidFill>
          <a:ln w="22225">
            <a:solidFill>
              <a:srgbClr val="B08D57"/>
            </a:solidFill>
            <a:prstDash val="solid"/>
          </a:ln>
        </p:spPr>
      </p:sp>
      <p:sp>
        <p:nvSpPr>
          <p:cNvPr id="66" name="Text 63"/>
          <p:cNvSpPr txBox="1"/>
          <p:nvPr/>
        </p:nvSpPr>
        <p:spPr>
          <a:xfrm>
            <a:off x="9692640" y="3246120"/>
            <a:ext cx="1947672" cy="438912"/>
          </a:xfrm>
          <a:prstGeom prst="rect">
            <a:avLst/>
          </a:prstGeom>
          <a:noFill/>
          <a:ln/>
        </p:spPr>
        <p:txBody>
          <a:bodyPr wrap="square" lIns="0" tIns="0" rIns="0" bIns="0" rtlCol="0" anchor="t"/>
          <a:lstStyle/>
          <a:p>
            <a:pPr algn="ctr" indent="0" marL="0">
              <a:lnSpc>
                <a:spcPts val="1600"/>
              </a:lnSpc>
              <a:buNone/>
            </a:pPr>
            <a:r>
              <a:rPr lang="en-US" altLang="en-US" sz="1200" b="1" spc="100" kern="0" dirty="0">
                <a:solidFill>
                  <a:srgbClr val="8C6D3F"/>
                </a:solidFill>
                <a:latin typeface="Arial" pitchFamily="34" charset="0"/>
                <a:ea typeface="Arial" charset="-128"/>
                <a:cs typeface="Arial" pitchFamily="34" charset="-120"/>
              </a:rPr>
              <a:t>ENTERPRISE</a:t>
            </a:r>
            <a:endParaRPr lang="en-US" sz="1200" dirty="0"/>
          </a:p>
          <a:p>
            <a:pPr algn="ctr" indent="0" marL="0">
              <a:lnSpc>
                <a:spcPts val="1600"/>
              </a:lnSpc>
              <a:buNone/>
            </a:pPr>
            <a:r>
              <a:rPr lang="en-US" altLang="en-US" sz="1200" b="1" spc="100" kern="0" dirty="0">
                <a:solidFill>
                  <a:srgbClr val="8C6D3F"/>
                </a:solidFill>
                <a:latin typeface="Arial" pitchFamily="34" charset="0"/>
                <a:ea typeface="Arial" charset="-128"/>
                <a:cs typeface="Arial" pitchFamily="34" charset="-120"/>
              </a:rPr>
              <a:t>VALUE</a:t>
            </a:r>
            <a:endParaRPr lang="en-US" sz="1200" dirty="0"/>
          </a:p>
        </p:txBody>
      </p:sp>
      <p:sp>
        <p:nvSpPr>
          <p:cNvPr id="67" name="Text 64"/>
          <p:cNvSpPr txBox="1"/>
          <p:nvPr/>
        </p:nvSpPr>
        <p:spPr>
          <a:xfrm>
            <a:off x="9692640" y="3794760"/>
            <a:ext cx="1947672" cy="658368"/>
          </a:xfrm>
          <a:prstGeom prst="rect">
            <a:avLst/>
          </a:prstGeom>
          <a:noFill/>
          <a:ln/>
        </p:spPr>
        <p:txBody>
          <a:bodyPr wrap="square" lIns="0" tIns="0" rIns="0" bIns="0" rtlCol="0" anchor="t"/>
          <a:lstStyle/>
          <a:p>
            <a:pPr algn="ctr" indent="0" marL="0">
              <a:lnSpc>
                <a:spcPts val="2500"/>
              </a:lnSpc>
              <a:buNone/>
            </a:pPr>
            <a:r>
              <a:rPr lang="ja-JP" altLang="en-US" sz="1700" b="1" dirty="0">
                <a:solidFill>
                  <a:srgbClr val="14284B"/>
                </a:solidFill>
                <a:latin typeface="Yu Gothic" pitchFamily="34" charset="0"/>
                <a:ea typeface="Yu Gothic" charset="-128"/>
                <a:cs typeface="Yu Gothic" pitchFamily="34" charset="-120"/>
              </a:rPr>
              <a:t>企業価値の</a:t>
            </a:r>
            <a:endParaRPr lang="ja-JP" sz="1700" dirty="0"/>
          </a:p>
          <a:p>
            <a:pPr algn="ctr" indent="0" marL="0">
              <a:lnSpc>
                <a:spcPts val="2500"/>
              </a:lnSpc>
              <a:buNone/>
            </a:pPr>
            <a:r>
              <a:rPr lang="ja-JP" altLang="en-US" sz="1700" b="1" dirty="0">
                <a:solidFill>
                  <a:srgbClr val="14284B"/>
                </a:solidFill>
                <a:latin typeface="Yu Gothic" pitchFamily="34" charset="0"/>
                <a:ea typeface="Yu Gothic" charset="-128"/>
                <a:cs typeface="Yu Gothic" pitchFamily="34" charset="-120"/>
              </a:rPr>
              <a:t>最大化</a:t>
            </a:r>
            <a:endParaRPr lang="ja-JP" sz="1700" dirty="0"/>
          </a:p>
        </p:txBody>
      </p:sp>
      <p:sp>
        <p:nvSpPr>
          <p:cNvPr id="68" name="Text 65"/>
          <p:cNvSpPr txBox="1"/>
          <p:nvPr/>
        </p:nvSpPr>
        <p:spPr>
          <a:xfrm>
            <a:off x="548640" y="5577840"/>
            <a:ext cx="4572000" cy="237744"/>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 配分の比率・金額は財務モデル策定後に確定する。</a:t>
            </a:r>
            <a:endParaRPr lang="ja-JP"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18</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M&amp;A STRATEGY</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物流に限定せず、経営能力を移植できる会社を買う。</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18</a:t>
            </a:r>
            <a:endParaRPr lang="en-US" sz="1000" dirty="0"/>
          </a:p>
        </p:txBody>
      </p:sp>
      <p:sp>
        <p:nvSpPr>
          <p:cNvPr id="18" name="Shape 15"/>
          <p:cNvSpPr/>
          <p:nvPr/>
        </p:nvSpPr>
        <p:spPr>
          <a:xfrm>
            <a:off x="548640" y="1737360"/>
            <a:ext cx="3840480" cy="4206240"/>
          </a:xfrm>
          <a:prstGeom prst="rect">
            <a:avLst/>
          </a:prstGeom>
          <a:solidFill>
            <a:srgbClr val="14284B"/>
          </a:solidFill>
          <a:ln/>
        </p:spPr>
      </p:sp>
      <p:sp>
        <p:nvSpPr>
          <p:cNvPr id="19" name="Text 16"/>
          <p:cNvSpPr txBox="1"/>
          <p:nvPr/>
        </p:nvSpPr>
        <p:spPr>
          <a:xfrm>
            <a:off x="822960" y="1901952"/>
            <a:ext cx="2743200" cy="237744"/>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PHILOSOPHY</a:t>
            </a:r>
            <a:endParaRPr lang="en-US" sz="1100" dirty="0"/>
          </a:p>
        </p:txBody>
      </p:sp>
      <p:sp>
        <p:nvSpPr>
          <p:cNvPr id="20" name="Text 17"/>
          <p:cNvSpPr txBox="1"/>
          <p:nvPr/>
        </p:nvSpPr>
        <p:spPr>
          <a:xfrm>
            <a:off x="822960" y="2176272"/>
            <a:ext cx="3200400" cy="329184"/>
          </a:xfrm>
          <a:prstGeom prst="rect">
            <a:avLst/>
          </a:prstGeom>
          <a:noFill/>
          <a:ln/>
        </p:spPr>
        <p:txBody>
          <a:bodyPr wrap="square" lIns="0" tIns="0" rIns="0" bIns="0" rtlCol="0" anchor="ctr"/>
          <a:lstStyle/>
          <a:p>
            <a:pPr algn="l" indent="0" marL="0">
              <a:buNone/>
            </a:pPr>
            <a:r>
              <a:rPr lang="ja-JP" altLang="en-US" sz="1600" b="1" dirty="0">
                <a:solidFill>
                  <a:srgbClr val="FFFFFF"/>
                </a:solidFill>
                <a:latin typeface="Yu Gothic" pitchFamily="34" charset="0"/>
                <a:ea typeface="Yu Gothic" charset="-128"/>
                <a:cs typeface="Yu Gothic" pitchFamily="34" charset="-120"/>
              </a:rPr>
              <a:t>基本思想</a:t>
            </a:r>
            <a:endParaRPr lang="ja-JP" sz="1600" dirty="0"/>
          </a:p>
        </p:txBody>
      </p:sp>
      <p:sp>
        <p:nvSpPr>
          <p:cNvPr id="21" name="Text 18"/>
          <p:cNvSpPr txBox="1"/>
          <p:nvPr/>
        </p:nvSpPr>
        <p:spPr>
          <a:xfrm>
            <a:off x="822960" y="2697480"/>
            <a:ext cx="3383280" cy="2240280"/>
          </a:xfrm>
          <a:prstGeom prst="rect">
            <a:avLst/>
          </a:prstGeom>
          <a:noFill/>
          <a:ln/>
        </p:spPr>
        <p:txBody>
          <a:bodyPr wrap="square" lIns="0" tIns="0" rIns="0" bIns="0" rtlCol="0" anchor="t"/>
          <a:lstStyle/>
          <a:p>
            <a:pPr algn="l" indent="0" marL="0">
              <a:lnSpc>
                <a:spcPts val="3400"/>
              </a:lnSpc>
              <a:buNone/>
            </a:pPr>
            <a:r>
              <a:rPr lang="ja-JP" altLang="en-US" sz="2000" dirty="0">
                <a:solidFill>
                  <a:srgbClr val="FFFFFF"/>
                </a:solidFill>
                <a:latin typeface="Yu Mincho" pitchFamily="34" charset="0"/>
                <a:ea typeface="Yu Mincho" charset="-128"/>
                <a:cs typeface="Yu Mincho" pitchFamily="34" charset="-120"/>
              </a:rPr>
              <a:t>良い会社を、</a:t>
            </a:r>
            <a:endParaRPr lang="ja-JP" sz="2000" dirty="0"/>
          </a:p>
          <a:p>
            <a:pPr algn="l" indent="0" marL="0">
              <a:lnSpc>
                <a:spcPts val="3400"/>
              </a:lnSpc>
              <a:buNone/>
            </a:pPr>
            <a:r>
              <a:rPr lang="ja-JP" altLang="en-US" sz="2000" dirty="0">
                <a:solidFill>
                  <a:srgbClr val="FFFFFF"/>
                </a:solidFill>
                <a:latin typeface="Yu Mincho" pitchFamily="34" charset="0"/>
                <a:ea typeface="Yu Mincho" charset="-128"/>
                <a:cs typeface="Yu Mincho" pitchFamily="34" charset="-120"/>
              </a:rPr>
              <a:t>適正価格で買い、</a:t>
            </a:r>
            <a:endParaRPr lang="ja-JP" sz="2000" dirty="0"/>
          </a:p>
          <a:p>
            <a:pPr algn="l" indent="0" marL="0">
              <a:lnSpc>
                <a:spcPts val="3400"/>
              </a:lnSpc>
              <a:buNone/>
            </a:pPr>
            <a:r>
              <a:rPr lang="ja-JP" altLang="en-US" sz="2000" dirty="0">
                <a:solidFill>
                  <a:srgbClr val="FFFFFF"/>
                </a:solidFill>
                <a:latin typeface="Yu Mincho" pitchFamily="34" charset="0"/>
                <a:ea typeface="Yu Mincho" charset="-128"/>
                <a:cs typeface="Yu Mincho" pitchFamily="34" charset="-120"/>
              </a:rPr>
              <a:t>長期保有し、</a:t>
            </a:r>
            <a:endParaRPr lang="ja-JP" sz="2000" dirty="0"/>
          </a:p>
          <a:p>
            <a:pPr algn="l" indent="0" marL="0">
              <a:lnSpc>
                <a:spcPts val="3400"/>
              </a:lnSpc>
              <a:buNone/>
            </a:pPr>
            <a:r>
              <a:rPr lang="ja-JP" altLang="en-US" sz="2000" dirty="0">
                <a:solidFill>
                  <a:srgbClr val="FFFFFF"/>
                </a:solidFill>
                <a:latin typeface="Yu Mincho" pitchFamily="34" charset="0"/>
                <a:ea typeface="Yu Mincho" charset="-128"/>
                <a:cs typeface="Yu Mincho" pitchFamily="34" charset="-120"/>
              </a:rPr>
              <a:t>経営改善によって</a:t>
            </a:r>
            <a:endParaRPr lang="ja-JP" sz="2000" dirty="0"/>
          </a:p>
          <a:p>
            <a:pPr algn="l" indent="0" marL="0">
              <a:lnSpc>
                <a:spcPts val="3400"/>
              </a:lnSpc>
              <a:buNone/>
            </a:pPr>
            <a:r>
              <a:rPr lang="ja-JP" altLang="en-US" sz="2000" dirty="0">
                <a:solidFill>
                  <a:srgbClr val="FFFFFF"/>
                </a:solidFill>
                <a:latin typeface="Yu Mincho" pitchFamily="34" charset="0"/>
                <a:ea typeface="Yu Mincho" charset="-128"/>
                <a:cs typeface="Yu Mincho" pitchFamily="34" charset="-120"/>
              </a:rPr>
              <a:t>企業価値を高める。</a:t>
            </a:r>
            <a:endParaRPr lang="ja-JP" sz="2000" dirty="0"/>
          </a:p>
        </p:txBody>
      </p:sp>
      <p:sp>
        <p:nvSpPr>
          <p:cNvPr id="22" name="Text 19"/>
          <p:cNvSpPr txBox="1"/>
          <p:nvPr/>
        </p:nvSpPr>
        <p:spPr>
          <a:xfrm>
            <a:off x="822960" y="5230368"/>
            <a:ext cx="3383280" cy="329184"/>
          </a:xfrm>
          <a:prstGeom prst="rect">
            <a:avLst/>
          </a:prstGeom>
          <a:noFill/>
          <a:ln/>
        </p:spPr>
        <p:txBody>
          <a:bodyPr wrap="square" lIns="0" tIns="0" rIns="0" bIns="0" rtlCol="0" anchor="ctr"/>
          <a:lstStyle/>
          <a:p>
            <a:pPr algn="l" indent="0" marL="0">
              <a:buNone/>
            </a:pPr>
            <a:r>
              <a:rPr lang="ja-JP" altLang="en-US" sz="1500" b="1" dirty="0">
                <a:solidFill>
                  <a:srgbClr val="C9A96E"/>
                </a:solidFill>
                <a:latin typeface="Yu Gothic" pitchFamily="34" charset="0"/>
                <a:ea typeface="Yu Gothic" charset="-128"/>
                <a:cs typeface="Yu Gothic" pitchFamily="34" charset="-120"/>
              </a:rPr>
              <a:t>物流企業だけに限定しない。</a:t>
            </a:r>
            <a:endParaRPr lang="ja-JP" sz="1500" dirty="0"/>
          </a:p>
        </p:txBody>
      </p:sp>
      <p:sp>
        <p:nvSpPr>
          <p:cNvPr id="23" name="Text 20"/>
          <p:cNvSpPr txBox="1"/>
          <p:nvPr/>
        </p:nvSpPr>
        <p:spPr>
          <a:xfrm>
            <a:off x="4709160" y="1737360"/>
            <a:ext cx="685800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候補企業の条件（11）</a:t>
            </a:r>
            <a:pPr algn="l" indent="0" marL="0">
              <a:buNone/>
            </a:pPr>
            <a:r>
              <a:rPr lang="en-US" altLang="en-US" sz="1000" b="1" spc="200" kern="0" dirty="0">
                <a:solidFill>
                  <a:srgbClr val="8C6D3F"/>
                </a:solidFill>
                <a:latin typeface="Arial" pitchFamily="34" charset="0"/>
                <a:ea typeface="Arial" charset="-128"/>
                <a:cs typeface="Arial" pitchFamily="34" charset="-120"/>
              </a:rPr>
              <a:t>   CRITERIA</a:t>
            </a:r>
            <a:endParaRPr lang="ja-JP" sz="1400" dirty="0"/>
          </a:p>
        </p:txBody>
      </p:sp>
      <p:sp>
        <p:nvSpPr>
          <p:cNvPr id="24" name="Shape 21"/>
          <p:cNvSpPr/>
          <p:nvPr/>
        </p:nvSpPr>
        <p:spPr>
          <a:xfrm>
            <a:off x="4709160" y="2148840"/>
            <a:ext cx="2188159" cy="3246120"/>
          </a:xfrm>
          <a:prstGeom prst="rect">
            <a:avLst/>
          </a:prstGeom>
          <a:solidFill>
            <a:srgbClr val="F3F5F8"/>
          </a:solidFill>
          <a:ln/>
        </p:spPr>
      </p:sp>
      <p:sp>
        <p:nvSpPr>
          <p:cNvPr id="25" name="Text 22"/>
          <p:cNvSpPr txBox="1"/>
          <p:nvPr/>
        </p:nvSpPr>
        <p:spPr>
          <a:xfrm>
            <a:off x="4892040" y="2313432"/>
            <a:ext cx="18745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SUSTAINABILITY</a:t>
            </a:r>
            <a:endParaRPr lang="en-US" sz="1000" dirty="0"/>
          </a:p>
        </p:txBody>
      </p:sp>
      <p:sp>
        <p:nvSpPr>
          <p:cNvPr id="26" name="Text 23"/>
          <p:cNvSpPr txBox="1"/>
          <p:nvPr/>
        </p:nvSpPr>
        <p:spPr>
          <a:xfrm>
            <a:off x="4892040" y="2560320"/>
            <a:ext cx="187452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事業の持続性</a:t>
            </a:r>
            <a:endParaRPr lang="ja-JP" sz="1500" dirty="0"/>
          </a:p>
        </p:txBody>
      </p:sp>
      <p:sp>
        <p:nvSpPr>
          <p:cNvPr id="27" name="Shape 24"/>
          <p:cNvSpPr/>
          <p:nvPr/>
        </p:nvSpPr>
        <p:spPr>
          <a:xfrm>
            <a:off x="4892040" y="3162808"/>
            <a:ext cx="54864" cy="54864"/>
          </a:xfrm>
          <a:prstGeom prst="ellipse">
            <a:avLst/>
          </a:prstGeom>
          <a:solidFill>
            <a:srgbClr val="B08D57"/>
          </a:solidFill>
          <a:ln/>
        </p:spPr>
      </p:sp>
      <p:sp>
        <p:nvSpPr>
          <p:cNvPr id="28" name="Text 25"/>
          <p:cNvSpPr txBox="1"/>
          <p:nvPr/>
        </p:nvSpPr>
        <p:spPr>
          <a:xfrm>
            <a:off x="5074920" y="3063240"/>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需要が消えにくい</a:t>
            </a:r>
            <a:endParaRPr lang="ja-JP" sz="1350" dirty="0"/>
          </a:p>
        </p:txBody>
      </p:sp>
      <p:sp>
        <p:nvSpPr>
          <p:cNvPr id="29" name="Shape 26"/>
          <p:cNvSpPr/>
          <p:nvPr/>
        </p:nvSpPr>
        <p:spPr>
          <a:xfrm>
            <a:off x="4892040" y="3563112"/>
            <a:ext cx="54864" cy="54864"/>
          </a:xfrm>
          <a:prstGeom prst="ellipse">
            <a:avLst/>
          </a:prstGeom>
          <a:solidFill>
            <a:srgbClr val="B08D57"/>
          </a:solidFill>
          <a:ln/>
        </p:spPr>
      </p:sp>
      <p:sp>
        <p:nvSpPr>
          <p:cNvPr id="30" name="Text 27"/>
          <p:cNvSpPr txBox="1"/>
          <p:nvPr/>
        </p:nvSpPr>
        <p:spPr>
          <a:xfrm>
            <a:off x="5074920" y="3463544"/>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継続収益</a:t>
            </a:r>
            <a:endParaRPr lang="ja-JP" sz="1350" dirty="0"/>
          </a:p>
        </p:txBody>
      </p:sp>
      <p:sp>
        <p:nvSpPr>
          <p:cNvPr id="31" name="Shape 28"/>
          <p:cNvSpPr/>
          <p:nvPr/>
        </p:nvSpPr>
        <p:spPr>
          <a:xfrm>
            <a:off x="4892040" y="3963416"/>
            <a:ext cx="54864" cy="54864"/>
          </a:xfrm>
          <a:prstGeom prst="ellipse">
            <a:avLst/>
          </a:prstGeom>
          <a:solidFill>
            <a:srgbClr val="B08D57"/>
          </a:solidFill>
          <a:ln/>
        </p:spPr>
      </p:sp>
      <p:sp>
        <p:nvSpPr>
          <p:cNvPr id="32" name="Text 29"/>
          <p:cNvSpPr txBox="1"/>
          <p:nvPr/>
        </p:nvSpPr>
        <p:spPr>
          <a:xfrm>
            <a:off x="5074920" y="3863848"/>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キャッシュ創出力</a:t>
            </a:r>
            <a:endParaRPr lang="ja-JP" sz="1350" dirty="0"/>
          </a:p>
        </p:txBody>
      </p:sp>
      <p:sp>
        <p:nvSpPr>
          <p:cNvPr id="33" name="Shape 30"/>
          <p:cNvSpPr/>
          <p:nvPr/>
        </p:nvSpPr>
        <p:spPr>
          <a:xfrm>
            <a:off x="4892040" y="4363720"/>
            <a:ext cx="54864" cy="54864"/>
          </a:xfrm>
          <a:prstGeom prst="ellipse">
            <a:avLst/>
          </a:prstGeom>
          <a:solidFill>
            <a:srgbClr val="B08D57"/>
          </a:solidFill>
          <a:ln/>
        </p:spPr>
      </p:sp>
      <p:sp>
        <p:nvSpPr>
          <p:cNvPr id="34" name="Text 31"/>
          <p:cNvSpPr txBox="1"/>
          <p:nvPr/>
        </p:nvSpPr>
        <p:spPr>
          <a:xfrm>
            <a:off x="5074920" y="4264152"/>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顧客基盤</a:t>
            </a:r>
            <a:endParaRPr lang="ja-JP" sz="1350" dirty="0"/>
          </a:p>
        </p:txBody>
      </p:sp>
      <p:sp>
        <p:nvSpPr>
          <p:cNvPr id="35" name="Shape 32"/>
          <p:cNvSpPr/>
          <p:nvPr/>
        </p:nvSpPr>
        <p:spPr>
          <a:xfrm>
            <a:off x="4892040" y="4764024"/>
            <a:ext cx="54864" cy="54864"/>
          </a:xfrm>
          <a:prstGeom prst="ellipse">
            <a:avLst/>
          </a:prstGeom>
          <a:solidFill>
            <a:srgbClr val="B08D57"/>
          </a:solidFill>
          <a:ln/>
        </p:spPr>
      </p:sp>
      <p:sp>
        <p:nvSpPr>
          <p:cNvPr id="36" name="Text 33"/>
          <p:cNvSpPr txBox="1"/>
          <p:nvPr/>
        </p:nvSpPr>
        <p:spPr>
          <a:xfrm>
            <a:off x="5074920" y="4664456"/>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過度なCAPEX不要</a:t>
            </a:r>
            <a:endParaRPr lang="ja-JP" sz="1350" dirty="0"/>
          </a:p>
        </p:txBody>
      </p:sp>
      <p:sp>
        <p:nvSpPr>
          <p:cNvPr id="37" name="Shape 34"/>
          <p:cNvSpPr/>
          <p:nvPr/>
        </p:nvSpPr>
        <p:spPr>
          <a:xfrm>
            <a:off x="7080199" y="2148840"/>
            <a:ext cx="2188159" cy="3246120"/>
          </a:xfrm>
          <a:prstGeom prst="rect">
            <a:avLst/>
          </a:prstGeom>
          <a:solidFill>
            <a:srgbClr val="F3F5F8"/>
          </a:solidFill>
          <a:ln/>
        </p:spPr>
      </p:sp>
      <p:sp>
        <p:nvSpPr>
          <p:cNvPr id="38" name="Text 35"/>
          <p:cNvSpPr txBox="1"/>
          <p:nvPr/>
        </p:nvSpPr>
        <p:spPr>
          <a:xfrm>
            <a:off x="7263079" y="2313432"/>
            <a:ext cx="18745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UPSIDE</a:t>
            </a:r>
            <a:endParaRPr lang="en-US" sz="1000" dirty="0"/>
          </a:p>
        </p:txBody>
      </p:sp>
      <p:sp>
        <p:nvSpPr>
          <p:cNvPr id="39" name="Text 36"/>
          <p:cNvSpPr txBox="1"/>
          <p:nvPr/>
        </p:nvSpPr>
        <p:spPr>
          <a:xfrm>
            <a:off x="7263079" y="2560320"/>
            <a:ext cx="187452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改善の余地</a:t>
            </a:r>
            <a:endParaRPr lang="ja-JP" sz="1500" dirty="0"/>
          </a:p>
        </p:txBody>
      </p:sp>
      <p:sp>
        <p:nvSpPr>
          <p:cNvPr id="40" name="Shape 37"/>
          <p:cNvSpPr/>
          <p:nvPr/>
        </p:nvSpPr>
        <p:spPr>
          <a:xfrm>
            <a:off x="7263079" y="3162808"/>
            <a:ext cx="54864" cy="54864"/>
          </a:xfrm>
          <a:prstGeom prst="ellipse">
            <a:avLst/>
          </a:prstGeom>
          <a:solidFill>
            <a:srgbClr val="B08D57"/>
          </a:solidFill>
          <a:ln/>
        </p:spPr>
      </p:sp>
      <p:sp>
        <p:nvSpPr>
          <p:cNvPr id="41" name="Text 38"/>
          <p:cNvSpPr txBox="1"/>
          <p:nvPr/>
        </p:nvSpPr>
        <p:spPr>
          <a:xfrm>
            <a:off x="7445959" y="3063240"/>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営業改善余地</a:t>
            </a:r>
            <a:endParaRPr lang="ja-JP" sz="1350" dirty="0"/>
          </a:p>
        </p:txBody>
      </p:sp>
      <p:sp>
        <p:nvSpPr>
          <p:cNvPr id="42" name="Shape 39"/>
          <p:cNvSpPr/>
          <p:nvPr/>
        </p:nvSpPr>
        <p:spPr>
          <a:xfrm>
            <a:off x="7263079" y="3563112"/>
            <a:ext cx="54864" cy="54864"/>
          </a:xfrm>
          <a:prstGeom prst="ellipse">
            <a:avLst/>
          </a:prstGeom>
          <a:solidFill>
            <a:srgbClr val="B08D57"/>
          </a:solidFill>
          <a:ln/>
        </p:spPr>
      </p:sp>
      <p:sp>
        <p:nvSpPr>
          <p:cNvPr id="43" name="Text 40"/>
          <p:cNvSpPr txBox="1"/>
          <p:nvPr/>
        </p:nvSpPr>
        <p:spPr>
          <a:xfrm>
            <a:off x="7445959" y="3463544"/>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採用改善余地</a:t>
            </a:r>
            <a:endParaRPr lang="ja-JP" sz="1350" dirty="0"/>
          </a:p>
        </p:txBody>
      </p:sp>
      <p:sp>
        <p:nvSpPr>
          <p:cNvPr id="44" name="Shape 41"/>
          <p:cNvSpPr/>
          <p:nvPr/>
        </p:nvSpPr>
        <p:spPr>
          <a:xfrm>
            <a:off x="7263079" y="3963416"/>
            <a:ext cx="54864" cy="54864"/>
          </a:xfrm>
          <a:prstGeom prst="ellipse">
            <a:avLst/>
          </a:prstGeom>
          <a:solidFill>
            <a:srgbClr val="B08D57"/>
          </a:solidFill>
          <a:ln/>
        </p:spPr>
      </p:sp>
      <p:sp>
        <p:nvSpPr>
          <p:cNvPr id="45" name="Text 42"/>
          <p:cNvSpPr txBox="1"/>
          <p:nvPr/>
        </p:nvSpPr>
        <p:spPr>
          <a:xfrm>
            <a:off x="7445959" y="3863848"/>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DX余地</a:t>
            </a:r>
            <a:endParaRPr lang="ja-JP" sz="1350" dirty="0"/>
          </a:p>
        </p:txBody>
      </p:sp>
      <p:sp>
        <p:nvSpPr>
          <p:cNvPr id="46" name="Shape 43"/>
          <p:cNvSpPr/>
          <p:nvPr/>
        </p:nvSpPr>
        <p:spPr>
          <a:xfrm>
            <a:off x="9451238" y="2148840"/>
            <a:ext cx="2188159" cy="3246120"/>
          </a:xfrm>
          <a:prstGeom prst="rect">
            <a:avLst/>
          </a:prstGeom>
          <a:solidFill>
            <a:srgbClr val="F3F5F8"/>
          </a:solidFill>
          <a:ln/>
        </p:spPr>
      </p:sp>
      <p:sp>
        <p:nvSpPr>
          <p:cNvPr id="47" name="Text 44"/>
          <p:cNvSpPr txBox="1"/>
          <p:nvPr/>
        </p:nvSpPr>
        <p:spPr>
          <a:xfrm>
            <a:off x="9634118" y="2313432"/>
            <a:ext cx="1874520" cy="219456"/>
          </a:xfrm>
          <a:prstGeom prst="rect">
            <a:avLst/>
          </a:prstGeom>
          <a:noFill/>
          <a:ln/>
        </p:spPr>
        <p:txBody>
          <a:bodyPr wrap="square" lIns="0" tIns="0" rIns="0" bIns="0" rtlCol="0" anchor="ctr"/>
          <a:lstStyle/>
          <a:p>
            <a:pPr algn="l" indent="0" marL="0">
              <a:buNone/>
            </a:pPr>
            <a:r>
              <a:rPr lang="en-US" altLang="en-US" sz="1000" b="1" spc="100" kern="0" dirty="0">
                <a:solidFill>
                  <a:srgbClr val="8C6D3F"/>
                </a:solidFill>
                <a:latin typeface="Arial" pitchFamily="34" charset="0"/>
                <a:ea typeface="Arial" charset="-128"/>
                <a:cs typeface="Arial" pitchFamily="34" charset="-120"/>
              </a:rPr>
              <a:t>TRANSFERABILITY</a:t>
            </a:r>
            <a:endParaRPr lang="en-US" sz="1000" dirty="0"/>
          </a:p>
        </p:txBody>
      </p:sp>
      <p:sp>
        <p:nvSpPr>
          <p:cNvPr id="48" name="Text 45"/>
          <p:cNvSpPr txBox="1"/>
          <p:nvPr/>
        </p:nvSpPr>
        <p:spPr>
          <a:xfrm>
            <a:off x="9634118" y="2560320"/>
            <a:ext cx="1874520" cy="310896"/>
          </a:xfrm>
          <a:prstGeom prst="rect">
            <a:avLst/>
          </a:prstGeom>
          <a:noFill/>
          <a:ln/>
        </p:spPr>
        <p:txBody>
          <a:bodyPr wrap="square" lIns="0" tIns="0" rIns="0" bIns="0" rtlCol="0" anchor="ctr"/>
          <a:lstStyle/>
          <a:p>
            <a:pPr algn="l" indent="0" marL="0">
              <a:buNone/>
            </a:pPr>
            <a:r>
              <a:rPr lang="ja-JP" altLang="en-US" sz="1500" b="1" dirty="0">
                <a:solidFill>
                  <a:srgbClr val="14284B"/>
                </a:solidFill>
                <a:latin typeface="Yu Gothic" pitchFamily="34" charset="0"/>
                <a:ea typeface="Yu Gothic" charset="-128"/>
                <a:cs typeface="Yu Gothic" pitchFamily="34" charset="-120"/>
              </a:rPr>
              <a:t>承継と移植</a:t>
            </a:r>
            <a:endParaRPr lang="ja-JP" sz="1500" dirty="0"/>
          </a:p>
        </p:txBody>
      </p:sp>
      <p:sp>
        <p:nvSpPr>
          <p:cNvPr id="49" name="Shape 46"/>
          <p:cNvSpPr/>
          <p:nvPr/>
        </p:nvSpPr>
        <p:spPr>
          <a:xfrm>
            <a:off x="9634118" y="3162808"/>
            <a:ext cx="54864" cy="54864"/>
          </a:xfrm>
          <a:prstGeom prst="ellipse">
            <a:avLst/>
          </a:prstGeom>
          <a:solidFill>
            <a:srgbClr val="B08D57"/>
          </a:solidFill>
          <a:ln/>
        </p:spPr>
      </p:sp>
      <p:sp>
        <p:nvSpPr>
          <p:cNvPr id="50" name="Text 47"/>
          <p:cNvSpPr txBox="1"/>
          <p:nvPr/>
        </p:nvSpPr>
        <p:spPr>
          <a:xfrm>
            <a:off x="9816998" y="3063240"/>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後継者不足</a:t>
            </a:r>
            <a:endParaRPr lang="ja-JP" sz="1350" dirty="0"/>
          </a:p>
        </p:txBody>
      </p:sp>
      <p:sp>
        <p:nvSpPr>
          <p:cNvPr id="51" name="Shape 48"/>
          <p:cNvSpPr/>
          <p:nvPr/>
        </p:nvSpPr>
        <p:spPr>
          <a:xfrm>
            <a:off x="9634118" y="3563112"/>
            <a:ext cx="54864" cy="54864"/>
          </a:xfrm>
          <a:prstGeom prst="ellipse">
            <a:avLst/>
          </a:prstGeom>
          <a:solidFill>
            <a:srgbClr val="B08D57"/>
          </a:solidFill>
          <a:ln/>
        </p:spPr>
      </p:sp>
      <p:sp>
        <p:nvSpPr>
          <p:cNvPr id="52" name="Text 49"/>
          <p:cNvSpPr txBox="1"/>
          <p:nvPr/>
        </p:nvSpPr>
        <p:spPr>
          <a:xfrm>
            <a:off x="9816998" y="3463544"/>
            <a:ext cx="1737360" cy="254000"/>
          </a:xfrm>
          <a:prstGeom prst="rect">
            <a:avLst/>
          </a:prstGeom>
          <a:noFill/>
          <a:ln/>
        </p:spPr>
        <p:txBody>
          <a:bodyPr wrap="square" lIns="0" tIns="0" rIns="0" bIns="0" rtlCol="0" anchor="ctr"/>
          <a:lstStyle/>
          <a:p>
            <a:pPr algn="l" indent="0" marL="0">
              <a:buNone/>
            </a:pPr>
            <a:r>
              <a:rPr lang="ja-JP" altLang="en-US" sz="1350" dirty="0">
                <a:solidFill>
                  <a:srgbClr val="1B1F27"/>
                </a:solidFill>
                <a:latin typeface="Yu Gothic Medium" pitchFamily="34" charset="0"/>
                <a:ea typeface="Yu Gothic Medium" charset="-128"/>
                <a:cs typeface="Yu Gothic Medium" pitchFamily="34" charset="-120"/>
              </a:rPr>
              <a:t>経営者交代可能</a:t>
            </a:r>
            <a:endParaRPr lang="ja-JP" sz="1350" dirty="0"/>
          </a:p>
        </p:txBody>
      </p:sp>
      <p:sp>
        <p:nvSpPr>
          <p:cNvPr id="53" name="Shape 50"/>
          <p:cNvSpPr/>
          <p:nvPr/>
        </p:nvSpPr>
        <p:spPr>
          <a:xfrm>
            <a:off x="9634118" y="3963416"/>
            <a:ext cx="54864" cy="54864"/>
          </a:xfrm>
          <a:prstGeom prst="ellipse">
            <a:avLst/>
          </a:prstGeom>
          <a:solidFill>
            <a:srgbClr val="B08D57"/>
          </a:solidFill>
          <a:ln/>
        </p:spPr>
      </p:sp>
      <p:sp>
        <p:nvSpPr>
          <p:cNvPr id="54" name="Text 51"/>
          <p:cNvSpPr txBox="1"/>
          <p:nvPr/>
        </p:nvSpPr>
        <p:spPr>
          <a:xfrm>
            <a:off x="9816998" y="3863848"/>
            <a:ext cx="1737360" cy="762000"/>
          </a:xfrm>
          <a:prstGeom prst="rect">
            <a:avLst/>
          </a:prstGeom>
          <a:noFill/>
          <a:ln/>
        </p:spPr>
        <p:txBody>
          <a:bodyPr wrap="square" lIns="0" tIns="0" rIns="0" bIns="0" rtlCol="0" anchor="t"/>
          <a:lstStyle/>
          <a:p>
            <a:pPr algn="l" indent="0" marL="0">
              <a:lnSpc>
                <a:spcPts val="2000"/>
              </a:lnSpc>
              <a:buNone/>
            </a:pPr>
            <a:r>
              <a:rPr lang="ja-JP" altLang="en-US" sz="1350" dirty="0">
                <a:solidFill>
                  <a:srgbClr val="1B1F27"/>
                </a:solidFill>
                <a:latin typeface="Yu Gothic Medium" pitchFamily="34" charset="0"/>
                <a:ea typeface="Yu Gothic Medium" charset="-128"/>
                <a:cs typeface="Yu Gothic Medium" pitchFamily="34" charset="-120"/>
              </a:rPr>
              <a:t>ROOTIVE GROUPの</a:t>
            </a:r>
            <a:endParaRPr lang="ja-JP" sz="1350" dirty="0"/>
          </a:p>
          <a:p>
            <a:pPr algn="l" indent="0" marL="0">
              <a:lnSpc>
                <a:spcPts val="2000"/>
              </a:lnSpc>
              <a:buNone/>
            </a:pPr>
            <a:r>
              <a:rPr lang="ja-JP" altLang="en-US" sz="1350" dirty="0">
                <a:solidFill>
                  <a:srgbClr val="1B1F27"/>
                </a:solidFill>
                <a:latin typeface="Yu Gothic Medium" pitchFamily="34" charset="0"/>
                <a:ea typeface="Yu Gothic Medium" charset="-128"/>
                <a:cs typeface="Yu Gothic Medium" pitchFamily="34" charset="-120"/>
              </a:rPr>
              <a:t>経営能力を</a:t>
            </a:r>
            <a:endParaRPr lang="ja-JP" sz="1350" dirty="0"/>
          </a:p>
          <a:p>
            <a:pPr algn="l" indent="0" marL="0">
              <a:lnSpc>
                <a:spcPts val="2000"/>
              </a:lnSpc>
              <a:buNone/>
            </a:pPr>
            <a:r>
              <a:rPr lang="ja-JP" altLang="en-US" sz="1350" dirty="0">
                <a:solidFill>
                  <a:srgbClr val="1B1F27"/>
                </a:solidFill>
                <a:latin typeface="Yu Gothic Medium" pitchFamily="34" charset="0"/>
                <a:ea typeface="Yu Gothic Medium" charset="-128"/>
                <a:cs typeface="Yu Gothic Medium" pitchFamily="34" charset="-120"/>
              </a:rPr>
              <a:t>移植できる</a:t>
            </a:r>
            <a:endParaRPr lang="ja-JP" sz="1350" dirty="0"/>
          </a:p>
        </p:txBody>
      </p:sp>
      <p:sp>
        <p:nvSpPr>
          <p:cNvPr id="55" name="Text 52"/>
          <p:cNvSpPr txBox="1"/>
          <p:nvPr/>
        </p:nvSpPr>
        <p:spPr>
          <a:xfrm>
            <a:off x="4709160" y="5532120"/>
            <a:ext cx="6931152" cy="411480"/>
          </a:xfrm>
          <a:prstGeom prst="rect">
            <a:avLst/>
          </a:prstGeom>
          <a:solidFill>
            <a:srgbClr val="14284B"/>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charset="-128"/>
                <a:cs typeface="Yu Gothic" pitchFamily="34" charset="-120"/>
              </a:rPr>
              <a:t>候補条件で絞り込み、P.19 の投資規律で「買うべき会社」かを見極める。</a:t>
            </a:r>
            <a:endParaRPr lang="ja-JP"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19</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INVESTMENT DISCIPLINE</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買える会社と、買うべき会社は違う。</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19</a:t>
            </a:r>
            <a:endParaRPr lang="en-US" sz="1000" dirty="0"/>
          </a:p>
        </p:txBody>
      </p:sp>
      <p:sp>
        <p:nvSpPr>
          <p:cNvPr id="18" name="Text 15"/>
          <p:cNvSpPr txBox="1"/>
          <p:nvPr/>
        </p:nvSpPr>
        <p:spPr>
          <a:xfrm>
            <a:off x="548640" y="1737360"/>
            <a:ext cx="4114800" cy="274320"/>
          </a:xfrm>
          <a:prstGeom prst="rect">
            <a:avLst/>
          </a:prstGeom>
          <a:noFill/>
          <a:ln/>
        </p:spPr>
        <p:txBody>
          <a:bodyPr wrap="square" lIns="0" tIns="0" rIns="0" bIns="0" rtlCol="0" anchor="ctr"/>
          <a:lstStyle/>
          <a:p>
            <a:pPr algn="l" indent="0" marL="0">
              <a:buNone/>
            </a:pPr>
            <a:r>
              <a:rPr lang="ja-JP" altLang="en-US" sz="1400" b="1" dirty="0">
                <a:solidFill>
                  <a:srgbClr val="14284B"/>
                </a:solidFill>
                <a:latin typeface="Yu Gothic" pitchFamily="34" charset="0"/>
                <a:ea typeface="Yu Gothic" charset="-128"/>
                <a:cs typeface="Yu Gothic" pitchFamily="34" charset="-120"/>
              </a:rPr>
              <a:t>確認指標（12）</a:t>
            </a:r>
            <a:pPr algn="l" indent="0" marL="0">
              <a:buNone/>
            </a:pPr>
            <a:r>
              <a:rPr lang="en-US" altLang="en-US" sz="1000" b="1" spc="200" kern="0" dirty="0">
                <a:solidFill>
                  <a:srgbClr val="8C6D3F"/>
                </a:solidFill>
                <a:latin typeface="Arial" pitchFamily="34" charset="0"/>
                <a:ea typeface="Arial" charset="-128"/>
                <a:cs typeface="Arial" pitchFamily="34" charset="-120"/>
              </a:rPr>
              <a:t>   KEY METRICS</a:t>
            </a:r>
            <a:endParaRPr lang="ja-JP" sz="1400" dirty="0"/>
          </a:p>
        </p:txBody>
      </p:sp>
      <p:sp>
        <p:nvSpPr>
          <p:cNvPr id="19" name="Text 16"/>
          <p:cNvSpPr txBox="1"/>
          <p:nvPr/>
        </p:nvSpPr>
        <p:spPr>
          <a:xfrm>
            <a:off x="3931920" y="1737360"/>
            <a:ext cx="2926080" cy="274320"/>
          </a:xfrm>
          <a:prstGeom prst="rect">
            <a:avLst/>
          </a:prstGeom>
          <a:noFill/>
          <a:ln/>
        </p:spPr>
        <p:txBody>
          <a:bodyPr wrap="square" lIns="0" tIns="0" rIns="0" bIns="0" rtlCol="0" anchor="ctr"/>
          <a:lstStyle/>
          <a:p>
            <a:pPr algn="r" indent="0" marL="0">
              <a:buNone/>
            </a:pPr>
            <a:r>
              <a:rPr lang="ja-JP" altLang="en-US" sz="1000" dirty="0">
                <a:solidFill>
                  <a:srgbClr val="5B6675"/>
                </a:solidFill>
                <a:latin typeface="Yu Gothic Medium" pitchFamily="34" charset="0"/>
                <a:ea typeface="Yu Gothic Medium" charset="-128"/>
                <a:cs typeface="Yu Gothic Medium" pitchFamily="34" charset="-120"/>
              </a:rPr>
              <a:t>※ 判断水準は財務モデル策定後に設定する</a:t>
            </a:r>
            <a:endParaRPr lang="ja-JP" sz="1000" dirty="0"/>
          </a:p>
        </p:txBody>
      </p:sp>
      <p:sp>
        <p:nvSpPr>
          <p:cNvPr id="20" name="Text 17"/>
          <p:cNvSpPr txBox="1"/>
          <p:nvPr/>
        </p:nvSpPr>
        <p:spPr>
          <a:xfrm>
            <a:off x="685800" y="2103120"/>
            <a:ext cx="1188720" cy="274320"/>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区分</a:t>
            </a:r>
            <a:endParaRPr lang="ja-JP" sz="1100" dirty="0"/>
          </a:p>
        </p:txBody>
      </p:sp>
      <p:sp>
        <p:nvSpPr>
          <p:cNvPr id="21" name="Text 18"/>
          <p:cNvSpPr txBox="1"/>
          <p:nvPr/>
        </p:nvSpPr>
        <p:spPr>
          <a:xfrm>
            <a:off x="1920240" y="2103120"/>
            <a:ext cx="2377440" cy="274320"/>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指標</a:t>
            </a:r>
            <a:endParaRPr lang="ja-JP" sz="1100" dirty="0"/>
          </a:p>
        </p:txBody>
      </p:sp>
      <p:sp>
        <p:nvSpPr>
          <p:cNvPr id="22" name="Text 19"/>
          <p:cNvSpPr txBox="1"/>
          <p:nvPr/>
        </p:nvSpPr>
        <p:spPr>
          <a:xfrm>
            <a:off x="4434840" y="2103120"/>
            <a:ext cx="2377440" cy="274320"/>
          </a:xfrm>
          <a:prstGeom prst="rect">
            <a:avLst/>
          </a:prstGeom>
          <a:noFill/>
          <a:ln/>
        </p:spPr>
        <p:txBody>
          <a:bodyPr wrap="square" lIns="0" tIns="0" rIns="0" bIns="0" rtlCol="0" anchor="ctr"/>
          <a:lstStyle/>
          <a:p>
            <a:pPr algn="l" indent="0" marL="0">
              <a:buNone/>
            </a:pPr>
            <a:r>
              <a:rPr lang="ja-JP" altLang="en-US" sz="1100" dirty="0">
                <a:solidFill>
                  <a:srgbClr val="5B6675"/>
                </a:solidFill>
                <a:latin typeface="Yu Gothic Medium" pitchFamily="34" charset="0"/>
                <a:ea typeface="Yu Gothic Medium" charset="-128"/>
                <a:cs typeface="Yu Gothic Medium" pitchFamily="34" charset="-120"/>
              </a:rPr>
              <a:t>何を確かめるか</a:t>
            </a:r>
            <a:endParaRPr lang="ja-JP" sz="1100" dirty="0"/>
          </a:p>
        </p:txBody>
      </p:sp>
      <p:sp>
        <p:nvSpPr>
          <p:cNvPr id="23" name="Shape 20"/>
          <p:cNvSpPr/>
          <p:nvPr/>
        </p:nvSpPr>
        <p:spPr>
          <a:xfrm>
            <a:off x="548640" y="2404872"/>
            <a:ext cx="6309360" cy="0"/>
          </a:xfrm>
          <a:prstGeom prst="line">
            <a:avLst/>
          </a:prstGeom>
          <a:noFill/>
          <a:ln w="12700">
            <a:solidFill>
              <a:srgbClr val="14284B"/>
            </a:solidFill>
            <a:prstDash val="solid"/>
          </a:ln>
        </p:spPr>
      </p:sp>
      <p:sp>
        <p:nvSpPr>
          <p:cNvPr id="24" name="Shape 21"/>
          <p:cNvSpPr/>
          <p:nvPr/>
        </p:nvSpPr>
        <p:spPr>
          <a:xfrm>
            <a:off x="548640" y="2450592"/>
            <a:ext cx="6309360" cy="850392"/>
          </a:xfrm>
          <a:prstGeom prst="rect">
            <a:avLst/>
          </a:prstGeom>
          <a:solidFill>
            <a:srgbClr val="F3F5F8"/>
          </a:solidFill>
          <a:ln/>
        </p:spPr>
      </p:sp>
      <p:sp>
        <p:nvSpPr>
          <p:cNvPr id="25" name="Text 22"/>
          <p:cNvSpPr txBox="1"/>
          <p:nvPr/>
        </p:nvSpPr>
        <p:spPr>
          <a:xfrm>
            <a:off x="685800" y="2450592"/>
            <a:ext cx="1188720" cy="850392"/>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収益力</a:t>
            </a:r>
            <a:endParaRPr lang="ja-JP" sz="1200" dirty="0"/>
          </a:p>
        </p:txBody>
      </p:sp>
      <p:sp>
        <p:nvSpPr>
          <p:cNvPr id="26" name="Text 23"/>
          <p:cNvSpPr txBox="1"/>
          <p:nvPr/>
        </p:nvSpPr>
        <p:spPr>
          <a:xfrm>
            <a:off x="1920240" y="2450592"/>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Revenue</a:t>
            </a:r>
            <a:endParaRPr lang="en-US" sz="1200" dirty="0"/>
          </a:p>
        </p:txBody>
      </p:sp>
      <p:sp>
        <p:nvSpPr>
          <p:cNvPr id="27" name="Text 24"/>
          <p:cNvSpPr txBox="1"/>
          <p:nvPr/>
        </p:nvSpPr>
        <p:spPr>
          <a:xfrm>
            <a:off x="4434840" y="2450592"/>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売上の規模と推移</a:t>
            </a:r>
            <a:endParaRPr lang="ja-JP" sz="1200" dirty="0"/>
          </a:p>
        </p:txBody>
      </p:sp>
      <p:sp>
        <p:nvSpPr>
          <p:cNvPr id="28" name="Shape 25"/>
          <p:cNvSpPr/>
          <p:nvPr/>
        </p:nvSpPr>
        <p:spPr>
          <a:xfrm>
            <a:off x="1920240" y="2734056"/>
            <a:ext cx="4937760" cy="0"/>
          </a:xfrm>
          <a:prstGeom prst="line">
            <a:avLst/>
          </a:prstGeom>
          <a:noFill/>
          <a:ln w="6350">
            <a:solidFill>
              <a:srgbClr val="E3E8EF"/>
            </a:solidFill>
            <a:prstDash val="solid"/>
          </a:ln>
        </p:spPr>
      </p:sp>
      <p:sp>
        <p:nvSpPr>
          <p:cNvPr id="29" name="Text 26"/>
          <p:cNvSpPr txBox="1"/>
          <p:nvPr/>
        </p:nvSpPr>
        <p:spPr>
          <a:xfrm>
            <a:off x="1920240" y="2734056"/>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Operating Profit</a:t>
            </a:r>
            <a:endParaRPr lang="en-US" sz="1200" dirty="0"/>
          </a:p>
        </p:txBody>
      </p:sp>
      <p:sp>
        <p:nvSpPr>
          <p:cNvPr id="30" name="Text 27"/>
          <p:cNvSpPr txBox="1"/>
          <p:nvPr/>
        </p:nvSpPr>
        <p:spPr>
          <a:xfrm>
            <a:off x="4434840" y="2734056"/>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本業で稼ぐ力</a:t>
            </a:r>
            <a:endParaRPr lang="ja-JP" sz="1200" dirty="0"/>
          </a:p>
        </p:txBody>
      </p:sp>
      <p:sp>
        <p:nvSpPr>
          <p:cNvPr id="31" name="Shape 28"/>
          <p:cNvSpPr/>
          <p:nvPr/>
        </p:nvSpPr>
        <p:spPr>
          <a:xfrm>
            <a:off x="1920240" y="3017520"/>
            <a:ext cx="4937760" cy="0"/>
          </a:xfrm>
          <a:prstGeom prst="line">
            <a:avLst/>
          </a:prstGeom>
          <a:noFill/>
          <a:ln w="6350">
            <a:solidFill>
              <a:srgbClr val="E3E8EF"/>
            </a:solidFill>
            <a:prstDash val="solid"/>
          </a:ln>
        </p:spPr>
      </p:sp>
      <p:sp>
        <p:nvSpPr>
          <p:cNvPr id="32" name="Text 29"/>
          <p:cNvSpPr txBox="1"/>
          <p:nvPr/>
        </p:nvSpPr>
        <p:spPr>
          <a:xfrm>
            <a:off x="1920240" y="3017520"/>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EBITDA</a:t>
            </a:r>
            <a:endParaRPr lang="en-US" sz="1200" dirty="0"/>
          </a:p>
        </p:txBody>
      </p:sp>
      <p:sp>
        <p:nvSpPr>
          <p:cNvPr id="33" name="Text 30"/>
          <p:cNvSpPr txBox="1"/>
          <p:nvPr/>
        </p:nvSpPr>
        <p:spPr>
          <a:xfrm>
            <a:off x="4434840" y="3017520"/>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借入余力の目安となる利益</a:t>
            </a:r>
            <a:endParaRPr lang="ja-JP" sz="1200" dirty="0"/>
          </a:p>
        </p:txBody>
      </p:sp>
      <p:sp>
        <p:nvSpPr>
          <p:cNvPr id="34" name="Shape 31"/>
          <p:cNvSpPr/>
          <p:nvPr/>
        </p:nvSpPr>
        <p:spPr>
          <a:xfrm>
            <a:off x="548640" y="3300984"/>
            <a:ext cx="6309360" cy="0"/>
          </a:xfrm>
          <a:prstGeom prst="line">
            <a:avLst/>
          </a:prstGeom>
          <a:noFill/>
          <a:ln w="9525">
            <a:solidFill>
              <a:srgbClr val="C9D1DC"/>
            </a:solidFill>
            <a:prstDash val="solid"/>
          </a:ln>
        </p:spPr>
      </p:sp>
      <p:sp>
        <p:nvSpPr>
          <p:cNvPr id="35" name="Text 32"/>
          <p:cNvSpPr txBox="1"/>
          <p:nvPr/>
        </p:nvSpPr>
        <p:spPr>
          <a:xfrm>
            <a:off x="685800" y="3300984"/>
            <a:ext cx="1188720" cy="850392"/>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資金・財務</a:t>
            </a:r>
            <a:endParaRPr lang="ja-JP" sz="1200" dirty="0"/>
          </a:p>
        </p:txBody>
      </p:sp>
      <p:sp>
        <p:nvSpPr>
          <p:cNvPr id="36" name="Text 33"/>
          <p:cNvSpPr txBox="1"/>
          <p:nvPr/>
        </p:nvSpPr>
        <p:spPr>
          <a:xfrm>
            <a:off x="1920240" y="3300984"/>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Operating Cash Flow</a:t>
            </a:r>
            <a:endParaRPr lang="en-US" sz="1200" dirty="0"/>
          </a:p>
        </p:txBody>
      </p:sp>
      <p:sp>
        <p:nvSpPr>
          <p:cNvPr id="37" name="Text 34"/>
          <p:cNvSpPr txBox="1"/>
          <p:nvPr/>
        </p:nvSpPr>
        <p:spPr>
          <a:xfrm>
            <a:off x="4434840" y="3300984"/>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利益が現金になっているか</a:t>
            </a:r>
            <a:endParaRPr lang="ja-JP" sz="1200" dirty="0"/>
          </a:p>
        </p:txBody>
      </p:sp>
      <p:sp>
        <p:nvSpPr>
          <p:cNvPr id="38" name="Shape 35"/>
          <p:cNvSpPr/>
          <p:nvPr/>
        </p:nvSpPr>
        <p:spPr>
          <a:xfrm>
            <a:off x="1920240" y="3584448"/>
            <a:ext cx="4937760" cy="0"/>
          </a:xfrm>
          <a:prstGeom prst="line">
            <a:avLst/>
          </a:prstGeom>
          <a:noFill/>
          <a:ln w="6350">
            <a:solidFill>
              <a:srgbClr val="E3E8EF"/>
            </a:solidFill>
            <a:prstDash val="solid"/>
          </a:ln>
        </p:spPr>
      </p:sp>
      <p:sp>
        <p:nvSpPr>
          <p:cNvPr id="39" name="Text 36"/>
          <p:cNvSpPr txBox="1"/>
          <p:nvPr/>
        </p:nvSpPr>
        <p:spPr>
          <a:xfrm>
            <a:off x="1920240" y="3584448"/>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Net Debt</a:t>
            </a:r>
            <a:endParaRPr lang="en-US" sz="1200" dirty="0"/>
          </a:p>
        </p:txBody>
      </p:sp>
      <p:sp>
        <p:nvSpPr>
          <p:cNvPr id="40" name="Text 37"/>
          <p:cNvSpPr txBox="1"/>
          <p:nvPr/>
        </p:nvSpPr>
        <p:spPr>
          <a:xfrm>
            <a:off x="4434840" y="3584448"/>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現預金を引いた実質の借入</a:t>
            </a:r>
            <a:endParaRPr lang="ja-JP" sz="1200" dirty="0"/>
          </a:p>
        </p:txBody>
      </p:sp>
      <p:sp>
        <p:nvSpPr>
          <p:cNvPr id="41" name="Shape 38"/>
          <p:cNvSpPr/>
          <p:nvPr/>
        </p:nvSpPr>
        <p:spPr>
          <a:xfrm>
            <a:off x="1920240" y="3867912"/>
            <a:ext cx="4937760" cy="0"/>
          </a:xfrm>
          <a:prstGeom prst="line">
            <a:avLst/>
          </a:prstGeom>
          <a:noFill/>
          <a:ln w="6350">
            <a:solidFill>
              <a:srgbClr val="E3E8EF"/>
            </a:solidFill>
            <a:prstDash val="solid"/>
          </a:ln>
        </p:spPr>
      </p:sp>
      <p:sp>
        <p:nvSpPr>
          <p:cNvPr id="42" name="Text 39"/>
          <p:cNvSpPr txBox="1"/>
          <p:nvPr/>
        </p:nvSpPr>
        <p:spPr>
          <a:xfrm>
            <a:off x="1920240" y="3867912"/>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CAPEX</a:t>
            </a:r>
            <a:endParaRPr lang="en-US" sz="1200" dirty="0"/>
          </a:p>
        </p:txBody>
      </p:sp>
      <p:sp>
        <p:nvSpPr>
          <p:cNvPr id="43" name="Text 40"/>
          <p:cNvSpPr txBox="1"/>
          <p:nvPr/>
        </p:nvSpPr>
        <p:spPr>
          <a:xfrm>
            <a:off x="4434840" y="3867912"/>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今後必要な設備投資</a:t>
            </a:r>
            <a:endParaRPr lang="ja-JP" sz="1200" dirty="0"/>
          </a:p>
        </p:txBody>
      </p:sp>
      <p:sp>
        <p:nvSpPr>
          <p:cNvPr id="44" name="Shape 41"/>
          <p:cNvSpPr/>
          <p:nvPr/>
        </p:nvSpPr>
        <p:spPr>
          <a:xfrm>
            <a:off x="548640" y="4151376"/>
            <a:ext cx="6309360" cy="0"/>
          </a:xfrm>
          <a:prstGeom prst="line">
            <a:avLst/>
          </a:prstGeom>
          <a:noFill/>
          <a:ln w="9525">
            <a:solidFill>
              <a:srgbClr val="C9D1DC"/>
            </a:solidFill>
            <a:prstDash val="solid"/>
          </a:ln>
        </p:spPr>
      </p:sp>
      <p:sp>
        <p:nvSpPr>
          <p:cNvPr id="45" name="Shape 42"/>
          <p:cNvSpPr/>
          <p:nvPr/>
        </p:nvSpPr>
        <p:spPr>
          <a:xfrm>
            <a:off x="548640" y="4151376"/>
            <a:ext cx="6309360" cy="1133856"/>
          </a:xfrm>
          <a:prstGeom prst="rect">
            <a:avLst/>
          </a:prstGeom>
          <a:solidFill>
            <a:srgbClr val="F3F5F8"/>
          </a:solidFill>
          <a:ln/>
        </p:spPr>
      </p:sp>
      <p:sp>
        <p:nvSpPr>
          <p:cNvPr id="46" name="Text 43"/>
          <p:cNvSpPr txBox="1"/>
          <p:nvPr/>
        </p:nvSpPr>
        <p:spPr>
          <a:xfrm>
            <a:off x="685800" y="4151376"/>
            <a:ext cx="1188720" cy="1133856"/>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価値・リターン</a:t>
            </a:r>
            <a:endParaRPr lang="ja-JP" sz="1200" dirty="0"/>
          </a:p>
        </p:txBody>
      </p:sp>
      <p:sp>
        <p:nvSpPr>
          <p:cNvPr id="47" name="Text 44"/>
          <p:cNvSpPr txBox="1"/>
          <p:nvPr/>
        </p:nvSpPr>
        <p:spPr>
          <a:xfrm>
            <a:off x="1920240" y="4151376"/>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Enterprise Value</a:t>
            </a:r>
            <a:endParaRPr lang="en-US" sz="1200" dirty="0"/>
          </a:p>
        </p:txBody>
      </p:sp>
      <p:sp>
        <p:nvSpPr>
          <p:cNvPr id="48" name="Text 45"/>
          <p:cNvSpPr txBox="1"/>
          <p:nvPr/>
        </p:nvSpPr>
        <p:spPr>
          <a:xfrm>
            <a:off x="4434840" y="4151376"/>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企業価値（価格の土台）</a:t>
            </a:r>
            <a:endParaRPr lang="ja-JP" sz="1200" dirty="0"/>
          </a:p>
        </p:txBody>
      </p:sp>
      <p:sp>
        <p:nvSpPr>
          <p:cNvPr id="49" name="Shape 46"/>
          <p:cNvSpPr/>
          <p:nvPr/>
        </p:nvSpPr>
        <p:spPr>
          <a:xfrm>
            <a:off x="1920240" y="4434840"/>
            <a:ext cx="4937760" cy="0"/>
          </a:xfrm>
          <a:prstGeom prst="line">
            <a:avLst/>
          </a:prstGeom>
          <a:noFill/>
          <a:ln w="6350">
            <a:solidFill>
              <a:srgbClr val="E3E8EF"/>
            </a:solidFill>
            <a:prstDash val="solid"/>
          </a:ln>
        </p:spPr>
      </p:sp>
      <p:sp>
        <p:nvSpPr>
          <p:cNvPr id="50" name="Text 47"/>
          <p:cNvSpPr txBox="1"/>
          <p:nvPr/>
        </p:nvSpPr>
        <p:spPr>
          <a:xfrm>
            <a:off x="1920240" y="4434840"/>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EV / EBITDA</a:t>
            </a:r>
            <a:endParaRPr lang="en-US" sz="1200" dirty="0"/>
          </a:p>
        </p:txBody>
      </p:sp>
      <p:sp>
        <p:nvSpPr>
          <p:cNvPr id="51" name="Text 48"/>
          <p:cNvSpPr txBox="1"/>
          <p:nvPr/>
        </p:nvSpPr>
        <p:spPr>
          <a:xfrm>
            <a:off x="4434840" y="4434840"/>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価格が割高でないか</a:t>
            </a:r>
            <a:endParaRPr lang="ja-JP" sz="1200" dirty="0"/>
          </a:p>
        </p:txBody>
      </p:sp>
      <p:sp>
        <p:nvSpPr>
          <p:cNvPr id="52" name="Shape 49"/>
          <p:cNvSpPr/>
          <p:nvPr/>
        </p:nvSpPr>
        <p:spPr>
          <a:xfrm>
            <a:off x="1920240" y="4718304"/>
            <a:ext cx="4937760" cy="0"/>
          </a:xfrm>
          <a:prstGeom prst="line">
            <a:avLst/>
          </a:prstGeom>
          <a:noFill/>
          <a:ln w="6350">
            <a:solidFill>
              <a:srgbClr val="E3E8EF"/>
            </a:solidFill>
            <a:prstDash val="solid"/>
          </a:ln>
        </p:spPr>
      </p:sp>
      <p:sp>
        <p:nvSpPr>
          <p:cNvPr id="53" name="Text 50"/>
          <p:cNvSpPr txBox="1"/>
          <p:nvPr/>
        </p:nvSpPr>
        <p:spPr>
          <a:xfrm>
            <a:off x="1920240" y="4718304"/>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ROIC</a:t>
            </a:r>
            <a:endParaRPr lang="en-US" sz="1200" dirty="0"/>
          </a:p>
        </p:txBody>
      </p:sp>
      <p:sp>
        <p:nvSpPr>
          <p:cNvPr id="54" name="Text 51"/>
          <p:cNvSpPr txBox="1"/>
          <p:nvPr/>
        </p:nvSpPr>
        <p:spPr>
          <a:xfrm>
            <a:off x="4434840" y="4718304"/>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投下資本に対する収益性</a:t>
            </a:r>
            <a:endParaRPr lang="ja-JP" sz="1200" dirty="0"/>
          </a:p>
        </p:txBody>
      </p:sp>
      <p:sp>
        <p:nvSpPr>
          <p:cNvPr id="55" name="Shape 52"/>
          <p:cNvSpPr/>
          <p:nvPr/>
        </p:nvSpPr>
        <p:spPr>
          <a:xfrm>
            <a:off x="1920240" y="5001768"/>
            <a:ext cx="4937760" cy="0"/>
          </a:xfrm>
          <a:prstGeom prst="line">
            <a:avLst/>
          </a:prstGeom>
          <a:noFill/>
          <a:ln w="6350">
            <a:solidFill>
              <a:srgbClr val="E3E8EF"/>
            </a:solidFill>
            <a:prstDash val="solid"/>
          </a:ln>
        </p:spPr>
      </p:sp>
      <p:sp>
        <p:nvSpPr>
          <p:cNvPr id="56" name="Text 53"/>
          <p:cNvSpPr txBox="1"/>
          <p:nvPr/>
        </p:nvSpPr>
        <p:spPr>
          <a:xfrm>
            <a:off x="1920240" y="5001768"/>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Payback Period</a:t>
            </a:r>
            <a:endParaRPr lang="en-US" sz="1200" dirty="0"/>
          </a:p>
        </p:txBody>
      </p:sp>
      <p:sp>
        <p:nvSpPr>
          <p:cNvPr id="57" name="Text 54"/>
          <p:cNvSpPr txBox="1"/>
          <p:nvPr/>
        </p:nvSpPr>
        <p:spPr>
          <a:xfrm>
            <a:off x="4434840" y="5001768"/>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何年で投資を回収できるか</a:t>
            </a:r>
            <a:endParaRPr lang="ja-JP" sz="1200" dirty="0"/>
          </a:p>
        </p:txBody>
      </p:sp>
      <p:sp>
        <p:nvSpPr>
          <p:cNvPr id="58" name="Shape 55"/>
          <p:cNvSpPr/>
          <p:nvPr/>
        </p:nvSpPr>
        <p:spPr>
          <a:xfrm>
            <a:off x="548640" y="5285232"/>
            <a:ext cx="6309360" cy="0"/>
          </a:xfrm>
          <a:prstGeom prst="line">
            <a:avLst/>
          </a:prstGeom>
          <a:noFill/>
          <a:ln w="9525">
            <a:solidFill>
              <a:srgbClr val="C9D1DC"/>
            </a:solidFill>
            <a:prstDash val="solid"/>
          </a:ln>
        </p:spPr>
      </p:sp>
      <p:sp>
        <p:nvSpPr>
          <p:cNvPr id="59" name="Text 56"/>
          <p:cNvSpPr txBox="1"/>
          <p:nvPr/>
        </p:nvSpPr>
        <p:spPr>
          <a:xfrm>
            <a:off x="685800" y="5285232"/>
            <a:ext cx="1188720" cy="566928"/>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依存リスク</a:t>
            </a:r>
            <a:endParaRPr lang="ja-JP" sz="1200" dirty="0"/>
          </a:p>
        </p:txBody>
      </p:sp>
      <p:sp>
        <p:nvSpPr>
          <p:cNvPr id="60" name="Text 57"/>
          <p:cNvSpPr txBox="1"/>
          <p:nvPr/>
        </p:nvSpPr>
        <p:spPr>
          <a:xfrm>
            <a:off x="1920240" y="5285232"/>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Customer Concentration</a:t>
            </a:r>
            <a:endParaRPr lang="en-US" sz="1200" dirty="0"/>
          </a:p>
        </p:txBody>
      </p:sp>
      <p:sp>
        <p:nvSpPr>
          <p:cNvPr id="61" name="Text 58"/>
          <p:cNvSpPr txBox="1"/>
          <p:nvPr/>
        </p:nvSpPr>
        <p:spPr>
          <a:xfrm>
            <a:off x="4434840" y="5285232"/>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特定の顧客への依存</a:t>
            </a:r>
            <a:endParaRPr lang="ja-JP" sz="1200" dirty="0"/>
          </a:p>
        </p:txBody>
      </p:sp>
      <p:sp>
        <p:nvSpPr>
          <p:cNvPr id="62" name="Shape 59"/>
          <p:cNvSpPr/>
          <p:nvPr/>
        </p:nvSpPr>
        <p:spPr>
          <a:xfrm>
            <a:off x="1920240" y="5568696"/>
            <a:ext cx="4937760" cy="0"/>
          </a:xfrm>
          <a:prstGeom prst="line">
            <a:avLst/>
          </a:prstGeom>
          <a:noFill/>
          <a:ln w="6350">
            <a:solidFill>
              <a:srgbClr val="E3E8EF"/>
            </a:solidFill>
            <a:prstDash val="solid"/>
          </a:ln>
        </p:spPr>
      </p:sp>
      <p:sp>
        <p:nvSpPr>
          <p:cNvPr id="63" name="Text 60"/>
          <p:cNvSpPr txBox="1"/>
          <p:nvPr/>
        </p:nvSpPr>
        <p:spPr>
          <a:xfrm>
            <a:off x="1920240" y="5568696"/>
            <a:ext cx="2468880" cy="283464"/>
          </a:xfrm>
          <a:prstGeom prst="rect">
            <a:avLst/>
          </a:prstGeom>
          <a:noFill/>
          <a:ln/>
        </p:spPr>
        <p:txBody>
          <a:bodyPr wrap="square" lIns="0" tIns="0" rIns="0" bIns="0" rtlCol="0" anchor="ctr"/>
          <a:lstStyle/>
          <a:p>
            <a:pPr algn="l" indent="0" marL="0">
              <a:buNone/>
            </a:pPr>
            <a:r>
              <a:rPr lang="en-US" altLang="en-US" sz="1200" b="1" dirty="0">
                <a:solidFill>
                  <a:srgbClr val="14284B"/>
                </a:solidFill>
                <a:latin typeface="Arial" pitchFamily="34" charset="0"/>
                <a:ea typeface="Arial" charset="-128"/>
                <a:cs typeface="Arial" pitchFamily="34" charset="-120"/>
              </a:rPr>
              <a:t>Management Dependence</a:t>
            </a:r>
            <a:endParaRPr lang="en-US" sz="1200" dirty="0"/>
          </a:p>
        </p:txBody>
      </p:sp>
      <p:sp>
        <p:nvSpPr>
          <p:cNvPr id="64" name="Text 61"/>
          <p:cNvSpPr txBox="1"/>
          <p:nvPr/>
        </p:nvSpPr>
        <p:spPr>
          <a:xfrm>
            <a:off x="4434840" y="5568696"/>
            <a:ext cx="2377440" cy="283464"/>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オーナーが退いても回るか</a:t>
            </a:r>
            <a:endParaRPr lang="ja-JP" sz="1200" dirty="0"/>
          </a:p>
        </p:txBody>
      </p:sp>
      <p:sp>
        <p:nvSpPr>
          <p:cNvPr id="65" name="Shape 62"/>
          <p:cNvSpPr/>
          <p:nvPr/>
        </p:nvSpPr>
        <p:spPr>
          <a:xfrm>
            <a:off x="548640" y="5852160"/>
            <a:ext cx="6309360" cy="0"/>
          </a:xfrm>
          <a:prstGeom prst="line">
            <a:avLst/>
          </a:prstGeom>
          <a:noFill/>
          <a:ln w="9525">
            <a:solidFill>
              <a:srgbClr val="C9D1DC"/>
            </a:solidFill>
            <a:prstDash val="solid"/>
          </a:ln>
        </p:spPr>
      </p:sp>
      <p:sp>
        <p:nvSpPr>
          <p:cNvPr id="66" name="Shape 63"/>
          <p:cNvSpPr/>
          <p:nvPr/>
        </p:nvSpPr>
        <p:spPr>
          <a:xfrm>
            <a:off x="7178040" y="1737360"/>
            <a:ext cx="4462272" cy="4114800"/>
          </a:xfrm>
          <a:prstGeom prst="rect">
            <a:avLst/>
          </a:prstGeom>
          <a:solidFill>
            <a:srgbClr val="0E1014"/>
          </a:solidFill>
          <a:ln/>
        </p:spPr>
      </p:sp>
      <p:sp>
        <p:nvSpPr>
          <p:cNvPr id="67" name="Text 64"/>
          <p:cNvSpPr txBox="1"/>
          <p:nvPr/>
        </p:nvSpPr>
        <p:spPr>
          <a:xfrm>
            <a:off x="7452360" y="1901952"/>
            <a:ext cx="2286000" cy="274320"/>
          </a:xfrm>
          <a:prstGeom prst="rect">
            <a:avLst/>
          </a:prstGeom>
          <a:noFill/>
          <a:ln/>
        </p:spPr>
        <p:txBody>
          <a:bodyPr wrap="square" lIns="0" tIns="0" rIns="0" bIns="0" rtlCol="0" anchor="ctr"/>
          <a:lstStyle/>
          <a:p>
            <a:pPr algn="l" indent="0" marL="0">
              <a:buNone/>
            </a:pPr>
            <a:r>
              <a:rPr lang="en-US" altLang="en-US" sz="1400" b="1" spc="300" kern="0" dirty="0">
                <a:solidFill>
                  <a:srgbClr val="C26A5E"/>
                </a:solidFill>
                <a:latin typeface="Arial" pitchFamily="34" charset="0"/>
                <a:ea typeface="Arial" charset="-128"/>
                <a:cs typeface="Arial" pitchFamily="34" charset="-120"/>
              </a:rPr>
              <a:t>RED FLAGS</a:t>
            </a:r>
            <a:endParaRPr lang="en-US" sz="1400" dirty="0"/>
          </a:p>
        </p:txBody>
      </p:sp>
      <p:sp>
        <p:nvSpPr>
          <p:cNvPr id="68" name="Text 65"/>
          <p:cNvSpPr txBox="1"/>
          <p:nvPr/>
        </p:nvSpPr>
        <p:spPr>
          <a:xfrm>
            <a:off x="7452360" y="2212848"/>
            <a:ext cx="3931920" cy="329184"/>
          </a:xfrm>
          <a:prstGeom prst="rect">
            <a:avLst/>
          </a:prstGeom>
          <a:noFill/>
          <a:ln/>
        </p:spPr>
        <p:txBody>
          <a:bodyPr wrap="square" lIns="0" tIns="0" rIns="0" bIns="0" rtlCol="0" anchor="ctr"/>
          <a:lstStyle/>
          <a:p>
            <a:pPr algn="l" indent="0" marL="0">
              <a:buNone/>
            </a:pPr>
            <a:r>
              <a:rPr lang="ja-JP" altLang="en-US" sz="1500" b="1" dirty="0">
                <a:solidFill>
                  <a:srgbClr val="FFFFFF"/>
                </a:solidFill>
                <a:latin typeface="Yu Gothic" pitchFamily="34" charset="0"/>
                <a:ea typeface="Yu Gothic" charset="-128"/>
                <a:cs typeface="Yu Gothic" pitchFamily="34" charset="-120"/>
              </a:rPr>
              <a:t>重大なリスクの兆候（10）</a:t>
            </a:r>
            <a:endParaRPr lang="ja-JP" sz="1500" dirty="0"/>
          </a:p>
        </p:txBody>
      </p:sp>
      <p:sp>
        <p:nvSpPr>
          <p:cNvPr id="69" name="Text 66"/>
          <p:cNvSpPr txBox="1"/>
          <p:nvPr/>
        </p:nvSpPr>
        <p:spPr>
          <a:xfrm>
            <a:off x="7406640" y="2761488"/>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01</a:t>
            </a:r>
            <a:endParaRPr lang="en-US" sz="1300" dirty="0"/>
          </a:p>
        </p:txBody>
      </p:sp>
      <p:sp>
        <p:nvSpPr>
          <p:cNvPr id="70" name="Text 67"/>
          <p:cNvSpPr txBox="1"/>
          <p:nvPr/>
        </p:nvSpPr>
        <p:spPr>
          <a:xfrm>
            <a:off x="7818120" y="2761488"/>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簿外債務</a:t>
            </a:r>
            <a:endParaRPr lang="ja-JP" sz="1400" dirty="0"/>
          </a:p>
        </p:txBody>
      </p:sp>
      <p:sp>
        <p:nvSpPr>
          <p:cNvPr id="71" name="Shape 68"/>
          <p:cNvSpPr/>
          <p:nvPr/>
        </p:nvSpPr>
        <p:spPr>
          <a:xfrm>
            <a:off x="7406640" y="3246120"/>
            <a:ext cx="1920240" cy="0"/>
          </a:xfrm>
          <a:prstGeom prst="line">
            <a:avLst/>
          </a:prstGeom>
          <a:noFill/>
          <a:ln w="9525">
            <a:solidFill>
              <a:srgbClr val="2A2F38"/>
            </a:solidFill>
            <a:prstDash val="solid"/>
          </a:ln>
        </p:spPr>
      </p:sp>
      <p:sp>
        <p:nvSpPr>
          <p:cNvPr id="72" name="Text 69"/>
          <p:cNvSpPr txBox="1"/>
          <p:nvPr/>
        </p:nvSpPr>
        <p:spPr>
          <a:xfrm>
            <a:off x="7406640" y="3364992"/>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02</a:t>
            </a:r>
            <a:endParaRPr lang="en-US" sz="1300" dirty="0"/>
          </a:p>
        </p:txBody>
      </p:sp>
      <p:sp>
        <p:nvSpPr>
          <p:cNvPr id="73" name="Text 70"/>
          <p:cNvSpPr txBox="1"/>
          <p:nvPr/>
        </p:nvSpPr>
        <p:spPr>
          <a:xfrm>
            <a:off x="7818120" y="3364992"/>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重大な法令違反</a:t>
            </a:r>
            <a:endParaRPr lang="ja-JP" sz="1400" dirty="0"/>
          </a:p>
        </p:txBody>
      </p:sp>
      <p:sp>
        <p:nvSpPr>
          <p:cNvPr id="74" name="Shape 71"/>
          <p:cNvSpPr/>
          <p:nvPr/>
        </p:nvSpPr>
        <p:spPr>
          <a:xfrm>
            <a:off x="7406640" y="3849624"/>
            <a:ext cx="1920240" cy="0"/>
          </a:xfrm>
          <a:prstGeom prst="line">
            <a:avLst/>
          </a:prstGeom>
          <a:noFill/>
          <a:ln w="9525">
            <a:solidFill>
              <a:srgbClr val="2A2F38"/>
            </a:solidFill>
            <a:prstDash val="solid"/>
          </a:ln>
        </p:spPr>
      </p:sp>
      <p:sp>
        <p:nvSpPr>
          <p:cNvPr id="75" name="Text 72"/>
          <p:cNvSpPr txBox="1"/>
          <p:nvPr/>
        </p:nvSpPr>
        <p:spPr>
          <a:xfrm>
            <a:off x="7406640" y="3968496"/>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03</a:t>
            </a:r>
            <a:endParaRPr lang="en-US" sz="1300" dirty="0"/>
          </a:p>
        </p:txBody>
      </p:sp>
      <p:sp>
        <p:nvSpPr>
          <p:cNvPr id="76" name="Text 73"/>
          <p:cNvSpPr txBox="1"/>
          <p:nvPr/>
        </p:nvSpPr>
        <p:spPr>
          <a:xfrm>
            <a:off x="7818120" y="3968496"/>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未払い残業</a:t>
            </a:r>
            <a:endParaRPr lang="ja-JP" sz="1400" dirty="0"/>
          </a:p>
        </p:txBody>
      </p:sp>
      <p:sp>
        <p:nvSpPr>
          <p:cNvPr id="77" name="Shape 74"/>
          <p:cNvSpPr/>
          <p:nvPr/>
        </p:nvSpPr>
        <p:spPr>
          <a:xfrm>
            <a:off x="7406640" y="4453128"/>
            <a:ext cx="1920240" cy="0"/>
          </a:xfrm>
          <a:prstGeom prst="line">
            <a:avLst/>
          </a:prstGeom>
          <a:noFill/>
          <a:ln w="9525">
            <a:solidFill>
              <a:srgbClr val="2A2F38"/>
            </a:solidFill>
            <a:prstDash val="solid"/>
          </a:ln>
        </p:spPr>
      </p:sp>
      <p:sp>
        <p:nvSpPr>
          <p:cNvPr id="78" name="Text 75"/>
          <p:cNvSpPr txBox="1"/>
          <p:nvPr/>
        </p:nvSpPr>
        <p:spPr>
          <a:xfrm>
            <a:off x="7406640" y="4572000"/>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04</a:t>
            </a:r>
            <a:endParaRPr lang="en-US" sz="1300" dirty="0"/>
          </a:p>
        </p:txBody>
      </p:sp>
      <p:sp>
        <p:nvSpPr>
          <p:cNvPr id="79" name="Text 76"/>
          <p:cNvSpPr txBox="1"/>
          <p:nvPr/>
        </p:nvSpPr>
        <p:spPr>
          <a:xfrm>
            <a:off x="7818120" y="4572000"/>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社会保険問題</a:t>
            </a:r>
            <a:endParaRPr lang="ja-JP" sz="1400" dirty="0"/>
          </a:p>
        </p:txBody>
      </p:sp>
      <p:sp>
        <p:nvSpPr>
          <p:cNvPr id="80" name="Shape 77"/>
          <p:cNvSpPr/>
          <p:nvPr/>
        </p:nvSpPr>
        <p:spPr>
          <a:xfrm>
            <a:off x="7406640" y="5056632"/>
            <a:ext cx="1920240" cy="0"/>
          </a:xfrm>
          <a:prstGeom prst="line">
            <a:avLst/>
          </a:prstGeom>
          <a:noFill/>
          <a:ln w="9525">
            <a:solidFill>
              <a:srgbClr val="2A2F38"/>
            </a:solidFill>
            <a:prstDash val="solid"/>
          </a:ln>
        </p:spPr>
      </p:sp>
      <p:sp>
        <p:nvSpPr>
          <p:cNvPr id="81" name="Text 78"/>
          <p:cNvSpPr txBox="1"/>
          <p:nvPr/>
        </p:nvSpPr>
        <p:spPr>
          <a:xfrm>
            <a:off x="7406640" y="5175504"/>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05</a:t>
            </a:r>
            <a:endParaRPr lang="en-US" sz="1300" dirty="0"/>
          </a:p>
        </p:txBody>
      </p:sp>
      <p:sp>
        <p:nvSpPr>
          <p:cNvPr id="82" name="Text 79"/>
          <p:cNvSpPr txBox="1"/>
          <p:nvPr/>
        </p:nvSpPr>
        <p:spPr>
          <a:xfrm>
            <a:off x="7818120" y="5175504"/>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顧客集中</a:t>
            </a:r>
            <a:endParaRPr lang="ja-JP" sz="1400" dirty="0"/>
          </a:p>
        </p:txBody>
      </p:sp>
      <p:sp>
        <p:nvSpPr>
          <p:cNvPr id="83" name="Text 80"/>
          <p:cNvSpPr txBox="1"/>
          <p:nvPr/>
        </p:nvSpPr>
        <p:spPr>
          <a:xfrm>
            <a:off x="9464040" y="2761488"/>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06</a:t>
            </a:r>
            <a:endParaRPr lang="en-US" sz="1300" dirty="0"/>
          </a:p>
        </p:txBody>
      </p:sp>
      <p:sp>
        <p:nvSpPr>
          <p:cNvPr id="84" name="Text 81"/>
          <p:cNvSpPr txBox="1"/>
          <p:nvPr/>
        </p:nvSpPr>
        <p:spPr>
          <a:xfrm>
            <a:off x="9875520" y="2761488"/>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オーナー依存</a:t>
            </a:r>
            <a:endParaRPr lang="ja-JP" sz="1400" dirty="0"/>
          </a:p>
        </p:txBody>
      </p:sp>
      <p:sp>
        <p:nvSpPr>
          <p:cNvPr id="85" name="Shape 82"/>
          <p:cNvSpPr/>
          <p:nvPr/>
        </p:nvSpPr>
        <p:spPr>
          <a:xfrm>
            <a:off x="9464040" y="3246120"/>
            <a:ext cx="1920240" cy="0"/>
          </a:xfrm>
          <a:prstGeom prst="line">
            <a:avLst/>
          </a:prstGeom>
          <a:noFill/>
          <a:ln w="9525">
            <a:solidFill>
              <a:srgbClr val="2A2F38"/>
            </a:solidFill>
            <a:prstDash val="solid"/>
          </a:ln>
        </p:spPr>
      </p:sp>
      <p:sp>
        <p:nvSpPr>
          <p:cNvPr id="86" name="Text 83"/>
          <p:cNvSpPr txBox="1"/>
          <p:nvPr/>
        </p:nvSpPr>
        <p:spPr>
          <a:xfrm>
            <a:off x="9464040" y="3364992"/>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07</a:t>
            </a:r>
            <a:endParaRPr lang="en-US" sz="1300" dirty="0"/>
          </a:p>
        </p:txBody>
      </p:sp>
      <p:sp>
        <p:nvSpPr>
          <p:cNvPr id="87" name="Text 84"/>
          <p:cNvSpPr txBox="1"/>
          <p:nvPr/>
        </p:nvSpPr>
        <p:spPr>
          <a:xfrm>
            <a:off x="9875520" y="3364992"/>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慢性的CF赤字</a:t>
            </a:r>
            <a:endParaRPr lang="ja-JP" sz="1400" dirty="0"/>
          </a:p>
        </p:txBody>
      </p:sp>
      <p:sp>
        <p:nvSpPr>
          <p:cNvPr id="88" name="Shape 85"/>
          <p:cNvSpPr/>
          <p:nvPr/>
        </p:nvSpPr>
        <p:spPr>
          <a:xfrm>
            <a:off x="9464040" y="3849624"/>
            <a:ext cx="1920240" cy="0"/>
          </a:xfrm>
          <a:prstGeom prst="line">
            <a:avLst/>
          </a:prstGeom>
          <a:noFill/>
          <a:ln w="9525">
            <a:solidFill>
              <a:srgbClr val="2A2F38"/>
            </a:solidFill>
            <a:prstDash val="solid"/>
          </a:ln>
        </p:spPr>
      </p:sp>
      <p:sp>
        <p:nvSpPr>
          <p:cNvPr id="89" name="Text 86"/>
          <p:cNvSpPr txBox="1"/>
          <p:nvPr/>
        </p:nvSpPr>
        <p:spPr>
          <a:xfrm>
            <a:off x="9464040" y="3968496"/>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08</a:t>
            </a:r>
            <a:endParaRPr lang="en-US" sz="1300" dirty="0"/>
          </a:p>
        </p:txBody>
      </p:sp>
      <p:sp>
        <p:nvSpPr>
          <p:cNvPr id="90" name="Text 87"/>
          <p:cNvSpPr txBox="1"/>
          <p:nvPr/>
        </p:nvSpPr>
        <p:spPr>
          <a:xfrm>
            <a:off x="9875520" y="3968496"/>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重大訴訟</a:t>
            </a:r>
            <a:endParaRPr lang="ja-JP" sz="1400" dirty="0"/>
          </a:p>
        </p:txBody>
      </p:sp>
      <p:sp>
        <p:nvSpPr>
          <p:cNvPr id="91" name="Shape 88"/>
          <p:cNvSpPr/>
          <p:nvPr/>
        </p:nvSpPr>
        <p:spPr>
          <a:xfrm>
            <a:off x="9464040" y="4453128"/>
            <a:ext cx="1920240" cy="0"/>
          </a:xfrm>
          <a:prstGeom prst="line">
            <a:avLst/>
          </a:prstGeom>
          <a:noFill/>
          <a:ln w="9525">
            <a:solidFill>
              <a:srgbClr val="2A2F38"/>
            </a:solidFill>
            <a:prstDash val="solid"/>
          </a:ln>
        </p:spPr>
      </p:sp>
      <p:sp>
        <p:nvSpPr>
          <p:cNvPr id="92" name="Text 89"/>
          <p:cNvSpPr txBox="1"/>
          <p:nvPr/>
        </p:nvSpPr>
        <p:spPr>
          <a:xfrm>
            <a:off x="9464040" y="4572000"/>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09</a:t>
            </a:r>
            <a:endParaRPr lang="en-US" sz="1300" dirty="0"/>
          </a:p>
        </p:txBody>
      </p:sp>
      <p:sp>
        <p:nvSpPr>
          <p:cNvPr id="93" name="Text 90"/>
          <p:cNvSpPr txBox="1"/>
          <p:nvPr/>
        </p:nvSpPr>
        <p:spPr>
          <a:xfrm>
            <a:off x="9875520" y="4572000"/>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大型設備更新</a:t>
            </a:r>
            <a:endParaRPr lang="ja-JP" sz="1400" dirty="0"/>
          </a:p>
        </p:txBody>
      </p:sp>
      <p:sp>
        <p:nvSpPr>
          <p:cNvPr id="94" name="Shape 91"/>
          <p:cNvSpPr/>
          <p:nvPr/>
        </p:nvSpPr>
        <p:spPr>
          <a:xfrm>
            <a:off x="9464040" y="5056632"/>
            <a:ext cx="1920240" cy="0"/>
          </a:xfrm>
          <a:prstGeom prst="line">
            <a:avLst/>
          </a:prstGeom>
          <a:noFill/>
          <a:ln w="9525">
            <a:solidFill>
              <a:srgbClr val="2A2F38"/>
            </a:solidFill>
            <a:prstDash val="solid"/>
          </a:ln>
        </p:spPr>
      </p:sp>
      <p:sp>
        <p:nvSpPr>
          <p:cNvPr id="95" name="Text 92"/>
          <p:cNvSpPr txBox="1"/>
          <p:nvPr/>
        </p:nvSpPr>
        <p:spPr>
          <a:xfrm>
            <a:off x="9464040" y="5175504"/>
            <a:ext cx="384048" cy="365760"/>
          </a:xfrm>
          <a:prstGeom prst="rect">
            <a:avLst/>
          </a:prstGeom>
          <a:noFill/>
          <a:ln/>
        </p:spPr>
        <p:txBody>
          <a:bodyPr wrap="square" lIns="0" tIns="0" rIns="0" bIns="0" rtlCol="0" anchor="ctr"/>
          <a:lstStyle/>
          <a:p>
            <a:pPr algn="l" indent="0" marL="0">
              <a:buNone/>
            </a:pPr>
            <a:r>
              <a:rPr lang="en-US" altLang="en-US" sz="1300" b="1" dirty="0">
                <a:solidFill>
                  <a:srgbClr val="C9A96E"/>
                </a:solidFill>
                <a:latin typeface="Cambria" pitchFamily="34" charset="0"/>
                <a:ea typeface="Cambria" charset="-128"/>
                <a:cs typeface="Cambria" pitchFamily="34" charset="-120"/>
              </a:rPr>
              <a:t>10</a:t>
            </a:r>
            <a:endParaRPr lang="en-US" sz="1300" dirty="0"/>
          </a:p>
        </p:txBody>
      </p:sp>
      <p:sp>
        <p:nvSpPr>
          <p:cNvPr id="96" name="Text 93"/>
          <p:cNvSpPr txBox="1"/>
          <p:nvPr/>
        </p:nvSpPr>
        <p:spPr>
          <a:xfrm>
            <a:off x="9875520" y="5175504"/>
            <a:ext cx="1600200" cy="365760"/>
          </a:xfrm>
          <a:prstGeom prst="rect">
            <a:avLst/>
          </a:prstGeom>
          <a:noFill/>
          <a:ln/>
        </p:spPr>
        <p:txBody>
          <a:bodyPr wrap="square" lIns="0" tIns="0" rIns="0" bIns="0" rtlCol="0" anchor="ctr"/>
          <a:lstStyle/>
          <a:p>
            <a:pPr algn="l" indent="0" marL="0">
              <a:buNone/>
            </a:pPr>
            <a:r>
              <a:rPr lang="ja-JP" altLang="en-US" sz="1400" dirty="0">
                <a:solidFill>
                  <a:srgbClr val="FFFFFF"/>
                </a:solidFill>
                <a:latin typeface="Yu Gothic Medium" pitchFamily="34" charset="0"/>
                <a:ea typeface="Yu Gothic Medium" charset="-128"/>
                <a:cs typeface="Yu Gothic Medium" pitchFamily="34" charset="-120"/>
              </a:rPr>
              <a:t>重要人材流出</a:t>
            </a:r>
            <a:endParaRPr lang="ja-JP"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20</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GROUP KPI DASHBOARD</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売上30億円だけを追わない。5つの視点で経営を測る。</a:t>
            </a:r>
            <a:endParaRPr lang="ja-JP" sz="2600" dirty="0"/>
          </a:p>
        </p:txBody>
      </p:sp>
      <p:sp>
        <p:nvSpPr>
          <p:cNvPr id="4" name="Shape 2"/>
          <p:cNvSpPr/>
          <p:nvPr/>
        </p:nvSpPr>
        <p:spPr>
          <a:xfrm>
            <a:off x="8880856" y="585216"/>
            <a:ext cx="436880" cy="0"/>
          </a:xfrm>
          <a:prstGeom prst="line">
            <a:avLst/>
          </a:prstGeom>
          <a:noFill/>
          <a:ln w="12700">
            <a:solidFill>
              <a:srgbClr val="C9D1DC"/>
            </a:solidFill>
            <a:prstDash val="solid"/>
          </a:ln>
        </p:spPr>
      </p:sp>
      <p:sp>
        <p:nvSpPr>
          <p:cNvPr id="5" name="Shape 3"/>
          <p:cNvSpPr/>
          <p:nvPr/>
        </p:nvSpPr>
        <p:spPr>
          <a:xfrm>
            <a:off x="9878771" y="585216"/>
            <a:ext cx="444805" cy="0"/>
          </a:xfrm>
          <a:prstGeom prst="line">
            <a:avLst/>
          </a:prstGeom>
          <a:noFill/>
          <a:ln w="12700">
            <a:solidFill>
              <a:srgbClr val="C9D1DC"/>
            </a:solidFill>
            <a:prstDash val="solid"/>
          </a:ln>
        </p:spPr>
      </p:sp>
      <p:sp>
        <p:nvSpPr>
          <p:cNvPr id="6" name="Shape 4"/>
          <p:cNvSpPr/>
          <p:nvPr/>
        </p:nvSpPr>
        <p:spPr>
          <a:xfrm>
            <a:off x="10884611" y="585216"/>
            <a:ext cx="353365" cy="0"/>
          </a:xfrm>
          <a:prstGeom prst="line">
            <a:avLst/>
          </a:prstGeom>
          <a:noFill/>
          <a:ln w="12700">
            <a:solidFill>
              <a:srgbClr val="C9D1DC"/>
            </a:solidFill>
            <a:prstDash val="sysDash"/>
          </a:ln>
        </p:spPr>
      </p:sp>
      <p:sp>
        <p:nvSpPr>
          <p:cNvPr id="7" name="Shape 5"/>
          <p:cNvSpPr/>
          <p:nvPr/>
        </p:nvSpPr>
        <p:spPr>
          <a:xfrm>
            <a:off x="8348472" y="539496"/>
            <a:ext cx="91440" cy="91440"/>
          </a:xfrm>
          <a:prstGeom prst="ellipse">
            <a:avLst/>
          </a:prstGeom>
          <a:solidFill>
            <a:srgbClr val="C5CCD6"/>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C5CCD6"/>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5CCD6"/>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7A8494"/>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第Ⅲ章　グループ経営の設計</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20</a:t>
            </a:r>
            <a:endParaRPr lang="en-US" sz="1000" dirty="0"/>
          </a:p>
        </p:txBody>
      </p:sp>
      <p:sp>
        <p:nvSpPr>
          <p:cNvPr id="18" name="Shape 15"/>
          <p:cNvSpPr/>
          <p:nvPr/>
        </p:nvSpPr>
        <p:spPr>
          <a:xfrm>
            <a:off x="548640" y="1691640"/>
            <a:ext cx="2035454" cy="4050792"/>
          </a:xfrm>
          <a:prstGeom prst="rect">
            <a:avLst/>
          </a:prstGeom>
          <a:solidFill>
            <a:srgbClr val="F3F5F8"/>
          </a:solidFill>
          <a:ln/>
        </p:spPr>
      </p:sp>
      <p:sp>
        <p:nvSpPr>
          <p:cNvPr id="19" name="Text 16"/>
          <p:cNvSpPr txBox="1"/>
          <p:nvPr/>
        </p:nvSpPr>
        <p:spPr>
          <a:xfrm>
            <a:off x="731520" y="1819656"/>
            <a:ext cx="1737360" cy="274320"/>
          </a:xfrm>
          <a:prstGeom prst="rect">
            <a:avLst/>
          </a:prstGeom>
          <a:noFill/>
          <a:ln/>
        </p:spPr>
        <p:txBody>
          <a:bodyPr wrap="square" lIns="0" tIns="0" rIns="0" bIns="0" rtlCol="0" anchor="ctr"/>
          <a:lstStyle/>
          <a:p>
            <a:pPr algn="l" indent="0" marL="0">
              <a:buNone/>
            </a:pPr>
            <a:r>
              <a:rPr lang="en-US" altLang="en-US" sz="1300" b="1" spc="100" kern="0" dirty="0">
                <a:solidFill>
                  <a:srgbClr val="14284B"/>
                </a:solidFill>
                <a:latin typeface="Arial" pitchFamily="34" charset="0"/>
                <a:ea typeface="Arial" charset="-128"/>
                <a:cs typeface="Arial" pitchFamily="34" charset="-120"/>
              </a:rPr>
              <a:t>GROWTH</a:t>
            </a:r>
            <a:endParaRPr lang="en-US" sz="1300" dirty="0"/>
          </a:p>
        </p:txBody>
      </p:sp>
      <p:sp>
        <p:nvSpPr>
          <p:cNvPr id="20" name="Text 17"/>
          <p:cNvSpPr txBox="1"/>
          <p:nvPr/>
        </p:nvSpPr>
        <p:spPr>
          <a:xfrm>
            <a:off x="731520" y="2093976"/>
            <a:ext cx="1737360" cy="256032"/>
          </a:xfrm>
          <a:prstGeom prst="rect">
            <a:avLst/>
          </a:prstGeom>
          <a:noFill/>
          <a:ln/>
        </p:spPr>
        <p:txBody>
          <a:bodyPr wrap="square" lIns="0" tIns="0" rIns="0" bIns="0" rtlCol="0" anchor="ctr"/>
          <a:lstStyle/>
          <a:p>
            <a:pPr algn="l" indent="0" marL="0">
              <a:buNone/>
            </a:pPr>
            <a:r>
              <a:rPr lang="ja-JP" altLang="en-US" sz="1200" dirty="0">
                <a:solidFill>
                  <a:srgbClr val="5B6675"/>
                </a:solidFill>
                <a:latin typeface="Yu Gothic Medium" pitchFamily="34" charset="0"/>
                <a:ea typeface="Yu Gothic Medium" charset="-128"/>
                <a:cs typeface="Yu Gothic Medium" pitchFamily="34" charset="-120"/>
              </a:rPr>
              <a:t>成長</a:t>
            </a:r>
            <a:endParaRPr lang="ja-JP" sz="1200" dirty="0"/>
          </a:p>
        </p:txBody>
      </p:sp>
      <p:sp>
        <p:nvSpPr>
          <p:cNvPr id="21" name="Shape 18"/>
          <p:cNvSpPr/>
          <p:nvPr/>
        </p:nvSpPr>
        <p:spPr>
          <a:xfrm>
            <a:off x="676656" y="2478024"/>
            <a:ext cx="1779422" cy="365760"/>
          </a:xfrm>
          <a:prstGeom prst="rect">
            <a:avLst/>
          </a:prstGeom>
          <a:solidFill>
            <a:srgbClr val="FFFFFF"/>
          </a:solidFill>
          <a:ln w="15875">
            <a:solidFill>
              <a:srgbClr val="B08D57"/>
            </a:solidFill>
            <a:prstDash val="solid"/>
          </a:ln>
        </p:spPr>
      </p:sp>
      <p:sp>
        <p:nvSpPr>
          <p:cNvPr id="22" name="Shape 19"/>
          <p:cNvSpPr/>
          <p:nvPr/>
        </p:nvSpPr>
        <p:spPr>
          <a:xfrm>
            <a:off x="745236" y="2628900"/>
            <a:ext cx="64008" cy="64008"/>
          </a:xfrm>
          <a:prstGeom prst="ellipse">
            <a:avLst/>
          </a:prstGeom>
          <a:solidFill>
            <a:srgbClr val="B08D57"/>
          </a:solidFill>
          <a:ln/>
        </p:spPr>
      </p:sp>
      <p:sp>
        <p:nvSpPr>
          <p:cNvPr id="23" name="Text 20"/>
          <p:cNvSpPr txBox="1"/>
          <p:nvPr/>
        </p:nvSpPr>
        <p:spPr>
          <a:xfrm>
            <a:off x="886968" y="247802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連結売上</a:t>
            </a:r>
            <a:endParaRPr lang="ja-JP" sz="1100" dirty="0"/>
          </a:p>
        </p:txBody>
      </p:sp>
      <p:sp>
        <p:nvSpPr>
          <p:cNvPr id="24" name="Shape 21"/>
          <p:cNvSpPr/>
          <p:nvPr/>
        </p:nvSpPr>
        <p:spPr>
          <a:xfrm>
            <a:off x="676656" y="2916936"/>
            <a:ext cx="1779422" cy="365760"/>
          </a:xfrm>
          <a:prstGeom prst="rect">
            <a:avLst/>
          </a:prstGeom>
          <a:solidFill>
            <a:srgbClr val="FFFFFF"/>
          </a:solidFill>
          <a:ln/>
        </p:spPr>
      </p:sp>
      <p:sp>
        <p:nvSpPr>
          <p:cNvPr id="25" name="Shape 22"/>
          <p:cNvSpPr/>
          <p:nvPr/>
        </p:nvSpPr>
        <p:spPr>
          <a:xfrm>
            <a:off x="745236" y="3067812"/>
            <a:ext cx="64008" cy="64008"/>
          </a:xfrm>
          <a:prstGeom prst="ellipse">
            <a:avLst/>
          </a:prstGeom>
          <a:solidFill>
            <a:srgbClr val="B08D57"/>
          </a:solidFill>
          <a:ln/>
        </p:spPr>
      </p:sp>
      <p:sp>
        <p:nvSpPr>
          <p:cNvPr id="26" name="Text 23"/>
          <p:cNvSpPr txBox="1"/>
          <p:nvPr/>
        </p:nvSpPr>
        <p:spPr>
          <a:xfrm>
            <a:off x="886968" y="2916936"/>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成長率</a:t>
            </a:r>
            <a:endParaRPr lang="ja-JP" sz="1100" dirty="0"/>
          </a:p>
        </p:txBody>
      </p:sp>
      <p:sp>
        <p:nvSpPr>
          <p:cNvPr id="27" name="Shape 24"/>
          <p:cNvSpPr/>
          <p:nvPr/>
        </p:nvSpPr>
        <p:spPr>
          <a:xfrm>
            <a:off x="676656" y="3355848"/>
            <a:ext cx="1779422" cy="365760"/>
          </a:xfrm>
          <a:prstGeom prst="rect">
            <a:avLst/>
          </a:prstGeom>
          <a:solidFill>
            <a:srgbClr val="FFFFFF"/>
          </a:solidFill>
          <a:ln/>
        </p:spPr>
      </p:sp>
      <p:sp>
        <p:nvSpPr>
          <p:cNvPr id="28" name="Shape 25"/>
          <p:cNvSpPr/>
          <p:nvPr/>
        </p:nvSpPr>
        <p:spPr>
          <a:xfrm>
            <a:off x="745236" y="3506724"/>
            <a:ext cx="64008" cy="64008"/>
          </a:xfrm>
          <a:prstGeom prst="ellipse">
            <a:avLst/>
          </a:prstGeom>
          <a:solidFill>
            <a:srgbClr val="B08D57"/>
          </a:solidFill>
          <a:ln/>
        </p:spPr>
      </p:sp>
      <p:sp>
        <p:nvSpPr>
          <p:cNvPr id="29" name="Text 26"/>
          <p:cNvSpPr txBox="1"/>
          <p:nvPr/>
        </p:nvSpPr>
        <p:spPr>
          <a:xfrm>
            <a:off x="886968" y="3355848"/>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M&amp;A寄与売上</a:t>
            </a:r>
            <a:endParaRPr lang="ja-JP" sz="1100" dirty="0"/>
          </a:p>
        </p:txBody>
      </p:sp>
      <p:sp>
        <p:nvSpPr>
          <p:cNvPr id="30" name="Shape 27"/>
          <p:cNvSpPr/>
          <p:nvPr/>
        </p:nvSpPr>
        <p:spPr>
          <a:xfrm>
            <a:off x="676656" y="3794760"/>
            <a:ext cx="1779422" cy="365760"/>
          </a:xfrm>
          <a:prstGeom prst="rect">
            <a:avLst/>
          </a:prstGeom>
          <a:solidFill>
            <a:srgbClr val="FFFFFF"/>
          </a:solidFill>
          <a:ln/>
        </p:spPr>
      </p:sp>
      <p:sp>
        <p:nvSpPr>
          <p:cNvPr id="31" name="Shape 28"/>
          <p:cNvSpPr/>
          <p:nvPr/>
        </p:nvSpPr>
        <p:spPr>
          <a:xfrm>
            <a:off x="745236" y="3945636"/>
            <a:ext cx="64008" cy="64008"/>
          </a:xfrm>
          <a:prstGeom prst="ellipse">
            <a:avLst/>
          </a:prstGeom>
          <a:solidFill>
            <a:srgbClr val="B08D57"/>
          </a:solidFill>
          <a:ln/>
        </p:spPr>
      </p:sp>
      <p:sp>
        <p:nvSpPr>
          <p:cNvPr id="32" name="Text 29"/>
          <p:cNvSpPr txBox="1"/>
          <p:nvPr/>
        </p:nvSpPr>
        <p:spPr>
          <a:xfrm>
            <a:off x="886968" y="3794760"/>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新規事業売上</a:t>
            </a:r>
            <a:endParaRPr lang="ja-JP" sz="1100" dirty="0"/>
          </a:p>
        </p:txBody>
      </p:sp>
      <p:sp>
        <p:nvSpPr>
          <p:cNvPr id="33" name="Shape 30"/>
          <p:cNvSpPr/>
          <p:nvPr/>
        </p:nvSpPr>
        <p:spPr>
          <a:xfrm>
            <a:off x="731520" y="5138928"/>
            <a:ext cx="1673352" cy="0"/>
          </a:xfrm>
          <a:prstGeom prst="line">
            <a:avLst/>
          </a:prstGeom>
          <a:noFill/>
          <a:ln w="9525">
            <a:solidFill>
              <a:srgbClr val="C9D1DC"/>
            </a:solidFill>
            <a:prstDash val="solid"/>
          </a:ln>
        </p:spPr>
      </p:sp>
      <p:sp>
        <p:nvSpPr>
          <p:cNvPr id="34" name="Text 31"/>
          <p:cNvSpPr txBox="1"/>
          <p:nvPr/>
        </p:nvSpPr>
        <p:spPr>
          <a:xfrm>
            <a:off x="731520" y="5193792"/>
            <a:ext cx="173736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FY2031 目標</a:t>
            </a:r>
            <a:endParaRPr lang="ja-JP" sz="1000" dirty="0"/>
          </a:p>
        </p:txBody>
      </p:sp>
      <p:sp>
        <p:nvSpPr>
          <p:cNvPr id="35" name="Text 32"/>
          <p:cNvSpPr txBox="1"/>
          <p:nvPr/>
        </p:nvSpPr>
        <p:spPr>
          <a:xfrm>
            <a:off x="731520" y="5394960"/>
            <a:ext cx="1737360" cy="237744"/>
          </a:xfrm>
          <a:prstGeom prst="rect">
            <a:avLst/>
          </a:prstGeom>
          <a:noFill/>
          <a:ln/>
        </p:spPr>
        <p:txBody>
          <a:bodyPr wrap="square" lIns="0" tIns="0" rIns="0" bIns="0" rtlCol="0" anchor="ctr"/>
          <a:lstStyle/>
          <a:p>
            <a:pPr algn="l" indent="0" marL="0">
              <a:buNone/>
            </a:pPr>
            <a:r>
              <a:rPr lang="ja-JP" altLang="en-US" sz="1200" b="1" dirty="0">
                <a:solidFill>
                  <a:srgbClr val="8C6D3F"/>
                </a:solidFill>
                <a:latin typeface="Yu Gothic" pitchFamily="34" charset="0"/>
                <a:ea typeface="Yu Gothic" charset="-128"/>
                <a:cs typeface="Yu Gothic" pitchFamily="34" charset="-120"/>
              </a:rPr>
              <a:t>30億円（暫定）</a:t>
            </a:r>
            <a:endParaRPr lang="ja-JP" sz="1200" dirty="0"/>
          </a:p>
        </p:txBody>
      </p:sp>
      <p:sp>
        <p:nvSpPr>
          <p:cNvPr id="36" name="Shape 33"/>
          <p:cNvSpPr/>
          <p:nvPr/>
        </p:nvSpPr>
        <p:spPr>
          <a:xfrm>
            <a:off x="2812694" y="1691640"/>
            <a:ext cx="2035454" cy="4050792"/>
          </a:xfrm>
          <a:prstGeom prst="rect">
            <a:avLst/>
          </a:prstGeom>
          <a:solidFill>
            <a:srgbClr val="F3F5F8"/>
          </a:solidFill>
          <a:ln/>
        </p:spPr>
      </p:sp>
      <p:sp>
        <p:nvSpPr>
          <p:cNvPr id="37" name="Text 34"/>
          <p:cNvSpPr txBox="1"/>
          <p:nvPr/>
        </p:nvSpPr>
        <p:spPr>
          <a:xfrm>
            <a:off x="2995574" y="1819656"/>
            <a:ext cx="1737360" cy="274320"/>
          </a:xfrm>
          <a:prstGeom prst="rect">
            <a:avLst/>
          </a:prstGeom>
          <a:noFill/>
          <a:ln/>
        </p:spPr>
        <p:txBody>
          <a:bodyPr wrap="square" lIns="0" tIns="0" rIns="0" bIns="0" rtlCol="0" anchor="ctr"/>
          <a:lstStyle/>
          <a:p>
            <a:pPr algn="l" indent="0" marL="0">
              <a:buNone/>
            </a:pPr>
            <a:r>
              <a:rPr lang="en-US" altLang="en-US" sz="1300" b="1" spc="100" kern="0" dirty="0">
                <a:solidFill>
                  <a:srgbClr val="14284B"/>
                </a:solidFill>
                <a:latin typeface="Arial" pitchFamily="34" charset="0"/>
                <a:ea typeface="Arial" charset="-128"/>
                <a:cs typeface="Arial" pitchFamily="34" charset="-120"/>
              </a:rPr>
              <a:t>PROFIT</a:t>
            </a:r>
            <a:endParaRPr lang="en-US" sz="1300" dirty="0"/>
          </a:p>
        </p:txBody>
      </p:sp>
      <p:sp>
        <p:nvSpPr>
          <p:cNvPr id="38" name="Text 35"/>
          <p:cNvSpPr txBox="1"/>
          <p:nvPr/>
        </p:nvSpPr>
        <p:spPr>
          <a:xfrm>
            <a:off x="2995574" y="2093976"/>
            <a:ext cx="1737360" cy="256032"/>
          </a:xfrm>
          <a:prstGeom prst="rect">
            <a:avLst/>
          </a:prstGeom>
          <a:noFill/>
          <a:ln/>
        </p:spPr>
        <p:txBody>
          <a:bodyPr wrap="square" lIns="0" tIns="0" rIns="0" bIns="0" rtlCol="0" anchor="ctr"/>
          <a:lstStyle/>
          <a:p>
            <a:pPr algn="l" indent="0" marL="0">
              <a:buNone/>
            </a:pPr>
            <a:r>
              <a:rPr lang="ja-JP" altLang="en-US" sz="1200" dirty="0">
                <a:solidFill>
                  <a:srgbClr val="5B6675"/>
                </a:solidFill>
                <a:latin typeface="Yu Gothic Medium" pitchFamily="34" charset="0"/>
                <a:ea typeface="Yu Gothic Medium" charset="-128"/>
                <a:cs typeface="Yu Gothic Medium" pitchFamily="34" charset="-120"/>
              </a:rPr>
              <a:t>利益</a:t>
            </a:r>
            <a:endParaRPr lang="ja-JP" sz="1200" dirty="0"/>
          </a:p>
        </p:txBody>
      </p:sp>
      <p:sp>
        <p:nvSpPr>
          <p:cNvPr id="39" name="Shape 36"/>
          <p:cNvSpPr/>
          <p:nvPr/>
        </p:nvSpPr>
        <p:spPr>
          <a:xfrm>
            <a:off x="2940710" y="2478024"/>
            <a:ext cx="1779422" cy="365760"/>
          </a:xfrm>
          <a:prstGeom prst="rect">
            <a:avLst/>
          </a:prstGeom>
          <a:solidFill>
            <a:srgbClr val="FFFFFF"/>
          </a:solidFill>
          <a:ln/>
        </p:spPr>
      </p:sp>
      <p:sp>
        <p:nvSpPr>
          <p:cNvPr id="40" name="Shape 37"/>
          <p:cNvSpPr/>
          <p:nvPr/>
        </p:nvSpPr>
        <p:spPr>
          <a:xfrm>
            <a:off x="3009290" y="2628900"/>
            <a:ext cx="64008" cy="64008"/>
          </a:xfrm>
          <a:prstGeom prst="ellipse">
            <a:avLst/>
          </a:prstGeom>
          <a:solidFill>
            <a:srgbClr val="B08D57"/>
          </a:solidFill>
          <a:ln/>
        </p:spPr>
      </p:sp>
      <p:sp>
        <p:nvSpPr>
          <p:cNvPr id="41" name="Text 38"/>
          <p:cNvSpPr txBox="1"/>
          <p:nvPr/>
        </p:nvSpPr>
        <p:spPr>
          <a:xfrm>
            <a:off x="3151022" y="247802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営業利益</a:t>
            </a:r>
            <a:endParaRPr lang="ja-JP" sz="1100" dirty="0"/>
          </a:p>
        </p:txBody>
      </p:sp>
      <p:sp>
        <p:nvSpPr>
          <p:cNvPr id="42" name="Shape 39"/>
          <p:cNvSpPr/>
          <p:nvPr/>
        </p:nvSpPr>
        <p:spPr>
          <a:xfrm>
            <a:off x="2940710" y="2916936"/>
            <a:ext cx="1779422" cy="365760"/>
          </a:xfrm>
          <a:prstGeom prst="rect">
            <a:avLst/>
          </a:prstGeom>
          <a:solidFill>
            <a:srgbClr val="FFFFFF"/>
          </a:solidFill>
          <a:ln/>
        </p:spPr>
      </p:sp>
      <p:sp>
        <p:nvSpPr>
          <p:cNvPr id="43" name="Shape 40"/>
          <p:cNvSpPr/>
          <p:nvPr/>
        </p:nvSpPr>
        <p:spPr>
          <a:xfrm>
            <a:off x="3009290" y="3067812"/>
            <a:ext cx="64008" cy="64008"/>
          </a:xfrm>
          <a:prstGeom prst="ellipse">
            <a:avLst/>
          </a:prstGeom>
          <a:solidFill>
            <a:srgbClr val="B08D57"/>
          </a:solidFill>
          <a:ln/>
        </p:spPr>
      </p:sp>
      <p:sp>
        <p:nvSpPr>
          <p:cNvPr id="44" name="Text 41"/>
          <p:cNvSpPr txBox="1"/>
          <p:nvPr/>
        </p:nvSpPr>
        <p:spPr>
          <a:xfrm>
            <a:off x="3151022" y="2916936"/>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営業利益率</a:t>
            </a:r>
            <a:endParaRPr lang="ja-JP" sz="1100" dirty="0"/>
          </a:p>
        </p:txBody>
      </p:sp>
      <p:sp>
        <p:nvSpPr>
          <p:cNvPr id="45" name="Shape 42"/>
          <p:cNvSpPr/>
          <p:nvPr/>
        </p:nvSpPr>
        <p:spPr>
          <a:xfrm>
            <a:off x="2940710" y="3355848"/>
            <a:ext cx="1779422" cy="365760"/>
          </a:xfrm>
          <a:prstGeom prst="rect">
            <a:avLst/>
          </a:prstGeom>
          <a:solidFill>
            <a:srgbClr val="FFFFFF"/>
          </a:solidFill>
          <a:ln/>
        </p:spPr>
      </p:sp>
      <p:sp>
        <p:nvSpPr>
          <p:cNvPr id="46" name="Shape 43"/>
          <p:cNvSpPr/>
          <p:nvPr/>
        </p:nvSpPr>
        <p:spPr>
          <a:xfrm>
            <a:off x="3009290" y="3506724"/>
            <a:ext cx="64008" cy="64008"/>
          </a:xfrm>
          <a:prstGeom prst="ellipse">
            <a:avLst/>
          </a:prstGeom>
          <a:solidFill>
            <a:srgbClr val="B08D57"/>
          </a:solidFill>
          <a:ln/>
        </p:spPr>
      </p:sp>
      <p:sp>
        <p:nvSpPr>
          <p:cNvPr id="47" name="Text 44"/>
          <p:cNvSpPr txBox="1"/>
          <p:nvPr/>
        </p:nvSpPr>
        <p:spPr>
          <a:xfrm>
            <a:off x="3151022" y="3355848"/>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EBITDA</a:t>
            </a:r>
            <a:endParaRPr lang="ja-JP" sz="1100" dirty="0"/>
          </a:p>
        </p:txBody>
      </p:sp>
      <p:sp>
        <p:nvSpPr>
          <p:cNvPr id="48" name="Shape 45"/>
          <p:cNvSpPr/>
          <p:nvPr/>
        </p:nvSpPr>
        <p:spPr>
          <a:xfrm>
            <a:off x="2940710" y="3794760"/>
            <a:ext cx="1779422" cy="365760"/>
          </a:xfrm>
          <a:prstGeom prst="rect">
            <a:avLst/>
          </a:prstGeom>
          <a:solidFill>
            <a:srgbClr val="FFFFFF"/>
          </a:solidFill>
          <a:ln/>
        </p:spPr>
      </p:sp>
      <p:sp>
        <p:nvSpPr>
          <p:cNvPr id="49" name="Shape 46"/>
          <p:cNvSpPr/>
          <p:nvPr/>
        </p:nvSpPr>
        <p:spPr>
          <a:xfrm>
            <a:off x="3009290" y="3945636"/>
            <a:ext cx="64008" cy="64008"/>
          </a:xfrm>
          <a:prstGeom prst="ellipse">
            <a:avLst/>
          </a:prstGeom>
          <a:solidFill>
            <a:srgbClr val="B08D57"/>
          </a:solidFill>
          <a:ln/>
        </p:spPr>
      </p:sp>
      <p:sp>
        <p:nvSpPr>
          <p:cNvPr id="50" name="Text 47"/>
          <p:cNvSpPr txBox="1"/>
          <p:nvPr/>
        </p:nvSpPr>
        <p:spPr>
          <a:xfrm>
            <a:off x="3151022" y="3794760"/>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ROIC</a:t>
            </a:r>
            <a:endParaRPr lang="ja-JP" sz="1100" dirty="0"/>
          </a:p>
        </p:txBody>
      </p:sp>
      <p:sp>
        <p:nvSpPr>
          <p:cNvPr id="51" name="Shape 48"/>
          <p:cNvSpPr/>
          <p:nvPr/>
        </p:nvSpPr>
        <p:spPr>
          <a:xfrm>
            <a:off x="2995574" y="5138928"/>
            <a:ext cx="1673352" cy="0"/>
          </a:xfrm>
          <a:prstGeom prst="line">
            <a:avLst/>
          </a:prstGeom>
          <a:noFill/>
          <a:ln w="9525">
            <a:solidFill>
              <a:srgbClr val="C9D1DC"/>
            </a:solidFill>
            <a:prstDash val="solid"/>
          </a:ln>
        </p:spPr>
      </p:sp>
      <p:sp>
        <p:nvSpPr>
          <p:cNvPr id="52" name="Text 49"/>
          <p:cNvSpPr txBox="1"/>
          <p:nvPr/>
        </p:nvSpPr>
        <p:spPr>
          <a:xfrm>
            <a:off x="2995574" y="5193792"/>
            <a:ext cx="173736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FY2031 目標</a:t>
            </a:r>
            <a:endParaRPr lang="ja-JP" sz="1000" dirty="0"/>
          </a:p>
        </p:txBody>
      </p:sp>
      <p:sp>
        <p:nvSpPr>
          <p:cNvPr id="53" name="Text 50"/>
          <p:cNvSpPr txBox="1"/>
          <p:nvPr/>
        </p:nvSpPr>
        <p:spPr>
          <a:xfrm>
            <a:off x="2995574" y="5394960"/>
            <a:ext cx="1737360" cy="237744"/>
          </a:xfrm>
          <a:prstGeom prst="rect">
            <a:avLst/>
          </a:prstGeom>
          <a:noFill/>
          <a:ln/>
        </p:spPr>
        <p:txBody>
          <a:bodyPr wrap="square" lIns="0" tIns="0" rIns="0" bIns="0" rtlCol="0" anchor="ctr"/>
          <a:lstStyle/>
          <a:p>
            <a:pPr algn="l" indent="0" marL="0">
              <a:buNone/>
            </a:pPr>
            <a:r>
              <a:rPr lang="ja-JP" altLang="en-US" sz="1100" b="1" dirty="0">
                <a:solidFill>
                  <a:srgbClr val="5B6675"/>
                </a:solidFill>
                <a:latin typeface="Yu Gothic" pitchFamily="34" charset="0"/>
                <a:ea typeface="Yu Gothic" charset="-128"/>
                <a:cs typeface="Yu Gothic" pitchFamily="34" charset="-120"/>
              </a:rPr>
              <a:t>財務モデル策定後に確定</a:t>
            </a:r>
            <a:endParaRPr lang="ja-JP" sz="1100" dirty="0"/>
          </a:p>
        </p:txBody>
      </p:sp>
      <p:sp>
        <p:nvSpPr>
          <p:cNvPr id="54" name="Shape 51"/>
          <p:cNvSpPr/>
          <p:nvPr/>
        </p:nvSpPr>
        <p:spPr>
          <a:xfrm>
            <a:off x="5076749" y="1691640"/>
            <a:ext cx="2035454" cy="4050792"/>
          </a:xfrm>
          <a:prstGeom prst="rect">
            <a:avLst/>
          </a:prstGeom>
          <a:solidFill>
            <a:srgbClr val="F3F5F8"/>
          </a:solidFill>
          <a:ln/>
        </p:spPr>
      </p:sp>
      <p:sp>
        <p:nvSpPr>
          <p:cNvPr id="55" name="Text 52"/>
          <p:cNvSpPr txBox="1"/>
          <p:nvPr/>
        </p:nvSpPr>
        <p:spPr>
          <a:xfrm>
            <a:off x="5259629" y="1819656"/>
            <a:ext cx="1737360" cy="274320"/>
          </a:xfrm>
          <a:prstGeom prst="rect">
            <a:avLst/>
          </a:prstGeom>
          <a:noFill/>
          <a:ln/>
        </p:spPr>
        <p:txBody>
          <a:bodyPr wrap="square" lIns="0" tIns="0" rIns="0" bIns="0" rtlCol="0" anchor="ctr"/>
          <a:lstStyle/>
          <a:p>
            <a:pPr algn="l" indent="0" marL="0">
              <a:buNone/>
            </a:pPr>
            <a:r>
              <a:rPr lang="en-US" altLang="en-US" sz="1300" b="1" spc="100" kern="0" dirty="0">
                <a:solidFill>
                  <a:srgbClr val="14284B"/>
                </a:solidFill>
                <a:latin typeface="Arial" pitchFamily="34" charset="0"/>
                <a:ea typeface="Arial" charset="-128"/>
                <a:cs typeface="Arial" pitchFamily="34" charset="-120"/>
              </a:rPr>
              <a:t>CASH</a:t>
            </a:r>
            <a:endParaRPr lang="en-US" sz="1300" dirty="0"/>
          </a:p>
        </p:txBody>
      </p:sp>
      <p:sp>
        <p:nvSpPr>
          <p:cNvPr id="56" name="Text 53"/>
          <p:cNvSpPr txBox="1"/>
          <p:nvPr/>
        </p:nvSpPr>
        <p:spPr>
          <a:xfrm>
            <a:off x="5259629" y="2093976"/>
            <a:ext cx="1737360" cy="256032"/>
          </a:xfrm>
          <a:prstGeom prst="rect">
            <a:avLst/>
          </a:prstGeom>
          <a:noFill/>
          <a:ln/>
        </p:spPr>
        <p:txBody>
          <a:bodyPr wrap="square" lIns="0" tIns="0" rIns="0" bIns="0" rtlCol="0" anchor="ctr"/>
          <a:lstStyle/>
          <a:p>
            <a:pPr algn="l" indent="0" marL="0">
              <a:buNone/>
            </a:pPr>
            <a:r>
              <a:rPr lang="ja-JP" altLang="en-US" sz="1200" dirty="0">
                <a:solidFill>
                  <a:srgbClr val="5B6675"/>
                </a:solidFill>
                <a:latin typeface="Yu Gothic Medium" pitchFamily="34" charset="0"/>
                <a:ea typeface="Yu Gothic Medium" charset="-128"/>
                <a:cs typeface="Yu Gothic Medium" pitchFamily="34" charset="-120"/>
              </a:rPr>
              <a:t>キャッシュ</a:t>
            </a:r>
            <a:endParaRPr lang="ja-JP" sz="1200" dirty="0"/>
          </a:p>
        </p:txBody>
      </p:sp>
      <p:sp>
        <p:nvSpPr>
          <p:cNvPr id="57" name="Shape 54"/>
          <p:cNvSpPr/>
          <p:nvPr/>
        </p:nvSpPr>
        <p:spPr>
          <a:xfrm>
            <a:off x="5204765" y="2478024"/>
            <a:ext cx="1779422" cy="365760"/>
          </a:xfrm>
          <a:prstGeom prst="rect">
            <a:avLst/>
          </a:prstGeom>
          <a:solidFill>
            <a:srgbClr val="FFFFFF"/>
          </a:solidFill>
          <a:ln/>
        </p:spPr>
      </p:sp>
      <p:sp>
        <p:nvSpPr>
          <p:cNvPr id="58" name="Shape 55"/>
          <p:cNvSpPr/>
          <p:nvPr/>
        </p:nvSpPr>
        <p:spPr>
          <a:xfrm>
            <a:off x="5273345" y="2628900"/>
            <a:ext cx="64008" cy="64008"/>
          </a:xfrm>
          <a:prstGeom prst="ellipse">
            <a:avLst/>
          </a:prstGeom>
          <a:solidFill>
            <a:srgbClr val="B08D57"/>
          </a:solidFill>
          <a:ln/>
        </p:spPr>
      </p:sp>
      <p:sp>
        <p:nvSpPr>
          <p:cNvPr id="59" name="Text 56"/>
          <p:cNvSpPr txBox="1"/>
          <p:nvPr/>
        </p:nvSpPr>
        <p:spPr>
          <a:xfrm>
            <a:off x="5415077" y="247802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営業CF</a:t>
            </a:r>
            <a:endParaRPr lang="ja-JP" sz="1100" dirty="0"/>
          </a:p>
        </p:txBody>
      </p:sp>
      <p:sp>
        <p:nvSpPr>
          <p:cNvPr id="60" name="Shape 57"/>
          <p:cNvSpPr/>
          <p:nvPr/>
        </p:nvSpPr>
        <p:spPr>
          <a:xfrm>
            <a:off x="5204765" y="2916936"/>
            <a:ext cx="1779422" cy="365760"/>
          </a:xfrm>
          <a:prstGeom prst="rect">
            <a:avLst/>
          </a:prstGeom>
          <a:solidFill>
            <a:srgbClr val="FFFFFF"/>
          </a:solidFill>
          <a:ln/>
        </p:spPr>
      </p:sp>
      <p:sp>
        <p:nvSpPr>
          <p:cNvPr id="61" name="Shape 58"/>
          <p:cNvSpPr/>
          <p:nvPr/>
        </p:nvSpPr>
        <p:spPr>
          <a:xfrm>
            <a:off x="5273345" y="3067812"/>
            <a:ext cx="64008" cy="64008"/>
          </a:xfrm>
          <a:prstGeom prst="ellipse">
            <a:avLst/>
          </a:prstGeom>
          <a:solidFill>
            <a:srgbClr val="B08D57"/>
          </a:solidFill>
          <a:ln/>
        </p:spPr>
      </p:sp>
      <p:sp>
        <p:nvSpPr>
          <p:cNvPr id="62" name="Text 59"/>
          <p:cNvSpPr txBox="1"/>
          <p:nvPr/>
        </p:nvSpPr>
        <p:spPr>
          <a:xfrm>
            <a:off x="5415077" y="2916936"/>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現預金</a:t>
            </a:r>
            <a:endParaRPr lang="ja-JP" sz="1100" dirty="0"/>
          </a:p>
        </p:txBody>
      </p:sp>
      <p:sp>
        <p:nvSpPr>
          <p:cNvPr id="63" name="Shape 60"/>
          <p:cNvSpPr/>
          <p:nvPr/>
        </p:nvSpPr>
        <p:spPr>
          <a:xfrm>
            <a:off x="5204765" y="3355848"/>
            <a:ext cx="1779422" cy="365760"/>
          </a:xfrm>
          <a:prstGeom prst="rect">
            <a:avLst/>
          </a:prstGeom>
          <a:solidFill>
            <a:srgbClr val="FFFFFF"/>
          </a:solidFill>
          <a:ln/>
        </p:spPr>
      </p:sp>
      <p:sp>
        <p:nvSpPr>
          <p:cNvPr id="64" name="Shape 61"/>
          <p:cNvSpPr/>
          <p:nvPr/>
        </p:nvSpPr>
        <p:spPr>
          <a:xfrm>
            <a:off x="5273345" y="3506724"/>
            <a:ext cx="64008" cy="64008"/>
          </a:xfrm>
          <a:prstGeom prst="ellipse">
            <a:avLst/>
          </a:prstGeom>
          <a:solidFill>
            <a:srgbClr val="B08D57"/>
          </a:solidFill>
          <a:ln/>
        </p:spPr>
      </p:sp>
      <p:sp>
        <p:nvSpPr>
          <p:cNvPr id="65" name="Text 62"/>
          <p:cNvSpPr txBox="1"/>
          <p:nvPr/>
        </p:nvSpPr>
        <p:spPr>
          <a:xfrm>
            <a:off x="5415077" y="3355848"/>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Net Debt</a:t>
            </a:r>
            <a:endParaRPr lang="ja-JP" sz="1100" dirty="0"/>
          </a:p>
        </p:txBody>
      </p:sp>
      <p:sp>
        <p:nvSpPr>
          <p:cNvPr id="66" name="Shape 63"/>
          <p:cNvSpPr/>
          <p:nvPr/>
        </p:nvSpPr>
        <p:spPr>
          <a:xfrm>
            <a:off x="5204765" y="3794760"/>
            <a:ext cx="1779422" cy="365760"/>
          </a:xfrm>
          <a:prstGeom prst="rect">
            <a:avLst/>
          </a:prstGeom>
          <a:solidFill>
            <a:srgbClr val="FFFFFF"/>
          </a:solidFill>
          <a:ln/>
        </p:spPr>
      </p:sp>
      <p:sp>
        <p:nvSpPr>
          <p:cNvPr id="67" name="Shape 64"/>
          <p:cNvSpPr/>
          <p:nvPr/>
        </p:nvSpPr>
        <p:spPr>
          <a:xfrm>
            <a:off x="5273345" y="3945636"/>
            <a:ext cx="64008" cy="64008"/>
          </a:xfrm>
          <a:prstGeom prst="ellipse">
            <a:avLst/>
          </a:prstGeom>
          <a:solidFill>
            <a:srgbClr val="B08D57"/>
          </a:solidFill>
          <a:ln/>
        </p:spPr>
      </p:sp>
      <p:sp>
        <p:nvSpPr>
          <p:cNvPr id="68" name="Text 65"/>
          <p:cNvSpPr txBox="1"/>
          <p:nvPr/>
        </p:nvSpPr>
        <p:spPr>
          <a:xfrm>
            <a:off x="5415077" y="3794760"/>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借入余力</a:t>
            </a:r>
            <a:endParaRPr lang="ja-JP" sz="1100" dirty="0"/>
          </a:p>
        </p:txBody>
      </p:sp>
      <p:sp>
        <p:nvSpPr>
          <p:cNvPr id="69" name="Shape 66"/>
          <p:cNvSpPr/>
          <p:nvPr/>
        </p:nvSpPr>
        <p:spPr>
          <a:xfrm>
            <a:off x="5259629" y="5138928"/>
            <a:ext cx="1673352" cy="0"/>
          </a:xfrm>
          <a:prstGeom prst="line">
            <a:avLst/>
          </a:prstGeom>
          <a:noFill/>
          <a:ln w="9525">
            <a:solidFill>
              <a:srgbClr val="C9D1DC"/>
            </a:solidFill>
            <a:prstDash val="solid"/>
          </a:ln>
        </p:spPr>
      </p:sp>
      <p:sp>
        <p:nvSpPr>
          <p:cNvPr id="70" name="Text 67"/>
          <p:cNvSpPr txBox="1"/>
          <p:nvPr/>
        </p:nvSpPr>
        <p:spPr>
          <a:xfrm>
            <a:off x="5259629" y="5193792"/>
            <a:ext cx="173736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FY2031 目標</a:t>
            </a:r>
            <a:endParaRPr lang="ja-JP" sz="1000" dirty="0"/>
          </a:p>
        </p:txBody>
      </p:sp>
      <p:sp>
        <p:nvSpPr>
          <p:cNvPr id="71" name="Text 68"/>
          <p:cNvSpPr txBox="1"/>
          <p:nvPr/>
        </p:nvSpPr>
        <p:spPr>
          <a:xfrm>
            <a:off x="5259629" y="5394960"/>
            <a:ext cx="1737360" cy="237744"/>
          </a:xfrm>
          <a:prstGeom prst="rect">
            <a:avLst/>
          </a:prstGeom>
          <a:noFill/>
          <a:ln/>
        </p:spPr>
        <p:txBody>
          <a:bodyPr wrap="square" lIns="0" tIns="0" rIns="0" bIns="0" rtlCol="0" anchor="ctr"/>
          <a:lstStyle/>
          <a:p>
            <a:pPr algn="l" indent="0" marL="0">
              <a:buNone/>
            </a:pPr>
            <a:r>
              <a:rPr lang="ja-JP" altLang="en-US" sz="1100" b="1" dirty="0">
                <a:solidFill>
                  <a:srgbClr val="5B6675"/>
                </a:solidFill>
                <a:latin typeface="Yu Gothic" pitchFamily="34" charset="0"/>
                <a:ea typeface="Yu Gothic" charset="-128"/>
                <a:cs typeface="Yu Gothic" pitchFamily="34" charset="-120"/>
              </a:rPr>
              <a:t>財務モデル策定後に確定</a:t>
            </a:r>
            <a:endParaRPr lang="ja-JP" sz="1100" dirty="0"/>
          </a:p>
        </p:txBody>
      </p:sp>
      <p:sp>
        <p:nvSpPr>
          <p:cNvPr id="72" name="Shape 69"/>
          <p:cNvSpPr/>
          <p:nvPr/>
        </p:nvSpPr>
        <p:spPr>
          <a:xfrm>
            <a:off x="7340803" y="1691640"/>
            <a:ext cx="2035454" cy="4050792"/>
          </a:xfrm>
          <a:prstGeom prst="rect">
            <a:avLst/>
          </a:prstGeom>
          <a:solidFill>
            <a:srgbClr val="F3F5F8"/>
          </a:solidFill>
          <a:ln/>
        </p:spPr>
      </p:sp>
      <p:sp>
        <p:nvSpPr>
          <p:cNvPr id="73" name="Text 70"/>
          <p:cNvSpPr txBox="1"/>
          <p:nvPr/>
        </p:nvSpPr>
        <p:spPr>
          <a:xfrm>
            <a:off x="7523683" y="1819656"/>
            <a:ext cx="1737360" cy="274320"/>
          </a:xfrm>
          <a:prstGeom prst="rect">
            <a:avLst/>
          </a:prstGeom>
          <a:noFill/>
          <a:ln/>
        </p:spPr>
        <p:txBody>
          <a:bodyPr wrap="square" lIns="0" tIns="0" rIns="0" bIns="0" rtlCol="0" anchor="ctr"/>
          <a:lstStyle/>
          <a:p>
            <a:pPr algn="l" indent="0" marL="0">
              <a:buNone/>
            </a:pPr>
            <a:r>
              <a:rPr lang="en-US" altLang="en-US" sz="1300" b="1" spc="100" kern="0" dirty="0">
                <a:solidFill>
                  <a:srgbClr val="14284B"/>
                </a:solidFill>
                <a:latin typeface="Arial" pitchFamily="34" charset="0"/>
                <a:ea typeface="Arial" charset="-128"/>
                <a:cs typeface="Arial" pitchFamily="34" charset="-120"/>
              </a:rPr>
              <a:t>ORGANIZATION</a:t>
            </a:r>
            <a:endParaRPr lang="en-US" sz="1300" dirty="0"/>
          </a:p>
        </p:txBody>
      </p:sp>
      <p:sp>
        <p:nvSpPr>
          <p:cNvPr id="74" name="Text 71"/>
          <p:cNvSpPr txBox="1"/>
          <p:nvPr/>
        </p:nvSpPr>
        <p:spPr>
          <a:xfrm>
            <a:off x="7523683" y="2093976"/>
            <a:ext cx="1737360" cy="256032"/>
          </a:xfrm>
          <a:prstGeom prst="rect">
            <a:avLst/>
          </a:prstGeom>
          <a:noFill/>
          <a:ln/>
        </p:spPr>
        <p:txBody>
          <a:bodyPr wrap="square" lIns="0" tIns="0" rIns="0" bIns="0" rtlCol="0" anchor="ctr"/>
          <a:lstStyle/>
          <a:p>
            <a:pPr algn="l" indent="0" marL="0">
              <a:buNone/>
            </a:pPr>
            <a:r>
              <a:rPr lang="ja-JP" altLang="en-US" sz="1200" dirty="0">
                <a:solidFill>
                  <a:srgbClr val="5B6675"/>
                </a:solidFill>
                <a:latin typeface="Yu Gothic Medium" pitchFamily="34" charset="0"/>
                <a:ea typeface="Yu Gothic Medium" charset="-128"/>
                <a:cs typeface="Yu Gothic Medium" pitchFamily="34" charset="-120"/>
              </a:rPr>
              <a:t>組織</a:t>
            </a:r>
            <a:endParaRPr lang="ja-JP" sz="1200" dirty="0"/>
          </a:p>
        </p:txBody>
      </p:sp>
      <p:sp>
        <p:nvSpPr>
          <p:cNvPr id="75" name="Shape 72"/>
          <p:cNvSpPr/>
          <p:nvPr/>
        </p:nvSpPr>
        <p:spPr>
          <a:xfrm>
            <a:off x="7468819" y="2478024"/>
            <a:ext cx="1779422" cy="365760"/>
          </a:xfrm>
          <a:prstGeom prst="rect">
            <a:avLst/>
          </a:prstGeom>
          <a:solidFill>
            <a:srgbClr val="FFFFFF"/>
          </a:solidFill>
          <a:ln/>
        </p:spPr>
      </p:sp>
      <p:sp>
        <p:nvSpPr>
          <p:cNvPr id="76" name="Shape 73"/>
          <p:cNvSpPr/>
          <p:nvPr/>
        </p:nvSpPr>
        <p:spPr>
          <a:xfrm>
            <a:off x="7537399" y="2628900"/>
            <a:ext cx="64008" cy="64008"/>
          </a:xfrm>
          <a:prstGeom prst="ellipse">
            <a:avLst/>
          </a:prstGeom>
          <a:solidFill>
            <a:srgbClr val="B08D57"/>
          </a:solidFill>
          <a:ln/>
        </p:spPr>
      </p:sp>
      <p:sp>
        <p:nvSpPr>
          <p:cNvPr id="77" name="Text 74"/>
          <p:cNvSpPr txBox="1"/>
          <p:nvPr/>
        </p:nvSpPr>
        <p:spPr>
          <a:xfrm>
            <a:off x="7679131" y="247802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子会社社長配置率</a:t>
            </a:r>
            <a:endParaRPr lang="ja-JP" sz="1100" dirty="0"/>
          </a:p>
        </p:txBody>
      </p:sp>
      <p:sp>
        <p:nvSpPr>
          <p:cNvPr id="78" name="Shape 75"/>
          <p:cNvSpPr/>
          <p:nvPr/>
        </p:nvSpPr>
        <p:spPr>
          <a:xfrm>
            <a:off x="7468819" y="2916936"/>
            <a:ext cx="1779422" cy="365760"/>
          </a:xfrm>
          <a:prstGeom prst="rect">
            <a:avLst/>
          </a:prstGeom>
          <a:solidFill>
            <a:srgbClr val="FFFFFF"/>
          </a:solidFill>
          <a:ln/>
        </p:spPr>
      </p:sp>
      <p:sp>
        <p:nvSpPr>
          <p:cNvPr id="79" name="Shape 76"/>
          <p:cNvSpPr/>
          <p:nvPr/>
        </p:nvSpPr>
        <p:spPr>
          <a:xfrm>
            <a:off x="7537399" y="3067812"/>
            <a:ext cx="64008" cy="64008"/>
          </a:xfrm>
          <a:prstGeom prst="ellipse">
            <a:avLst/>
          </a:prstGeom>
          <a:solidFill>
            <a:srgbClr val="B08D57"/>
          </a:solidFill>
          <a:ln/>
        </p:spPr>
      </p:sp>
      <p:sp>
        <p:nvSpPr>
          <p:cNvPr id="80" name="Text 77"/>
          <p:cNvSpPr txBox="1"/>
          <p:nvPr/>
        </p:nvSpPr>
        <p:spPr>
          <a:xfrm>
            <a:off x="7679131" y="2916936"/>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幹部人数</a:t>
            </a:r>
            <a:endParaRPr lang="ja-JP" sz="1100" dirty="0"/>
          </a:p>
        </p:txBody>
      </p:sp>
      <p:sp>
        <p:nvSpPr>
          <p:cNvPr id="81" name="Shape 78"/>
          <p:cNvSpPr/>
          <p:nvPr/>
        </p:nvSpPr>
        <p:spPr>
          <a:xfrm>
            <a:off x="7468819" y="3355848"/>
            <a:ext cx="1779422" cy="365760"/>
          </a:xfrm>
          <a:prstGeom prst="rect">
            <a:avLst/>
          </a:prstGeom>
          <a:solidFill>
            <a:srgbClr val="FFFFFF"/>
          </a:solidFill>
          <a:ln/>
        </p:spPr>
      </p:sp>
      <p:sp>
        <p:nvSpPr>
          <p:cNvPr id="82" name="Shape 79"/>
          <p:cNvSpPr/>
          <p:nvPr/>
        </p:nvSpPr>
        <p:spPr>
          <a:xfrm>
            <a:off x="7537399" y="3506724"/>
            <a:ext cx="64008" cy="64008"/>
          </a:xfrm>
          <a:prstGeom prst="ellipse">
            <a:avLst/>
          </a:prstGeom>
          <a:solidFill>
            <a:srgbClr val="B08D57"/>
          </a:solidFill>
          <a:ln/>
        </p:spPr>
      </p:sp>
      <p:sp>
        <p:nvSpPr>
          <p:cNvPr id="83" name="Text 80"/>
          <p:cNvSpPr txBox="1"/>
          <p:nvPr/>
        </p:nvSpPr>
        <p:spPr>
          <a:xfrm>
            <a:off x="7679131" y="3355848"/>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重要ポジション充足率</a:t>
            </a:r>
            <a:endParaRPr lang="ja-JP" sz="1100" dirty="0"/>
          </a:p>
        </p:txBody>
      </p:sp>
      <p:sp>
        <p:nvSpPr>
          <p:cNvPr id="84" name="Shape 81"/>
          <p:cNvSpPr/>
          <p:nvPr/>
        </p:nvSpPr>
        <p:spPr>
          <a:xfrm>
            <a:off x="7468819" y="3794760"/>
            <a:ext cx="1779422" cy="365760"/>
          </a:xfrm>
          <a:prstGeom prst="rect">
            <a:avLst/>
          </a:prstGeom>
          <a:solidFill>
            <a:srgbClr val="FFFFFF"/>
          </a:solidFill>
          <a:ln/>
        </p:spPr>
      </p:sp>
      <p:sp>
        <p:nvSpPr>
          <p:cNvPr id="85" name="Shape 82"/>
          <p:cNvSpPr/>
          <p:nvPr/>
        </p:nvSpPr>
        <p:spPr>
          <a:xfrm>
            <a:off x="7537399" y="3945636"/>
            <a:ext cx="64008" cy="64008"/>
          </a:xfrm>
          <a:prstGeom prst="ellipse">
            <a:avLst/>
          </a:prstGeom>
          <a:solidFill>
            <a:srgbClr val="B08D57"/>
          </a:solidFill>
          <a:ln/>
        </p:spPr>
      </p:sp>
      <p:sp>
        <p:nvSpPr>
          <p:cNvPr id="86" name="Text 83"/>
          <p:cNvSpPr txBox="1"/>
          <p:nvPr/>
        </p:nvSpPr>
        <p:spPr>
          <a:xfrm>
            <a:off x="7679131" y="3794760"/>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創業者依存業務数</a:t>
            </a:r>
            <a:endParaRPr lang="ja-JP" sz="1100" dirty="0"/>
          </a:p>
        </p:txBody>
      </p:sp>
      <p:sp>
        <p:nvSpPr>
          <p:cNvPr id="87" name="Shape 84"/>
          <p:cNvSpPr/>
          <p:nvPr/>
        </p:nvSpPr>
        <p:spPr>
          <a:xfrm>
            <a:off x="7523683" y="5138928"/>
            <a:ext cx="1673352" cy="0"/>
          </a:xfrm>
          <a:prstGeom prst="line">
            <a:avLst/>
          </a:prstGeom>
          <a:noFill/>
          <a:ln w="9525">
            <a:solidFill>
              <a:srgbClr val="C9D1DC"/>
            </a:solidFill>
            <a:prstDash val="solid"/>
          </a:ln>
        </p:spPr>
      </p:sp>
      <p:sp>
        <p:nvSpPr>
          <p:cNvPr id="88" name="Text 85"/>
          <p:cNvSpPr txBox="1"/>
          <p:nvPr/>
        </p:nvSpPr>
        <p:spPr>
          <a:xfrm>
            <a:off x="7523683" y="5193792"/>
            <a:ext cx="173736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FY2031 目標</a:t>
            </a:r>
            <a:endParaRPr lang="ja-JP" sz="1000" dirty="0"/>
          </a:p>
        </p:txBody>
      </p:sp>
      <p:sp>
        <p:nvSpPr>
          <p:cNvPr id="89" name="Text 86"/>
          <p:cNvSpPr txBox="1"/>
          <p:nvPr/>
        </p:nvSpPr>
        <p:spPr>
          <a:xfrm>
            <a:off x="7523683" y="5394960"/>
            <a:ext cx="1737360" cy="237744"/>
          </a:xfrm>
          <a:prstGeom prst="rect">
            <a:avLst/>
          </a:prstGeom>
          <a:noFill/>
          <a:ln/>
        </p:spPr>
        <p:txBody>
          <a:bodyPr wrap="square" lIns="0" tIns="0" rIns="0" bIns="0" rtlCol="0" anchor="ctr"/>
          <a:lstStyle/>
          <a:p>
            <a:pPr algn="l" indent="0" marL="0">
              <a:buNone/>
            </a:pPr>
            <a:r>
              <a:rPr lang="ja-JP" altLang="en-US" sz="1100" b="1" dirty="0">
                <a:solidFill>
                  <a:srgbClr val="5B6675"/>
                </a:solidFill>
                <a:latin typeface="Yu Gothic" pitchFamily="34" charset="0"/>
                <a:ea typeface="Yu Gothic" charset="-128"/>
                <a:cs typeface="Yu Gothic" pitchFamily="34" charset="-120"/>
              </a:rPr>
              <a:t>財務モデル策定後に確定</a:t>
            </a:r>
            <a:endParaRPr lang="ja-JP" sz="1100" dirty="0"/>
          </a:p>
        </p:txBody>
      </p:sp>
      <p:sp>
        <p:nvSpPr>
          <p:cNvPr id="90" name="Shape 87"/>
          <p:cNvSpPr/>
          <p:nvPr/>
        </p:nvSpPr>
        <p:spPr>
          <a:xfrm>
            <a:off x="9604858" y="1691640"/>
            <a:ext cx="2035454" cy="4050792"/>
          </a:xfrm>
          <a:prstGeom prst="rect">
            <a:avLst/>
          </a:prstGeom>
          <a:solidFill>
            <a:srgbClr val="F3F5F8"/>
          </a:solidFill>
          <a:ln/>
        </p:spPr>
      </p:sp>
      <p:sp>
        <p:nvSpPr>
          <p:cNvPr id="91" name="Text 88"/>
          <p:cNvSpPr txBox="1"/>
          <p:nvPr/>
        </p:nvSpPr>
        <p:spPr>
          <a:xfrm>
            <a:off x="9787738" y="1819656"/>
            <a:ext cx="1737360" cy="274320"/>
          </a:xfrm>
          <a:prstGeom prst="rect">
            <a:avLst/>
          </a:prstGeom>
          <a:noFill/>
          <a:ln/>
        </p:spPr>
        <p:txBody>
          <a:bodyPr wrap="square" lIns="0" tIns="0" rIns="0" bIns="0" rtlCol="0" anchor="ctr"/>
          <a:lstStyle/>
          <a:p>
            <a:pPr algn="l" indent="0" marL="0">
              <a:buNone/>
            </a:pPr>
            <a:r>
              <a:rPr lang="en-US" altLang="en-US" sz="1300" b="1" spc="100" kern="0" dirty="0">
                <a:solidFill>
                  <a:srgbClr val="14284B"/>
                </a:solidFill>
                <a:latin typeface="Arial" pitchFamily="34" charset="0"/>
                <a:ea typeface="Arial" charset="-128"/>
                <a:cs typeface="Arial" pitchFamily="34" charset="-120"/>
              </a:rPr>
              <a:t>M&amp;A</a:t>
            </a:r>
            <a:endParaRPr lang="en-US" sz="1300" dirty="0"/>
          </a:p>
        </p:txBody>
      </p:sp>
      <p:sp>
        <p:nvSpPr>
          <p:cNvPr id="92" name="Text 89"/>
          <p:cNvSpPr txBox="1"/>
          <p:nvPr/>
        </p:nvSpPr>
        <p:spPr>
          <a:xfrm>
            <a:off x="9787738" y="2093976"/>
            <a:ext cx="1737360" cy="256032"/>
          </a:xfrm>
          <a:prstGeom prst="rect">
            <a:avLst/>
          </a:prstGeom>
          <a:noFill/>
          <a:ln/>
        </p:spPr>
        <p:txBody>
          <a:bodyPr wrap="square" lIns="0" tIns="0" rIns="0" bIns="0" rtlCol="0" anchor="ctr"/>
          <a:lstStyle/>
          <a:p>
            <a:pPr algn="l" indent="0" marL="0">
              <a:buNone/>
            </a:pPr>
            <a:r>
              <a:rPr lang="ja-JP" altLang="en-US" sz="1200" dirty="0">
                <a:solidFill>
                  <a:srgbClr val="5B6675"/>
                </a:solidFill>
                <a:latin typeface="Yu Gothic Medium" pitchFamily="34" charset="0"/>
                <a:ea typeface="Yu Gothic Medium" charset="-128"/>
                <a:cs typeface="Yu Gothic Medium" pitchFamily="34" charset="-120"/>
              </a:rPr>
              <a:t>買収・PMI</a:t>
            </a:r>
            <a:endParaRPr lang="ja-JP" sz="1200" dirty="0"/>
          </a:p>
        </p:txBody>
      </p:sp>
      <p:sp>
        <p:nvSpPr>
          <p:cNvPr id="93" name="Shape 90"/>
          <p:cNvSpPr/>
          <p:nvPr/>
        </p:nvSpPr>
        <p:spPr>
          <a:xfrm>
            <a:off x="9732874" y="2478024"/>
            <a:ext cx="1779422" cy="365760"/>
          </a:xfrm>
          <a:prstGeom prst="rect">
            <a:avLst/>
          </a:prstGeom>
          <a:solidFill>
            <a:srgbClr val="FFFFFF"/>
          </a:solidFill>
          <a:ln/>
        </p:spPr>
      </p:sp>
      <p:sp>
        <p:nvSpPr>
          <p:cNvPr id="94" name="Shape 91"/>
          <p:cNvSpPr/>
          <p:nvPr/>
        </p:nvSpPr>
        <p:spPr>
          <a:xfrm>
            <a:off x="9801454" y="2628900"/>
            <a:ext cx="64008" cy="64008"/>
          </a:xfrm>
          <a:prstGeom prst="ellipse">
            <a:avLst/>
          </a:prstGeom>
          <a:solidFill>
            <a:srgbClr val="B08D57"/>
          </a:solidFill>
          <a:ln/>
        </p:spPr>
      </p:sp>
      <p:sp>
        <p:nvSpPr>
          <p:cNvPr id="95" name="Text 92"/>
          <p:cNvSpPr txBox="1"/>
          <p:nvPr/>
        </p:nvSpPr>
        <p:spPr>
          <a:xfrm>
            <a:off x="9943186" y="247802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案件パイプライン</a:t>
            </a:r>
            <a:endParaRPr lang="ja-JP" sz="1100" dirty="0"/>
          </a:p>
        </p:txBody>
      </p:sp>
      <p:sp>
        <p:nvSpPr>
          <p:cNvPr id="96" name="Shape 93"/>
          <p:cNvSpPr/>
          <p:nvPr/>
        </p:nvSpPr>
        <p:spPr>
          <a:xfrm>
            <a:off x="9732874" y="2916936"/>
            <a:ext cx="1779422" cy="365760"/>
          </a:xfrm>
          <a:prstGeom prst="rect">
            <a:avLst/>
          </a:prstGeom>
          <a:solidFill>
            <a:srgbClr val="FFFFFF"/>
          </a:solidFill>
          <a:ln/>
        </p:spPr>
      </p:sp>
      <p:sp>
        <p:nvSpPr>
          <p:cNvPr id="97" name="Shape 94"/>
          <p:cNvSpPr/>
          <p:nvPr/>
        </p:nvSpPr>
        <p:spPr>
          <a:xfrm>
            <a:off x="9801454" y="3067812"/>
            <a:ext cx="64008" cy="64008"/>
          </a:xfrm>
          <a:prstGeom prst="ellipse">
            <a:avLst/>
          </a:prstGeom>
          <a:solidFill>
            <a:srgbClr val="B08D57"/>
          </a:solidFill>
          <a:ln/>
        </p:spPr>
      </p:sp>
      <p:sp>
        <p:nvSpPr>
          <p:cNvPr id="98" name="Text 95"/>
          <p:cNvSpPr txBox="1"/>
          <p:nvPr/>
        </p:nvSpPr>
        <p:spPr>
          <a:xfrm>
            <a:off x="9943186" y="2916936"/>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DD案件数</a:t>
            </a:r>
            <a:endParaRPr lang="ja-JP" sz="1100" dirty="0"/>
          </a:p>
        </p:txBody>
      </p:sp>
      <p:sp>
        <p:nvSpPr>
          <p:cNvPr id="99" name="Shape 96"/>
          <p:cNvSpPr/>
          <p:nvPr/>
        </p:nvSpPr>
        <p:spPr>
          <a:xfrm>
            <a:off x="9732874" y="3355848"/>
            <a:ext cx="1779422" cy="365760"/>
          </a:xfrm>
          <a:prstGeom prst="rect">
            <a:avLst/>
          </a:prstGeom>
          <a:solidFill>
            <a:srgbClr val="FFFFFF"/>
          </a:solidFill>
          <a:ln/>
        </p:spPr>
      </p:sp>
      <p:sp>
        <p:nvSpPr>
          <p:cNvPr id="100" name="Shape 97"/>
          <p:cNvSpPr/>
          <p:nvPr/>
        </p:nvSpPr>
        <p:spPr>
          <a:xfrm>
            <a:off x="9801454" y="3506724"/>
            <a:ext cx="64008" cy="64008"/>
          </a:xfrm>
          <a:prstGeom prst="ellipse">
            <a:avLst/>
          </a:prstGeom>
          <a:solidFill>
            <a:srgbClr val="B08D57"/>
          </a:solidFill>
          <a:ln/>
        </p:spPr>
      </p:sp>
      <p:sp>
        <p:nvSpPr>
          <p:cNvPr id="101" name="Text 98"/>
          <p:cNvSpPr txBox="1"/>
          <p:nvPr/>
        </p:nvSpPr>
        <p:spPr>
          <a:xfrm>
            <a:off x="9943186" y="3355848"/>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成約数</a:t>
            </a:r>
            <a:endParaRPr lang="ja-JP" sz="1100" dirty="0"/>
          </a:p>
        </p:txBody>
      </p:sp>
      <p:sp>
        <p:nvSpPr>
          <p:cNvPr id="102" name="Shape 99"/>
          <p:cNvSpPr/>
          <p:nvPr/>
        </p:nvSpPr>
        <p:spPr>
          <a:xfrm>
            <a:off x="9732874" y="3794760"/>
            <a:ext cx="1779422" cy="365760"/>
          </a:xfrm>
          <a:prstGeom prst="rect">
            <a:avLst/>
          </a:prstGeom>
          <a:solidFill>
            <a:srgbClr val="FFFFFF"/>
          </a:solidFill>
          <a:ln/>
        </p:spPr>
      </p:sp>
      <p:sp>
        <p:nvSpPr>
          <p:cNvPr id="103" name="Shape 100"/>
          <p:cNvSpPr/>
          <p:nvPr/>
        </p:nvSpPr>
        <p:spPr>
          <a:xfrm>
            <a:off x="9801454" y="3945636"/>
            <a:ext cx="64008" cy="64008"/>
          </a:xfrm>
          <a:prstGeom prst="ellipse">
            <a:avLst/>
          </a:prstGeom>
          <a:solidFill>
            <a:srgbClr val="B08D57"/>
          </a:solidFill>
          <a:ln/>
        </p:spPr>
      </p:sp>
      <p:sp>
        <p:nvSpPr>
          <p:cNvPr id="104" name="Text 101"/>
          <p:cNvSpPr txBox="1"/>
          <p:nvPr/>
        </p:nvSpPr>
        <p:spPr>
          <a:xfrm>
            <a:off x="9943186" y="3794760"/>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PMI進捗</a:t>
            </a:r>
            <a:endParaRPr lang="ja-JP" sz="1100" dirty="0"/>
          </a:p>
        </p:txBody>
      </p:sp>
      <p:sp>
        <p:nvSpPr>
          <p:cNvPr id="105" name="Shape 102"/>
          <p:cNvSpPr/>
          <p:nvPr/>
        </p:nvSpPr>
        <p:spPr>
          <a:xfrm>
            <a:off x="9732874" y="4233672"/>
            <a:ext cx="1779422" cy="365760"/>
          </a:xfrm>
          <a:prstGeom prst="rect">
            <a:avLst/>
          </a:prstGeom>
          <a:solidFill>
            <a:srgbClr val="FFFFFF"/>
          </a:solidFill>
          <a:ln/>
        </p:spPr>
      </p:sp>
      <p:sp>
        <p:nvSpPr>
          <p:cNvPr id="106" name="Shape 103"/>
          <p:cNvSpPr/>
          <p:nvPr/>
        </p:nvSpPr>
        <p:spPr>
          <a:xfrm>
            <a:off x="9801454" y="4384548"/>
            <a:ext cx="64008" cy="64008"/>
          </a:xfrm>
          <a:prstGeom prst="ellipse">
            <a:avLst/>
          </a:prstGeom>
          <a:solidFill>
            <a:srgbClr val="B08D57"/>
          </a:solidFill>
          <a:ln/>
        </p:spPr>
      </p:sp>
      <p:sp>
        <p:nvSpPr>
          <p:cNvPr id="107" name="Text 104"/>
          <p:cNvSpPr txBox="1"/>
          <p:nvPr/>
        </p:nvSpPr>
        <p:spPr>
          <a:xfrm>
            <a:off x="9943186" y="4233672"/>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買収後利益成長</a:t>
            </a:r>
            <a:endParaRPr lang="ja-JP" sz="1100" dirty="0"/>
          </a:p>
        </p:txBody>
      </p:sp>
      <p:sp>
        <p:nvSpPr>
          <p:cNvPr id="108" name="Shape 105"/>
          <p:cNvSpPr/>
          <p:nvPr/>
        </p:nvSpPr>
        <p:spPr>
          <a:xfrm>
            <a:off x="9732874" y="4672584"/>
            <a:ext cx="1779422" cy="365760"/>
          </a:xfrm>
          <a:prstGeom prst="rect">
            <a:avLst/>
          </a:prstGeom>
          <a:solidFill>
            <a:srgbClr val="FFFFFF"/>
          </a:solidFill>
          <a:ln/>
        </p:spPr>
      </p:sp>
      <p:sp>
        <p:nvSpPr>
          <p:cNvPr id="109" name="Shape 106"/>
          <p:cNvSpPr/>
          <p:nvPr/>
        </p:nvSpPr>
        <p:spPr>
          <a:xfrm>
            <a:off x="9801454" y="4823460"/>
            <a:ext cx="64008" cy="64008"/>
          </a:xfrm>
          <a:prstGeom prst="ellipse">
            <a:avLst/>
          </a:prstGeom>
          <a:solidFill>
            <a:srgbClr val="B08D57"/>
          </a:solidFill>
          <a:ln/>
        </p:spPr>
      </p:sp>
      <p:sp>
        <p:nvSpPr>
          <p:cNvPr id="110" name="Text 107"/>
          <p:cNvSpPr txBox="1"/>
          <p:nvPr/>
        </p:nvSpPr>
        <p:spPr>
          <a:xfrm>
            <a:off x="9943186" y="4672584"/>
            <a:ext cx="1554480" cy="365760"/>
          </a:xfrm>
          <a:prstGeom prst="rect">
            <a:avLst/>
          </a:prstGeom>
          <a:noFill/>
          <a:ln/>
        </p:spPr>
        <p:txBody>
          <a:bodyPr wrap="square" lIns="0" tIns="0" rIns="0" bIns="0" rtlCol="0" anchor="ctr"/>
          <a:lstStyle/>
          <a:p>
            <a:pPr algn="l" indent="0" marL="0">
              <a:buNone/>
            </a:pPr>
            <a:r>
              <a:rPr lang="ja-JP" altLang="en-US" sz="1100" b="1" dirty="0">
                <a:solidFill>
                  <a:srgbClr val="14284B"/>
                </a:solidFill>
                <a:latin typeface="Yu Gothic" pitchFamily="34" charset="0"/>
                <a:ea typeface="Yu Gothic" charset="-128"/>
                <a:cs typeface="Yu Gothic" pitchFamily="34" charset="-120"/>
              </a:rPr>
              <a:t>投資回収</a:t>
            </a:r>
            <a:endParaRPr lang="ja-JP" sz="1100" dirty="0"/>
          </a:p>
        </p:txBody>
      </p:sp>
      <p:sp>
        <p:nvSpPr>
          <p:cNvPr id="111" name="Shape 108"/>
          <p:cNvSpPr/>
          <p:nvPr/>
        </p:nvSpPr>
        <p:spPr>
          <a:xfrm>
            <a:off x="9787738" y="5138928"/>
            <a:ext cx="1673352" cy="0"/>
          </a:xfrm>
          <a:prstGeom prst="line">
            <a:avLst/>
          </a:prstGeom>
          <a:noFill/>
          <a:ln w="9525">
            <a:solidFill>
              <a:srgbClr val="C9D1DC"/>
            </a:solidFill>
            <a:prstDash val="solid"/>
          </a:ln>
        </p:spPr>
      </p:sp>
      <p:sp>
        <p:nvSpPr>
          <p:cNvPr id="112" name="Text 109"/>
          <p:cNvSpPr txBox="1"/>
          <p:nvPr/>
        </p:nvSpPr>
        <p:spPr>
          <a:xfrm>
            <a:off x="9787738" y="5193792"/>
            <a:ext cx="173736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FY2031 目標</a:t>
            </a:r>
            <a:endParaRPr lang="ja-JP" sz="1000" dirty="0"/>
          </a:p>
        </p:txBody>
      </p:sp>
      <p:sp>
        <p:nvSpPr>
          <p:cNvPr id="113" name="Text 110"/>
          <p:cNvSpPr txBox="1"/>
          <p:nvPr/>
        </p:nvSpPr>
        <p:spPr>
          <a:xfrm>
            <a:off x="9787738" y="5394960"/>
            <a:ext cx="1737360" cy="237744"/>
          </a:xfrm>
          <a:prstGeom prst="rect">
            <a:avLst/>
          </a:prstGeom>
          <a:noFill/>
          <a:ln/>
        </p:spPr>
        <p:txBody>
          <a:bodyPr wrap="square" lIns="0" tIns="0" rIns="0" bIns="0" rtlCol="0" anchor="ctr"/>
          <a:lstStyle/>
          <a:p>
            <a:pPr algn="l" indent="0" marL="0">
              <a:buNone/>
            </a:pPr>
            <a:r>
              <a:rPr lang="ja-JP" altLang="en-US" sz="1100" b="1" dirty="0">
                <a:solidFill>
                  <a:srgbClr val="5B6675"/>
                </a:solidFill>
                <a:latin typeface="Yu Gothic" pitchFamily="34" charset="0"/>
                <a:ea typeface="Yu Gothic" charset="-128"/>
                <a:cs typeface="Yu Gothic" pitchFamily="34" charset="-120"/>
              </a:rPr>
              <a:t>財務モデル策定後に確定</a:t>
            </a:r>
            <a:endParaRPr lang="ja-JP" sz="1100" dirty="0"/>
          </a:p>
        </p:txBody>
      </p:sp>
      <p:sp>
        <p:nvSpPr>
          <p:cNvPr id="114" name="Text 111"/>
          <p:cNvSpPr txBox="1"/>
          <p:nvPr/>
        </p:nvSpPr>
        <p:spPr>
          <a:xfrm>
            <a:off x="548640" y="5833872"/>
            <a:ext cx="11094415" cy="256032"/>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 連結売上の目標は暫定経営目標（FY2027〜FY2031の推移はP.06）。その他のKPIの目標値・算定方法・頻度は財務モデル策定後に確定する。</a:t>
            </a:r>
            <a:endParaRPr lang="ja-JP"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8C6D3F"/>
                </a:solidFill>
                <a:latin typeface="Arial" pitchFamily="34" charset="0"/>
                <a:ea typeface="Arial" charset="-128"/>
                <a:cs typeface="Arial" pitchFamily="34" charset="-120"/>
              </a:rPr>
              <a:t>21</a:t>
            </a:r>
            <a:pPr algn="l" indent="0" marL="0">
              <a:buNone/>
            </a:pPr>
            <a:r>
              <a:rPr lang="en-US" altLang="en-US" sz="1100" b="1" spc="200" kern="0" dirty="0">
                <a:solidFill>
                  <a:srgbClr val="C9D1DC"/>
                </a:solidFill>
                <a:latin typeface="Arial" pitchFamily="34" charset="0"/>
                <a:ea typeface="Arial" charset="-128"/>
                <a:cs typeface="Arial" pitchFamily="34" charset="-120"/>
              </a:rPr>
              <a:t>   |   </a:t>
            </a:r>
            <a:pPr algn="l" indent="0" marL="0">
              <a:buNone/>
            </a:pPr>
            <a:r>
              <a:rPr lang="en-US" altLang="en-US" sz="1100" b="1" spc="200" kern="0" dirty="0">
                <a:solidFill>
                  <a:srgbClr val="5B6675"/>
                </a:solidFill>
                <a:latin typeface="Arial" pitchFamily="34" charset="0"/>
                <a:ea typeface="Arial" charset="-128"/>
                <a:cs typeface="Arial" pitchFamily="34" charset="-120"/>
              </a:rPr>
              <a:t>FOUNDER TRANSFORMATION</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14284B"/>
                </a:solidFill>
                <a:latin typeface="Yu Gothic" pitchFamily="34" charset="0"/>
                <a:ea typeface="Yu Gothic" charset="-128"/>
                <a:cs typeface="Yu Gothic" pitchFamily="34" charset="-120"/>
              </a:rPr>
              <a:t>創業者の役割を、5つの段階で変えていく。</a:t>
            </a:r>
            <a:endParaRPr lang="ja-JP" sz="2600" dirty="0"/>
          </a:p>
        </p:txBody>
      </p:sp>
      <p:sp>
        <p:nvSpPr>
          <p:cNvPr id="4" name="Shape 2"/>
          <p:cNvSpPr/>
          <p:nvPr/>
        </p:nvSpPr>
        <p:spPr>
          <a:xfrm>
            <a:off x="8880856" y="585216"/>
            <a:ext cx="436880" cy="0"/>
          </a:xfrm>
          <a:prstGeom prst="line">
            <a:avLst/>
          </a:prstGeom>
          <a:noFill/>
          <a:ln w="19050">
            <a:solidFill>
              <a:srgbClr val="B08D57"/>
            </a:solidFill>
            <a:prstDash val="solid"/>
          </a:ln>
        </p:spPr>
      </p:sp>
      <p:sp>
        <p:nvSpPr>
          <p:cNvPr id="5" name="Shape 3"/>
          <p:cNvSpPr/>
          <p:nvPr/>
        </p:nvSpPr>
        <p:spPr>
          <a:xfrm>
            <a:off x="9878771" y="585216"/>
            <a:ext cx="444805" cy="0"/>
          </a:xfrm>
          <a:prstGeom prst="line">
            <a:avLst/>
          </a:prstGeom>
          <a:noFill/>
          <a:ln w="19050">
            <a:solidFill>
              <a:srgbClr val="B08D57"/>
            </a:solidFill>
            <a:prstDash val="solid"/>
          </a:ln>
        </p:spPr>
      </p:sp>
      <p:sp>
        <p:nvSpPr>
          <p:cNvPr id="6" name="Shape 4"/>
          <p:cNvSpPr/>
          <p:nvPr/>
        </p:nvSpPr>
        <p:spPr>
          <a:xfrm>
            <a:off x="10884611" y="585216"/>
            <a:ext cx="353365" cy="0"/>
          </a:xfrm>
          <a:prstGeom prst="line">
            <a:avLst/>
          </a:prstGeom>
          <a:noFill/>
          <a:ln w="19050">
            <a:solidFill>
              <a:srgbClr val="B08D57"/>
            </a:solidFill>
            <a:prstDash val="sysDash"/>
          </a:ln>
        </p:spPr>
      </p:sp>
      <p:sp>
        <p:nvSpPr>
          <p:cNvPr id="7" name="Shape 5"/>
          <p:cNvSpPr/>
          <p:nvPr/>
        </p:nvSpPr>
        <p:spPr>
          <a:xfrm>
            <a:off x="8348472" y="539496"/>
            <a:ext cx="91440" cy="91440"/>
          </a:xfrm>
          <a:prstGeom prst="ellipse">
            <a:avLst/>
          </a:prstGeom>
          <a:solidFill>
            <a:srgbClr val="B08D57"/>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B08D57"/>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B08D57"/>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B08D57"/>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14284B"/>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5B6675"/>
                </a:solidFill>
                <a:latin typeface="Yu Gothic Medium" pitchFamily="34" charset="0"/>
                <a:ea typeface="Yu Gothic Medium" charset="-128"/>
                <a:cs typeface="Yu Gothic Medium" pitchFamily="34" charset="-120"/>
              </a:rPr>
              <a:t>ROOTIVE GROUP 5カ年経営計画 2026–2031　｜　第Ⅳ章　経営者の役割と次のフェーズ</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5B6675"/>
                </a:solidFill>
                <a:latin typeface="Arial" pitchFamily="34" charset="0"/>
                <a:ea typeface="Arial" charset="-128"/>
                <a:cs typeface="Arial" pitchFamily="34" charset="-120"/>
              </a:rPr>
              <a:t>21</a:t>
            </a:r>
            <a:endParaRPr lang="en-US" sz="1000" dirty="0"/>
          </a:p>
        </p:txBody>
      </p:sp>
      <p:sp>
        <p:nvSpPr>
          <p:cNvPr id="18" name="Shape 15"/>
          <p:cNvSpPr/>
          <p:nvPr/>
        </p:nvSpPr>
        <p:spPr>
          <a:xfrm flipV="1">
            <a:off x="1566367" y="2157984"/>
            <a:ext cx="2264054" cy="201168"/>
          </a:xfrm>
          <a:prstGeom prst="line">
            <a:avLst/>
          </a:prstGeom>
          <a:noFill/>
          <a:ln w="19050">
            <a:solidFill>
              <a:srgbClr val="B08D57"/>
            </a:solidFill>
            <a:prstDash val="solid"/>
          </a:ln>
        </p:spPr>
      </p:sp>
      <p:sp>
        <p:nvSpPr>
          <p:cNvPr id="19" name="Shape 16"/>
          <p:cNvSpPr/>
          <p:nvPr/>
        </p:nvSpPr>
        <p:spPr>
          <a:xfrm flipV="1">
            <a:off x="3830422" y="1956816"/>
            <a:ext cx="2264054" cy="201168"/>
          </a:xfrm>
          <a:prstGeom prst="line">
            <a:avLst/>
          </a:prstGeom>
          <a:noFill/>
          <a:ln w="19050">
            <a:solidFill>
              <a:srgbClr val="B08D57"/>
            </a:solidFill>
            <a:prstDash val="solid"/>
          </a:ln>
        </p:spPr>
      </p:sp>
      <p:sp>
        <p:nvSpPr>
          <p:cNvPr id="20" name="Shape 17"/>
          <p:cNvSpPr/>
          <p:nvPr/>
        </p:nvSpPr>
        <p:spPr>
          <a:xfrm flipV="1">
            <a:off x="6094476" y="1755648"/>
            <a:ext cx="2264054" cy="201168"/>
          </a:xfrm>
          <a:prstGeom prst="line">
            <a:avLst/>
          </a:prstGeom>
          <a:noFill/>
          <a:ln w="19050">
            <a:solidFill>
              <a:srgbClr val="B08D57"/>
            </a:solidFill>
            <a:prstDash val="solid"/>
          </a:ln>
        </p:spPr>
      </p:sp>
      <p:sp>
        <p:nvSpPr>
          <p:cNvPr id="21" name="Shape 18"/>
          <p:cNvSpPr/>
          <p:nvPr/>
        </p:nvSpPr>
        <p:spPr>
          <a:xfrm flipV="1">
            <a:off x="8358530" y="1554480"/>
            <a:ext cx="2264054" cy="201168"/>
          </a:xfrm>
          <a:prstGeom prst="line">
            <a:avLst/>
          </a:prstGeom>
          <a:noFill/>
          <a:ln w="19050">
            <a:solidFill>
              <a:srgbClr val="A7B0BE"/>
            </a:solidFill>
            <a:prstDash val="sysDash"/>
          </a:ln>
        </p:spPr>
      </p:sp>
      <p:sp>
        <p:nvSpPr>
          <p:cNvPr id="22" name="Shape 19"/>
          <p:cNvSpPr/>
          <p:nvPr/>
        </p:nvSpPr>
        <p:spPr>
          <a:xfrm>
            <a:off x="548640" y="2542032"/>
            <a:ext cx="2035454" cy="2624328"/>
          </a:xfrm>
          <a:prstGeom prst="rect">
            <a:avLst/>
          </a:prstGeom>
          <a:solidFill>
            <a:srgbClr val="F3F5F8"/>
          </a:solidFill>
          <a:ln/>
        </p:spPr>
      </p:sp>
      <p:sp>
        <p:nvSpPr>
          <p:cNvPr id="23" name="Shape 20"/>
          <p:cNvSpPr/>
          <p:nvPr/>
        </p:nvSpPr>
        <p:spPr>
          <a:xfrm>
            <a:off x="1493215" y="2286000"/>
            <a:ext cx="146304" cy="146304"/>
          </a:xfrm>
          <a:prstGeom prst="ellipse">
            <a:avLst/>
          </a:prstGeom>
          <a:solidFill>
            <a:srgbClr val="B08D57"/>
          </a:solidFill>
          <a:ln/>
        </p:spPr>
      </p:sp>
      <p:sp>
        <p:nvSpPr>
          <p:cNvPr id="24" name="Text 21"/>
          <p:cNvSpPr txBox="1"/>
          <p:nvPr/>
        </p:nvSpPr>
        <p:spPr>
          <a:xfrm>
            <a:off x="731520" y="2670048"/>
            <a:ext cx="1737360" cy="365760"/>
          </a:xfrm>
          <a:prstGeom prst="rect">
            <a:avLst/>
          </a:prstGeom>
          <a:noFill/>
          <a:ln/>
        </p:spPr>
        <p:txBody>
          <a:bodyPr wrap="square" lIns="0" tIns="0" rIns="0" bIns="0" rtlCol="0" anchor="ctr"/>
          <a:lstStyle/>
          <a:p>
            <a:pPr algn="l" indent="0" marL="0">
              <a:buNone/>
            </a:pPr>
            <a:r>
              <a:rPr lang="en-US" altLang="en-US" sz="2000" b="1" dirty="0">
                <a:solidFill>
                  <a:srgbClr val="14284B"/>
                </a:solidFill>
                <a:latin typeface="Cambria" pitchFamily="34" charset="0"/>
                <a:ea typeface="Cambria" charset="-128"/>
                <a:cs typeface="Cambria" pitchFamily="34" charset="-120"/>
              </a:rPr>
              <a:t>2026</a:t>
            </a:r>
            <a:endParaRPr lang="en-US" sz="2000" dirty="0"/>
          </a:p>
        </p:txBody>
      </p:sp>
      <p:sp>
        <p:nvSpPr>
          <p:cNvPr id="25" name="Text 22"/>
          <p:cNvSpPr txBox="1"/>
          <p:nvPr/>
        </p:nvSpPr>
        <p:spPr>
          <a:xfrm>
            <a:off x="731520" y="3035808"/>
            <a:ext cx="1737360" cy="219456"/>
          </a:xfrm>
          <a:prstGeom prst="rect">
            <a:avLst/>
          </a:prstGeom>
          <a:noFill/>
          <a:ln/>
        </p:spPr>
        <p:txBody>
          <a:bodyPr wrap="square" lIns="0" tIns="0" rIns="0" bIns="0" rtlCol="0" anchor="ctr"/>
          <a:lstStyle/>
          <a:p>
            <a:pPr algn="l" indent="0" marL="0">
              <a:buNone/>
            </a:pPr>
            <a:r>
              <a:rPr lang="en-US" altLang="en-US" sz="1000" b="1" dirty="0">
                <a:solidFill>
                  <a:srgbClr val="8C6D3F"/>
                </a:solidFill>
                <a:latin typeface="Arial" pitchFamily="34" charset="0"/>
                <a:ea typeface="Arial" charset="-128"/>
                <a:cs typeface="Arial" pitchFamily="34" charset="-120"/>
              </a:rPr>
              <a:t>ROOTIVE CEO</a:t>
            </a:r>
            <a:endParaRPr lang="en-US" sz="1000" dirty="0"/>
          </a:p>
        </p:txBody>
      </p:sp>
      <p:sp>
        <p:nvSpPr>
          <p:cNvPr id="26" name="Text 23"/>
          <p:cNvSpPr txBox="1"/>
          <p:nvPr/>
        </p:nvSpPr>
        <p:spPr>
          <a:xfrm>
            <a:off x="731520" y="3273552"/>
            <a:ext cx="1737360" cy="274320"/>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ROOTIVE代表</a:t>
            </a:r>
            <a:endParaRPr lang="ja-JP" sz="1200" dirty="0"/>
          </a:p>
        </p:txBody>
      </p:sp>
      <p:sp>
        <p:nvSpPr>
          <p:cNvPr id="27" name="Shape 24"/>
          <p:cNvSpPr/>
          <p:nvPr/>
        </p:nvSpPr>
        <p:spPr>
          <a:xfrm>
            <a:off x="731520" y="3689604"/>
            <a:ext cx="54864" cy="54864"/>
          </a:xfrm>
          <a:prstGeom prst="ellipse">
            <a:avLst/>
          </a:prstGeom>
          <a:solidFill>
            <a:srgbClr val="B08D57"/>
          </a:solidFill>
          <a:ln/>
        </p:spPr>
      </p:sp>
      <p:sp>
        <p:nvSpPr>
          <p:cNvPr id="28" name="Text 25"/>
          <p:cNvSpPr txBox="1"/>
          <p:nvPr/>
        </p:nvSpPr>
        <p:spPr>
          <a:xfrm>
            <a:off x="886968" y="36027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現場</a:t>
            </a:r>
            <a:endParaRPr lang="ja-JP" sz="1200" dirty="0"/>
          </a:p>
        </p:txBody>
      </p:sp>
      <p:sp>
        <p:nvSpPr>
          <p:cNvPr id="29" name="Shape 26"/>
          <p:cNvSpPr/>
          <p:nvPr/>
        </p:nvSpPr>
        <p:spPr>
          <a:xfrm>
            <a:off x="731520" y="3918204"/>
            <a:ext cx="54864" cy="54864"/>
          </a:xfrm>
          <a:prstGeom prst="ellipse">
            <a:avLst/>
          </a:prstGeom>
          <a:solidFill>
            <a:srgbClr val="B08D57"/>
          </a:solidFill>
          <a:ln/>
        </p:spPr>
      </p:sp>
      <p:sp>
        <p:nvSpPr>
          <p:cNvPr id="30" name="Text 27"/>
          <p:cNvSpPr txBox="1"/>
          <p:nvPr/>
        </p:nvSpPr>
        <p:spPr>
          <a:xfrm>
            <a:off x="886968" y="38313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営業</a:t>
            </a:r>
            <a:endParaRPr lang="ja-JP" sz="1200" dirty="0"/>
          </a:p>
        </p:txBody>
      </p:sp>
      <p:sp>
        <p:nvSpPr>
          <p:cNvPr id="31" name="Shape 28"/>
          <p:cNvSpPr/>
          <p:nvPr/>
        </p:nvSpPr>
        <p:spPr>
          <a:xfrm>
            <a:off x="731520" y="4146804"/>
            <a:ext cx="54864" cy="54864"/>
          </a:xfrm>
          <a:prstGeom prst="ellipse">
            <a:avLst/>
          </a:prstGeom>
          <a:solidFill>
            <a:srgbClr val="B08D57"/>
          </a:solidFill>
          <a:ln/>
        </p:spPr>
      </p:sp>
      <p:sp>
        <p:nvSpPr>
          <p:cNvPr id="32" name="Text 29"/>
          <p:cNvSpPr txBox="1"/>
          <p:nvPr/>
        </p:nvSpPr>
        <p:spPr>
          <a:xfrm>
            <a:off x="886968" y="40599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採用</a:t>
            </a:r>
            <a:endParaRPr lang="ja-JP" sz="1200" dirty="0"/>
          </a:p>
        </p:txBody>
      </p:sp>
      <p:sp>
        <p:nvSpPr>
          <p:cNvPr id="33" name="Shape 30"/>
          <p:cNvSpPr/>
          <p:nvPr/>
        </p:nvSpPr>
        <p:spPr>
          <a:xfrm>
            <a:off x="731520" y="4375404"/>
            <a:ext cx="54864" cy="54864"/>
          </a:xfrm>
          <a:prstGeom prst="ellipse">
            <a:avLst/>
          </a:prstGeom>
          <a:solidFill>
            <a:srgbClr val="B08D57"/>
          </a:solidFill>
          <a:ln/>
        </p:spPr>
      </p:sp>
      <p:sp>
        <p:nvSpPr>
          <p:cNvPr id="34" name="Text 31"/>
          <p:cNvSpPr txBox="1"/>
          <p:nvPr/>
        </p:nvSpPr>
        <p:spPr>
          <a:xfrm>
            <a:off x="886968" y="42885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資金</a:t>
            </a:r>
            <a:endParaRPr lang="ja-JP" sz="1200" dirty="0"/>
          </a:p>
        </p:txBody>
      </p:sp>
      <p:sp>
        <p:nvSpPr>
          <p:cNvPr id="35" name="Shape 32"/>
          <p:cNvSpPr/>
          <p:nvPr/>
        </p:nvSpPr>
        <p:spPr>
          <a:xfrm>
            <a:off x="731520" y="4604004"/>
            <a:ext cx="54864" cy="54864"/>
          </a:xfrm>
          <a:prstGeom prst="ellipse">
            <a:avLst/>
          </a:prstGeom>
          <a:solidFill>
            <a:srgbClr val="B08D57"/>
          </a:solidFill>
          <a:ln/>
        </p:spPr>
      </p:sp>
      <p:sp>
        <p:nvSpPr>
          <p:cNvPr id="36" name="Text 33"/>
          <p:cNvSpPr txBox="1"/>
          <p:nvPr/>
        </p:nvSpPr>
        <p:spPr>
          <a:xfrm>
            <a:off x="886968" y="45171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トラブル</a:t>
            </a:r>
            <a:endParaRPr lang="ja-JP" sz="1200" dirty="0"/>
          </a:p>
        </p:txBody>
      </p:sp>
      <p:sp>
        <p:nvSpPr>
          <p:cNvPr id="37" name="Shape 34"/>
          <p:cNvSpPr/>
          <p:nvPr/>
        </p:nvSpPr>
        <p:spPr>
          <a:xfrm>
            <a:off x="731520" y="4832604"/>
            <a:ext cx="54864" cy="54864"/>
          </a:xfrm>
          <a:prstGeom prst="ellipse">
            <a:avLst/>
          </a:prstGeom>
          <a:solidFill>
            <a:srgbClr val="B08D57"/>
          </a:solidFill>
          <a:ln/>
        </p:spPr>
      </p:sp>
      <p:sp>
        <p:nvSpPr>
          <p:cNvPr id="38" name="Text 35"/>
          <p:cNvSpPr txBox="1"/>
          <p:nvPr/>
        </p:nvSpPr>
        <p:spPr>
          <a:xfrm>
            <a:off x="886968" y="4745736"/>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経営</a:t>
            </a:r>
            <a:endParaRPr lang="ja-JP" sz="1200" dirty="0"/>
          </a:p>
        </p:txBody>
      </p:sp>
      <p:sp>
        <p:nvSpPr>
          <p:cNvPr id="39" name="Shape 36"/>
          <p:cNvSpPr/>
          <p:nvPr/>
        </p:nvSpPr>
        <p:spPr>
          <a:xfrm>
            <a:off x="2812694" y="2340864"/>
            <a:ext cx="2035454" cy="2624328"/>
          </a:xfrm>
          <a:prstGeom prst="rect">
            <a:avLst/>
          </a:prstGeom>
          <a:solidFill>
            <a:srgbClr val="F3F5F8"/>
          </a:solidFill>
          <a:ln/>
        </p:spPr>
      </p:sp>
      <p:sp>
        <p:nvSpPr>
          <p:cNvPr id="40" name="Shape 37"/>
          <p:cNvSpPr/>
          <p:nvPr/>
        </p:nvSpPr>
        <p:spPr>
          <a:xfrm>
            <a:off x="3757270" y="2084832"/>
            <a:ext cx="146304" cy="146304"/>
          </a:xfrm>
          <a:prstGeom prst="ellipse">
            <a:avLst/>
          </a:prstGeom>
          <a:solidFill>
            <a:srgbClr val="B08D57"/>
          </a:solidFill>
          <a:ln/>
        </p:spPr>
      </p:sp>
      <p:sp>
        <p:nvSpPr>
          <p:cNvPr id="41" name="Text 38"/>
          <p:cNvSpPr txBox="1"/>
          <p:nvPr/>
        </p:nvSpPr>
        <p:spPr>
          <a:xfrm>
            <a:off x="2995574" y="2468880"/>
            <a:ext cx="1737360" cy="365760"/>
          </a:xfrm>
          <a:prstGeom prst="rect">
            <a:avLst/>
          </a:prstGeom>
          <a:noFill/>
          <a:ln/>
        </p:spPr>
        <p:txBody>
          <a:bodyPr wrap="square" lIns="0" tIns="0" rIns="0" bIns="0" rtlCol="0" anchor="ctr"/>
          <a:lstStyle/>
          <a:p>
            <a:pPr algn="l" indent="0" marL="0">
              <a:buNone/>
            </a:pPr>
            <a:r>
              <a:rPr lang="en-US" altLang="en-US" sz="2000" b="1" dirty="0">
                <a:solidFill>
                  <a:srgbClr val="14284B"/>
                </a:solidFill>
                <a:latin typeface="Cambria" pitchFamily="34" charset="0"/>
                <a:ea typeface="Cambria" charset="-128"/>
                <a:cs typeface="Cambria" pitchFamily="34" charset="-120"/>
              </a:rPr>
              <a:t>2027</a:t>
            </a:r>
            <a:endParaRPr lang="en-US" sz="2000" dirty="0"/>
          </a:p>
        </p:txBody>
      </p:sp>
      <p:sp>
        <p:nvSpPr>
          <p:cNvPr id="42" name="Text 39"/>
          <p:cNvSpPr txBox="1"/>
          <p:nvPr/>
        </p:nvSpPr>
        <p:spPr>
          <a:xfrm>
            <a:off x="2995574" y="2834640"/>
            <a:ext cx="1737360" cy="219456"/>
          </a:xfrm>
          <a:prstGeom prst="rect">
            <a:avLst/>
          </a:prstGeom>
          <a:noFill/>
          <a:ln/>
        </p:spPr>
        <p:txBody>
          <a:bodyPr wrap="square" lIns="0" tIns="0" rIns="0" bIns="0" rtlCol="0" anchor="ctr"/>
          <a:lstStyle/>
          <a:p>
            <a:pPr algn="l" indent="0" marL="0">
              <a:buNone/>
            </a:pPr>
            <a:r>
              <a:rPr lang="en-US" altLang="en-US" sz="1000" b="1" dirty="0">
                <a:solidFill>
                  <a:srgbClr val="8C6D3F"/>
                </a:solidFill>
                <a:latin typeface="Arial" pitchFamily="34" charset="0"/>
                <a:ea typeface="Arial" charset="-128"/>
                <a:cs typeface="Arial" pitchFamily="34" charset="-120"/>
              </a:rPr>
              <a:t>ROOTIVE CEO</a:t>
            </a:r>
            <a:endParaRPr lang="en-US" sz="1000" dirty="0"/>
          </a:p>
        </p:txBody>
      </p:sp>
      <p:sp>
        <p:nvSpPr>
          <p:cNvPr id="43" name="Text 40"/>
          <p:cNvSpPr txBox="1"/>
          <p:nvPr/>
        </p:nvSpPr>
        <p:spPr>
          <a:xfrm>
            <a:off x="2995574" y="3072384"/>
            <a:ext cx="1737360" cy="274320"/>
          </a:xfrm>
          <a:prstGeom prst="rect">
            <a:avLst/>
          </a:prstGeom>
          <a:noFill/>
          <a:ln/>
        </p:spPr>
        <p:txBody>
          <a:bodyPr wrap="square" lIns="0" tIns="0" rIns="0" bIns="0" rtlCol="0" anchor="ctr"/>
          <a:lstStyle/>
          <a:p>
            <a:pPr algn="l" indent="0" marL="0">
              <a:buNone/>
            </a:pPr>
            <a:r>
              <a:rPr lang="ja-JP" altLang="en-US" sz="1200" b="1" dirty="0">
                <a:solidFill>
                  <a:srgbClr val="14284B"/>
                </a:solidFill>
                <a:latin typeface="Yu Gothic" pitchFamily="34" charset="0"/>
                <a:ea typeface="Yu Gothic" charset="-128"/>
                <a:cs typeface="Yu Gothic" pitchFamily="34" charset="-120"/>
              </a:rPr>
              <a:t>ROOTIVE代表</a:t>
            </a:r>
            <a:endParaRPr lang="ja-JP" sz="1200" dirty="0"/>
          </a:p>
        </p:txBody>
      </p:sp>
      <p:sp>
        <p:nvSpPr>
          <p:cNvPr id="44" name="Shape 41"/>
          <p:cNvSpPr/>
          <p:nvPr/>
        </p:nvSpPr>
        <p:spPr>
          <a:xfrm>
            <a:off x="2995574" y="3488436"/>
            <a:ext cx="54864" cy="54864"/>
          </a:xfrm>
          <a:prstGeom prst="ellipse">
            <a:avLst/>
          </a:prstGeom>
          <a:solidFill>
            <a:srgbClr val="B08D57"/>
          </a:solidFill>
          <a:ln/>
        </p:spPr>
      </p:sp>
      <p:sp>
        <p:nvSpPr>
          <p:cNvPr id="45" name="Text 42"/>
          <p:cNvSpPr txBox="1"/>
          <p:nvPr/>
        </p:nvSpPr>
        <p:spPr>
          <a:xfrm>
            <a:off x="3151022" y="3401568"/>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組織</a:t>
            </a:r>
            <a:endParaRPr lang="ja-JP" sz="1200" dirty="0"/>
          </a:p>
        </p:txBody>
      </p:sp>
      <p:sp>
        <p:nvSpPr>
          <p:cNvPr id="46" name="Shape 43"/>
          <p:cNvSpPr/>
          <p:nvPr/>
        </p:nvSpPr>
        <p:spPr>
          <a:xfrm>
            <a:off x="2995574" y="3717036"/>
            <a:ext cx="54864" cy="54864"/>
          </a:xfrm>
          <a:prstGeom prst="ellipse">
            <a:avLst/>
          </a:prstGeom>
          <a:solidFill>
            <a:srgbClr val="B08D57"/>
          </a:solidFill>
          <a:ln/>
        </p:spPr>
      </p:sp>
      <p:sp>
        <p:nvSpPr>
          <p:cNvPr id="47" name="Text 44"/>
          <p:cNvSpPr txBox="1"/>
          <p:nvPr/>
        </p:nvSpPr>
        <p:spPr>
          <a:xfrm>
            <a:off x="3151022" y="3630168"/>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幹部育成</a:t>
            </a:r>
            <a:endParaRPr lang="ja-JP" sz="1200" dirty="0"/>
          </a:p>
        </p:txBody>
      </p:sp>
      <p:sp>
        <p:nvSpPr>
          <p:cNvPr id="48" name="Shape 45"/>
          <p:cNvSpPr/>
          <p:nvPr/>
        </p:nvSpPr>
        <p:spPr>
          <a:xfrm>
            <a:off x="2995574" y="3945636"/>
            <a:ext cx="54864" cy="54864"/>
          </a:xfrm>
          <a:prstGeom prst="ellipse">
            <a:avLst/>
          </a:prstGeom>
          <a:solidFill>
            <a:srgbClr val="B08D57"/>
          </a:solidFill>
          <a:ln/>
        </p:spPr>
      </p:sp>
      <p:sp>
        <p:nvSpPr>
          <p:cNvPr id="49" name="Text 46"/>
          <p:cNvSpPr txBox="1"/>
          <p:nvPr/>
        </p:nvSpPr>
        <p:spPr>
          <a:xfrm>
            <a:off x="3151022" y="3858768"/>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営業</a:t>
            </a:r>
            <a:endParaRPr lang="ja-JP" sz="1200" dirty="0"/>
          </a:p>
        </p:txBody>
      </p:sp>
      <p:sp>
        <p:nvSpPr>
          <p:cNvPr id="50" name="Shape 47"/>
          <p:cNvSpPr/>
          <p:nvPr/>
        </p:nvSpPr>
        <p:spPr>
          <a:xfrm>
            <a:off x="2995574" y="4174236"/>
            <a:ext cx="54864" cy="54864"/>
          </a:xfrm>
          <a:prstGeom prst="ellipse">
            <a:avLst/>
          </a:prstGeom>
          <a:solidFill>
            <a:srgbClr val="B08D57"/>
          </a:solidFill>
          <a:ln/>
        </p:spPr>
      </p:sp>
      <p:sp>
        <p:nvSpPr>
          <p:cNvPr id="51" name="Text 48"/>
          <p:cNvSpPr txBox="1"/>
          <p:nvPr/>
        </p:nvSpPr>
        <p:spPr>
          <a:xfrm>
            <a:off x="3151022" y="4087368"/>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財務</a:t>
            </a:r>
            <a:endParaRPr lang="ja-JP" sz="1200" dirty="0"/>
          </a:p>
        </p:txBody>
      </p:sp>
      <p:sp>
        <p:nvSpPr>
          <p:cNvPr id="52" name="Shape 49"/>
          <p:cNvSpPr/>
          <p:nvPr/>
        </p:nvSpPr>
        <p:spPr>
          <a:xfrm>
            <a:off x="2995574" y="4402836"/>
            <a:ext cx="54864" cy="54864"/>
          </a:xfrm>
          <a:prstGeom prst="ellipse">
            <a:avLst/>
          </a:prstGeom>
          <a:solidFill>
            <a:srgbClr val="B08D57"/>
          </a:solidFill>
          <a:ln/>
        </p:spPr>
      </p:sp>
      <p:sp>
        <p:nvSpPr>
          <p:cNvPr id="53" name="Text 50"/>
          <p:cNvSpPr txBox="1"/>
          <p:nvPr/>
        </p:nvSpPr>
        <p:spPr>
          <a:xfrm>
            <a:off x="3151022" y="4315968"/>
            <a:ext cx="1627632" cy="228600"/>
          </a:xfrm>
          <a:prstGeom prst="rect">
            <a:avLst/>
          </a:prstGeom>
          <a:noFill/>
          <a:ln/>
        </p:spPr>
        <p:txBody>
          <a:bodyPr wrap="square" lIns="0" tIns="0" rIns="0" bIns="0" rtlCol="0" anchor="ctr"/>
          <a:lstStyle/>
          <a:p>
            <a:pPr algn="l" indent="0" marL="0">
              <a:buNone/>
            </a:pPr>
            <a:r>
              <a:rPr lang="ja-JP" altLang="en-US" sz="1200" dirty="0">
                <a:solidFill>
                  <a:srgbClr val="1B1F27"/>
                </a:solidFill>
                <a:latin typeface="Yu Gothic Medium" pitchFamily="34" charset="0"/>
                <a:ea typeface="Yu Gothic Medium" charset="-128"/>
                <a:cs typeface="Yu Gothic Medium" pitchFamily="34" charset="-120"/>
              </a:rPr>
              <a:t>経営</a:t>
            </a:r>
            <a:endParaRPr lang="ja-JP" sz="1200" dirty="0"/>
          </a:p>
        </p:txBody>
      </p:sp>
      <p:sp>
        <p:nvSpPr>
          <p:cNvPr id="54" name="Shape 51"/>
          <p:cNvSpPr/>
          <p:nvPr/>
        </p:nvSpPr>
        <p:spPr>
          <a:xfrm>
            <a:off x="5076749" y="2139696"/>
            <a:ext cx="2035454" cy="2624328"/>
          </a:xfrm>
          <a:prstGeom prst="rect">
            <a:avLst/>
          </a:prstGeom>
          <a:solidFill>
            <a:srgbClr val="22375C"/>
          </a:solidFill>
          <a:ln/>
        </p:spPr>
      </p:sp>
      <p:sp>
        <p:nvSpPr>
          <p:cNvPr id="55" name="Shape 52"/>
          <p:cNvSpPr/>
          <p:nvPr/>
        </p:nvSpPr>
        <p:spPr>
          <a:xfrm>
            <a:off x="6021324" y="1883664"/>
            <a:ext cx="146304" cy="146304"/>
          </a:xfrm>
          <a:prstGeom prst="ellipse">
            <a:avLst/>
          </a:prstGeom>
          <a:solidFill>
            <a:srgbClr val="B08D57"/>
          </a:solidFill>
          <a:ln/>
        </p:spPr>
      </p:sp>
      <p:sp>
        <p:nvSpPr>
          <p:cNvPr id="56" name="Text 53"/>
          <p:cNvSpPr txBox="1"/>
          <p:nvPr/>
        </p:nvSpPr>
        <p:spPr>
          <a:xfrm>
            <a:off x="5259629" y="2267712"/>
            <a:ext cx="1737360" cy="365760"/>
          </a:xfrm>
          <a:prstGeom prst="rect">
            <a:avLst/>
          </a:prstGeom>
          <a:noFill/>
          <a:ln/>
        </p:spPr>
        <p:txBody>
          <a:bodyPr wrap="square" lIns="0" tIns="0" rIns="0" bIns="0" rtlCol="0" anchor="ctr"/>
          <a:lstStyle/>
          <a:p>
            <a:pPr algn="l" indent="0" marL="0">
              <a:buNone/>
            </a:pPr>
            <a:r>
              <a:rPr lang="en-US" altLang="en-US" sz="2000" b="1" dirty="0">
                <a:solidFill>
                  <a:srgbClr val="FFFFFF"/>
                </a:solidFill>
                <a:latin typeface="Cambria" pitchFamily="34" charset="0"/>
                <a:ea typeface="Cambria" charset="-128"/>
                <a:cs typeface="Cambria" pitchFamily="34" charset="-120"/>
              </a:rPr>
              <a:t>2028</a:t>
            </a:r>
            <a:endParaRPr lang="en-US" sz="2000" dirty="0"/>
          </a:p>
        </p:txBody>
      </p:sp>
      <p:sp>
        <p:nvSpPr>
          <p:cNvPr id="57" name="Text 54"/>
          <p:cNvSpPr txBox="1"/>
          <p:nvPr/>
        </p:nvSpPr>
        <p:spPr>
          <a:xfrm>
            <a:off x="5259629" y="2633472"/>
            <a:ext cx="1737360" cy="219456"/>
          </a:xfrm>
          <a:prstGeom prst="rect">
            <a:avLst/>
          </a:prstGeom>
          <a:noFill/>
          <a:ln/>
        </p:spPr>
        <p:txBody>
          <a:bodyPr wrap="square" lIns="0" tIns="0" rIns="0" bIns="0" rtlCol="0" anchor="ctr"/>
          <a:lstStyle/>
          <a:p>
            <a:pPr algn="l" indent="0" marL="0">
              <a:buNone/>
            </a:pPr>
            <a:r>
              <a:rPr lang="en-US" altLang="en-US" sz="1000" b="1" dirty="0">
                <a:solidFill>
                  <a:srgbClr val="C9A96E"/>
                </a:solidFill>
                <a:latin typeface="Arial" pitchFamily="34" charset="0"/>
                <a:ea typeface="Arial" charset="-128"/>
                <a:cs typeface="Arial" pitchFamily="34" charset="-120"/>
              </a:rPr>
              <a:t>PARENT COMPANY CEO</a:t>
            </a:r>
            <a:endParaRPr lang="en-US" sz="1000" dirty="0"/>
          </a:p>
        </p:txBody>
      </p:sp>
      <p:sp>
        <p:nvSpPr>
          <p:cNvPr id="58" name="Text 55"/>
          <p:cNvSpPr txBox="1"/>
          <p:nvPr/>
        </p:nvSpPr>
        <p:spPr>
          <a:xfrm>
            <a:off x="5259629" y="2871216"/>
            <a:ext cx="1737360" cy="274320"/>
          </a:xfrm>
          <a:prstGeom prst="rect">
            <a:avLst/>
          </a:prstGeom>
          <a:noFill/>
          <a:ln/>
        </p:spPr>
        <p:txBody>
          <a:bodyPr wrap="square" lIns="0" tIns="0" rIns="0" bIns="0" rtlCol="0" anchor="ctr"/>
          <a:lstStyle/>
          <a:p>
            <a:pPr algn="l" indent="0" marL="0">
              <a:buNone/>
            </a:pPr>
            <a:r>
              <a:rPr lang="ja-JP" altLang="en-US" sz="1200" b="1" dirty="0">
                <a:solidFill>
                  <a:srgbClr val="FFFFFF"/>
                </a:solidFill>
                <a:latin typeface="Yu Gothic" pitchFamily="34" charset="0"/>
                <a:ea typeface="Yu Gothic" charset="-128"/>
                <a:cs typeface="Yu Gothic" pitchFamily="34" charset="-120"/>
              </a:rPr>
              <a:t>親会社CEO</a:t>
            </a:r>
            <a:endParaRPr lang="ja-JP" sz="1200" dirty="0"/>
          </a:p>
        </p:txBody>
      </p:sp>
      <p:sp>
        <p:nvSpPr>
          <p:cNvPr id="59" name="Shape 56"/>
          <p:cNvSpPr/>
          <p:nvPr/>
        </p:nvSpPr>
        <p:spPr>
          <a:xfrm>
            <a:off x="5259629" y="3287268"/>
            <a:ext cx="54864" cy="54864"/>
          </a:xfrm>
          <a:prstGeom prst="ellipse">
            <a:avLst/>
          </a:prstGeom>
          <a:solidFill>
            <a:srgbClr val="C9A96E"/>
          </a:solidFill>
          <a:ln/>
        </p:spPr>
      </p:sp>
      <p:sp>
        <p:nvSpPr>
          <p:cNvPr id="60" name="Text 57"/>
          <p:cNvSpPr txBox="1"/>
          <p:nvPr/>
        </p:nvSpPr>
        <p:spPr>
          <a:xfrm>
            <a:off x="5415077" y="3200400"/>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M&amp;A</a:t>
            </a:r>
            <a:endParaRPr lang="ja-JP" sz="1200" dirty="0"/>
          </a:p>
        </p:txBody>
      </p:sp>
      <p:sp>
        <p:nvSpPr>
          <p:cNvPr id="61" name="Shape 58"/>
          <p:cNvSpPr/>
          <p:nvPr/>
        </p:nvSpPr>
        <p:spPr>
          <a:xfrm>
            <a:off x="5259629" y="3515868"/>
            <a:ext cx="54864" cy="54864"/>
          </a:xfrm>
          <a:prstGeom prst="ellipse">
            <a:avLst/>
          </a:prstGeom>
          <a:solidFill>
            <a:srgbClr val="C9A96E"/>
          </a:solidFill>
          <a:ln/>
        </p:spPr>
      </p:sp>
      <p:sp>
        <p:nvSpPr>
          <p:cNvPr id="62" name="Text 59"/>
          <p:cNvSpPr txBox="1"/>
          <p:nvPr/>
        </p:nvSpPr>
        <p:spPr>
          <a:xfrm>
            <a:off x="5415077" y="3429000"/>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金融機関</a:t>
            </a:r>
            <a:endParaRPr lang="ja-JP" sz="1200" dirty="0"/>
          </a:p>
        </p:txBody>
      </p:sp>
      <p:sp>
        <p:nvSpPr>
          <p:cNvPr id="63" name="Shape 60"/>
          <p:cNvSpPr/>
          <p:nvPr/>
        </p:nvSpPr>
        <p:spPr>
          <a:xfrm>
            <a:off x="5259629" y="3744468"/>
            <a:ext cx="54864" cy="54864"/>
          </a:xfrm>
          <a:prstGeom prst="ellipse">
            <a:avLst/>
          </a:prstGeom>
          <a:solidFill>
            <a:srgbClr val="C9A96E"/>
          </a:solidFill>
          <a:ln/>
        </p:spPr>
      </p:sp>
      <p:sp>
        <p:nvSpPr>
          <p:cNvPr id="64" name="Text 61"/>
          <p:cNvSpPr txBox="1"/>
          <p:nvPr/>
        </p:nvSpPr>
        <p:spPr>
          <a:xfrm>
            <a:off x="5415077" y="3657600"/>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経営者採用</a:t>
            </a:r>
            <a:endParaRPr lang="ja-JP" sz="1200" dirty="0"/>
          </a:p>
        </p:txBody>
      </p:sp>
      <p:sp>
        <p:nvSpPr>
          <p:cNvPr id="65" name="Shape 62"/>
          <p:cNvSpPr/>
          <p:nvPr/>
        </p:nvSpPr>
        <p:spPr>
          <a:xfrm>
            <a:off x="7340803" y="1938528"/>
            <a:ext cx="2035454" cy="2624328"/>
          </a:xfrm>
          <a:prstGeom prst="rect">
            <a:avLst/>
          </a:prstGeom>
          <a:solidFill>
            <a:srgbClr val="14284B"/>
          </a:solidFill>
          <a:ln/>
        </p:spPr>
      </p:sp>
      <p:sp>
        <p:nvSpPr>
          <p:cNvPr id="66" name="Shape 63"/>
          <p:cNvSpPr/>
          <p:nvPr/>
        </p:nvSpPr>
        <p:spPr>
          <a:xfrm>
            <a:off x="8285378" y="1682496"/>
            <a:ext cx="146304" cy="146304"/>
          </a:xfrm>
          <a:prstGeom prst="ellipse">
            <a:avLst/>
          </a:prstGeom>
          <a:solidFill>
            <a:srgbClr val="B08D57"/>
          </a:solidFill>
          <a:ln/>
        </p:spPr>
      </p:sp>
      <p:sp>
        <p:nvSpPr>
          <p:cNvPr id="67" name="Text 64"/>
          <p:cNvSpPr txBox="1"/>
          <p:nvPr/>
        </p:nvSpPr>
        <p:spPr>
          <a:xfrm>
            <a:off x="7523683" y="2066544"/>
            <a:ext cx="1737360" cy="365760"/>
          </a:xfrm>
          <a:prstGeom prst="rect">
            <a:avLst/>
          </a:prstGeom>
          <a:noFill/>
          <a:ln/>
        </p:spPr>
        <p:txBody>
          <a:bodyPr wrap="square" lIns="0" tIns="0" rIns="0" bIns="0" rtlCol="0" anchor="ctr"/>
          <a:lstStyle/>
          <a:p>
            <a:pPr algn="l" indent="0" marL="0">
              <a:buNone/>
            </a:pPr>
            <a:r>
              <a:rPr lang="en-US" altLang="en-US" sz="2000" b="1" dirty="0">
                <a:solidFill>
                  <a:srgbClr val="FFFFFF"/>
                </a:solidFill>
                <a:latin typeface="Cambria" pitchFamily="34" charset="0"/>
                <a:ea typeface="Cambria" charset="-128"/>
                <a:cs typeface="Cambria" pitchFamily="34" charset="-120"/>
              </a:rPr>
              <a:t>2029–2031</a:t>
            </a:r>
            <a:endParaRPr lang="en-US" sz="2000" dirty="0"/>
          </a:p>
        </p:txBody>
      </p:sp>
      <p:sp>
        <p:nvSpPr>
          <p:cNvPr id="68" name="Text 65"/>
          <p:cNvSpPr txBox="1"/>
          <p:nvPr/>
        </p:nvSpPr>
        <p:spPr>
          <a:xfrm>
            <a:off x="7523683" y="2432304"/>
            <a:ext cx="1737360" cy="219456"/>
          </a:xfrm>
          <a:prstGeom prst="rect">
            <a:avLst/>
          </a:prstGeom>
          <a:noFill/>
          <a:ln/>
        </p:spPr>
        <p:txBody>
          <a:bodyPr wrap="square" lIns="0" tIns="0" rIns="0" bIns="0" rtlCol="0" anchor="ctr"/>
          <a:lstStyle/>
          <a:p>
            <a:pPr algn="l" indent="0" marL="0">
              <a:buNone/>
            </a:pPr>
            <a:r>
              <a:rPr lang="en-US" altLang="en-US" sz="1000" b="1" dirty="0">
                <a:solidFill>
                  <a:srgbClr val="C9A96E"/>
                </a:solidFill>
                <a:latin typeface="Arial" pitchFamily="34" charset="0"/>
                <a:ea typeface="Arial" charset="-128"/>
                <a:cs typeface="Arial" pitchFamily="34" charset="-120"/>
              </a:rPr>
              <a:t>GROUP CEO</a:t>
            </a:r>
            <a:endParaRPr lang="en-US" sz="1000" dirty="0"/>
          </a:p>
        </p:txBody>
      </p:sp>
      <p:sp>
        <p:nvSpPr>
          <p:cNvPr id="69" name="Text 66"/>
          <p:cNvSpPr txBox="1"/>
          <p:nvPr/>
        </p:nvSpPr>
        <p:spPr>
          <a:xfrm>
            <a:off x="7523683" y="2670048"/>
            <a:ext cx="1737360" cy="274320"/>
          </a:xfrm>
          <a:prstGeom prst="rect">
            <a:avLst/>
          </a:prstGeom>
          <a:noFill/>
          <a:ln/>
        </p:spPr>
        <p:txBody>
          <a:bodyPr wrap="square" lIns="0" tIns="0" rIns="0" bIns="0" rtlCol="0" anchor="ctr"/>
          <a:lstStyle/>
          <a:p>
            <a:pPr algn="l" indent="0" marL="0">
              <a:buNone/>
            </a:pPr>
            <a:r>
              <a:rPr lang="ja-JP" altLang="en-US" sz="1200" b="1" dirty="0">
                <a:solidFill>
                  <a:srgbClr val="FFFFFF"/>
                </a:solidFill>
                <a:latin typeface="Yu Gothic" pitchFamily="34" charset="0"/>
                <a:ea typeface="Yu Gothic" charset="-128"/>
                <a:cs typeface="Yu Gothic" pitchFamily="34" charset="-120"/>
              </a:rPr>
              <a:t>グループCEO</a:t>
            </a:r>
            <a:endParaRPr lang="ja-JP" sz="1200" dirty="0"/>
          </a:p>
        </p:txBody>
      </p:sp>
      <p:sp>
        <p:nvSpPr>
          <p:cNvPr id="70" name="Shape 67"/>
          <p:cNvSpPr/>
          <p:nvPr/>
        </p:nvSpPr>
        <p:spPr>
          <a:xfrm>
            <a:off x="7523683" y="3086100"/>
            <a:ext cx="54864" cy="54864"/>
          </a:xfrm>
          <a:prstGeom prst="ellipse">
            <a:avLst/>
          </a:prstGeom>
          <a:solidFill>
            <a:srgbClr val="C9A96E"/>
          </a:solidFill>
          <a:ln/>
        </p:spPr>
      </p:sp>
      <p:sp>
        <p:nvSpPr>
          <p:cNvPr id="71" name="Text 68"/>
          <p:cNvSpPr txBox="1"/>
          <p:nvPr/>
        </p:nvSpPr>
        <p:spPr>
          <a:xfrm>
            <a:off x="7679131" y="2999232"/>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資本配分</a:t>
            </a:r>
            <a:endParaRPr lang="ja-JP" sz="1200" dirty="0"/>
          </a:p>
        </p:txBody>
      </p:sp>
      <p:sp>
        <p:nvSpPr>
          <p:cNvPr id="72" name="Shape 69"/>
          <p:cNvSpPr/>
          <p:nvPr/>
        </p:nvSpPr>
        <p:spPr>
          <a:xfrm>
            <a:off x="7523683" y="3314700"/>
            <a:ext cx="54864" cy="54864"/>
          </a:xfrm>
          <a:prstGeom prst="ellipse">
            <a:avLst/>
          </a:prstGeom>
          <a:solidFill>
            <a:srgbClr val="C9A96E"/>
          </a:solidFill>
          <a:ln/>
        </p:spPr>
      </p:sp>
      <p:sp>
        <p:nvSpPr>
          <p:cNvPr id="73" name="Text 70"/>
          <p:cNvSpPr txBox="1"/>
          <p:nvPr/>
        </p:nvSpPr>
        <p:spPr>
          <a:xfrm>
            <a:off x="7679131" y="3227832"/>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M&amp;A</a:t>
            </a:r>
            <a:endParaRPr lang="ja-JP" sz="1200" dirty="0"/>
          </a:p>
        </p:txBody>
      </p:sp>
      <p:sp>
        <p:nvSpPr>
          <p:cNvPr id="74" name="Shape 71"/>
          <p:cNvSpPr/>
          <p:nvPr/>
        </p:nvSpPr>
        <p:spPr>
          <a:xfrm>
            <a:off x="7523683" y="3543300"/>
            <a:ext cx="54864" cy="54864"/>
          </a:xfrm>
          <a:prstGeom prst="ellipse">
            <a:avLst/>
          </a:prstGeom>
          <a:solidFill>
            <a:srgbClr val="C9A96E"/>
          </a:solidFill>
          <a:ln/>
        </p:spPr>
      </p:sp>
      <p:sp>
        <p:nvSpPr>
          <p:cNvPr id="75" name="Text 72"/>
          <p:cNvSpPr txBox="1"/>
          <p:nvPr/>
        </p:nvSpPr>
        <p:spPr>
          <a:xfrm>
            <a:off x="7679131" y="3456432"/>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社長人事</a:t>
            </a:r>
            <a:endParaRPr lang="ja-JP" sz="1200" dirty="0"/>
          </a:p>
        </p:txBody>
      </p:sp>
      <p:sp>
        <p:nvSpPr>
          <p:cNvPr id="76" name="Shape 73"/>
          <p:cNvSpPr/>
          <p:nvPr/>
        </p:nvSpPr>
        <p:spPr>
          <a:xfrm>
            <a:off x="7523683" y="3771900"/>
            <a:ext cx="54864" cy="54864"/>
          </a:xfrm>
          <a:prstGeom prst="ellipse">
            <a:avLst/>
          </a:prstGeom>
          <a:solidFill>
            <a:srgbClr val="C9A96E"/>
          </a:solidFill>
          <a:ln/>
        </p:spPr>
      </p:sp>
      <p:sp>
        <p:nvSpPr>
          <p:cNvPr id="77" name="Text 74"/>
          <p:cNvSpPr txBox="1"/>
          <p:nvPr/>
        </p:nvSpPr>
        <p:spPr>
          <a:xfrm>
            <a:off x="7679131" y="3685032"/>
            <a:ext cx="1627632" cy="228600"/>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グループ戦略</a:t>
            </a:r>
            <a:endParaRPr lang="ja-JP" sz="1200" dirty="0"/>
          </a:p>
        </p:txBody>
      </p:sp>
      <p:sp>
        <p:nvSpPr>
          <p:cNvPr id="78" name="Shape 75"/>
          <p:cNvSpPr/>
          <p:nvPr/>
        </p:nvSpPr>
        <p:spPr>
          <a:xfrm>
            <a:off x="9604858" y="1737360"/>
            <a:ext cx="2035454" cy="2624328"/>
          </a:xfrm>
          <a:prstGeom prst="rect">
            <a:avLst/>
          </a:prstGeom>
          <a:solidFill>
            <a:srgbClr val="FFFFFF"/>
          </a:solidFill>
          <a:ln w="12700">
            <a:solidFill>
              <a:srgbClr val="A7B0BE"/>
            </a:solidFill>
            <a:prstDash val="dash"/>
          </a:ln>
        </p:spPr>
      </p:sp>
      <p:sp>
        <p:nvSpPr>
          <p:cNvPr id="79" name="Shape 76"/>
          <p:cNvSpPr/>
          <p:nvPr/>
        </p:nvSpPr>
        <p:spPr>
          <a:xfrm>
            <a:off x="10522001" y="1453896"/>
            <a:ext cx="201168" cy="201168"/>
          </a:xfrm>
          <a:prstGeom prst="ellipse">
            <a:avLst/>
          </a:prstGeom>
          <a:solidFill>
            <a:srgbClr val="FFFFFF"/>
          </a:solidFill>
          <a:ln w="19050">
            <a:solidFill>
              <a:srgbClr val="B08D57"/>
            </a:solidFill>
            <a:prstDash val="solid"/>
          </a:ln>
        </p:spPr>
      </p:sp>
      <p:sp>
        <p:nvSpPr>
          <p:cNvPr id="80" name="Shape 77"/>
          <p:cNvSpPr/>
          <p:nvPr/>
        </p:nvSpPr>
        <p:spPr>
          <a:xfrm>
            <a:off x="10586009" y="1517904"/>
            <a:ext cx="73152" cy="73152"/>
          </a:xfrm>
          <a:prstGeom prst="ellipse">
            <a:avLst/>
          </a:prstGeom>
          <a:solidFill>
            <a:srgbClr val="B08D57"/>
          </a:solidFill>
          <a:ln/>
        </p:spPr>
      </p:sp>
      <p:sp>
        <p:nvSpPr>
          <p:cNvPr id="81" name="Text 78"/>
          <p:cNvSpPr txBox="1"/>
          <p:nvPr/>
        </p:nvSpPr>
        <p:spPr>
          <a:xfrm>
            <a:off x="9787738" y="1865376"/>
            <a:ext cx="1737360" cy="365760"/>
          </a:xfrm>
          <a:prstGeom prst="rect">
            <a:avLst/>
          </a:prstGeom>
          <a:noFill/>
          <a:ln/>
        </p:spPr>
        <p:txBody>
          <a:bodyPr wrap="square" lIns="0" tIns="0" rIns="0" bIns="0" rtlCol="0" anchor="ctr"/>
          <a:lstStyle/>
          <a:p>
            <a:pPr algn="l" indent="0" marL="0">
              <a:buNone/>
            </a:pPr>
            <a:r>
              <a:rPr lang="en-US" altLang="en-US" sz="1800" b="1" dirty="0">
                <a:solidFill>
                  <a:srgbClr val="8C6D3F"/>
                </a:solidFill>
                <a:latin typeface="Cambria" pitchFamily="34" charset="0"/>
                <a:ea typeface="Cambria" charset="-128"/>
                <a:cs typeface="Cambria" pitchFamily="34" charset="-120"/>
              </a:rPr>
              <a:t>FUTURE</a:t>
            </a:r>
            <a:endParaRPr lang="en-US" sz="1800" dirty="0"/>
          </a:p>
        </p:txBody>
      </p:sp>
      <p:sp>
        <p:nvSpPr>
          <p:cNvPr id="82" name="Text 79"/>
          <p:cNvSpPr txBox="1"/>
          <p:nvPr/>
        </p:nvSpPr>
        <p:spPr>
          <a:xfrm>
            <a:off x="9787738" y="2231136"/>
            <a:ext cx="1737360" cy="420624"/>
          </a:xfrm>
          <a:prstGeom prst="rect">
            <a:avLst/>
          </a:prstGeom>
          <a:noFill/>
          <a:ln/>
        </p:spPr>
        <p:txBody>
          <a:bodyPr wrap="square" lIns="0" tIns="0" rIns="0" bIns="0" rtlCol="0" anchor="t"/>
          <a:lstStyle/>
          <a:p>
            <a:pPr algn="l" indent="0" marL="0">
              <a:lnSpc>
                <a:spcPts val="1300"/>
              </a:lnSpc>
              <a:buNone/>
            </a:pPr>
            <a:r>
              <a:rPr lang="en-US" altLang="en-US" sz="1000" b="1" dirty="0">
                <a:solidFill>
                  <a:srgbClr val="8C6D3F"/>
                </a:solidFill>
                <a:latin typeface="Arial" pitchFamily="34" charset="0"/>
                <a:ea typeface="Arial" charset="-128"/>
                <a:cs typeface="Arial" pitchFamily="34" charset="-120"/>
              </a:rPr>
              <a:t>PUBLIC COMPANY</a:t>
            </a:r>
            <a:endParaRPr lang="en-US" sz="1000" dirty="0"/>
          </a:p>
          <a:p>
            <a:pPr algn="l" indent="0" marL="0">
              <a:lnSpc>
                <a:spcPts val="1300"/>
              </a:lnSpc>
              <a:buNone/>
            </a:pPr>
            <a:r>
              <a:rPr lang="en-US" altLang="en-US" sz="1000" b="1" dirty="0">
                <a:solidFill>
                  <a:srgbClr val="8C6D3F"/>
                </a:solidFill>
                <a:latin typeface="Arial" pitchFamily="34" charset="0"/>
                <a:ea typeface="Arial" charset="-128"/>
                <a:cs typeface="Arial" pitchFamily="34" charset="-120"/>
              </a:rPr>
              <a:t>GROUP CEO</a:t>
            </a:r>
            <a:endParaRPr lang="en-US" sz="1000" dirty="0"/>
          </a:p>
        </p:txBody>
      </p:sp>
      <p:sp>
        <p:nvSpPr>
          <p:cNvPr id="83" name="Text 80"/>
          <p:cNvSpPr txBox="1"/>
          <p:nvPr/>
        </p:nvSpPr>
        <p:spPr>
          <a:xfrm>
            <a:off x="9787738" y="2670048"/>
            <a:ext cx="1737360" cy="475488"/>
          </a:xfrm>
          <a:prstGeom prst="rect">
            <a:avLst/>
          </a:prstGeom>
          <a:noFill/>
          <a:ln/>
        </p:spPr>
        <p:txBody>
          <a:bodyPr wrap="square" lIns="0" tIns="0" rIns="0" bIns="0" rtlCol="0" anchor="t"/>
          <a:lstStyle/>
          <a:p>
            <a:pPr algn="l" indent="0" marL="0">
              <a:lnSpc>
                <a:spcPts val="1800"/>
              </a:lnSpc>
              <a:buNone/>
            </a:pPr>
            <a:r>
              <a:rPr lang="ja-JP" altLang="en-US" sz="1200" b="1" dirty="0">
                <a:solidFill>
                  <a:srgbClr val="14284B"/>
                </a:solidFill>
                <a:latin typeface="Yu Gothic" pitchFamily="34" charset="0"/>
                <a:ea typeface="Yu Gothic" charset="-128"/>
                <a:cs typeface="Yu Gothic" pitchFamily="34" charset="-120"/>
              </a:rPr>
              <a:t>上場企業</a:t>
            </a:r>
            <a:endParaRPr lang="ja-JP" sz="1200" dirty="0"/>
          </a:p>
          <a:p>
            <a:pPr algn="l" indent="0" marL="0">
              <a:lnSpc>
                <a:spcPts val="1800"/>
              </a:lnSpc>
              <a:buNone/>
            </a:pPr>
            <a:r>
              <a:rPr lang="ja-JP" altLang="en-US" sz="1200" b="1" dirty="0">
                <a:solidFill>
                  <a:srgbClr val="14284B"/>
                </a:solidFill>
                <a:latin typeface="Yu Gothic" pitchFamily="34" charset="0"/>
                <a:ea typeface="Yu Gothic" charset="-128"/>
                <a:cs typeface="Yu Gothic" pitchFamily="34" charset="-120"/>
              </a:rPr>
              <a:t>グループCEO</a:t>
            </a:r>
            <a:endParaRPr lang="ja-JP" sz="1200" dirty="0"/>
          </a:p>
        </p:txBody>
      </p:sp>
      <p:sp>
        <p:nvSpPr>
          <p:cNvPr id="84" name="Text 81"/>
          <p:cNvSpPr txBox="1"/>
          <p:nvPr/>
        </p:nvSpPr>
        <p:spPr>
          <a:xfrm>
            <a:off x="548640" y="5349240"/>
            <a:ext cx="11094415" cy="548640"/>
          </a:xfrm>
          <a:prstGeom prst="rect">
            <a:avLst/>
          </a:prstGeom>
          <a:noFill/>
          <a:ln/>
        </p:spPr>
        <p:txBody>
          <a:bodyPr wrap="square" lIns="0" tIns="0" rIns="0" bIns="0" rtlCol="0" anchor="ctr"/>
          <a:lstStyle/>
          <a:p>
            <a:pPr algn="l" indent="0" marL="0">
              <a:buNone/>
            </a:pPr>
            <a:r>
              <a:rPr lang="ja-JP" altLang="en-US" sz="2600" dirty="0">
                <a:solidFill>
                  <a:srgbClr val="8C6D3F"/>
                </a:solidFill>
                <a:latin typeface="Yu Mincho" pitchFamily="34" charset="0"/>
                <a:ea typeface="Yu Mincho" charset="-128"/>
                <a:cs typeface="Yu Mincho" pitchFamily="34" charset="-120"/>
              </a:rPr>
              <a:t>「自分が事業を回す」から、</a:t>
            </a:r>
            <a:pPr algn="l" indent="0" marL="0">
              <a:buNone/>
            </a:pPr>
            <a:r>
              <a:rPr lang="ja-JP" altLang="en-US" sz="2600" dirty="0">
                <a:solidFill>
                  <a:srgbClr val="14284B"/>
                </a:solidFill>
                <a:latin typeface="Yu Mincho" pitchFamily="34" charset="0"/>
                <a:ea typeface="Yu Mincho" charset="-128"/>
                <a:cs typeface="Yu Mincho" pitchFamily="34" charset="-120"/>
              </a:rPr>
              <a:t>「経営者と資本を配置する」へ。</a:t>
            </a:r>
            <a:endParaRPr lang="ja-JP"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22</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BEYOND 2031</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FFFFFF"/>
                </a:solidFill>
                <a:latin typeface="Yu Gothic" pitchFamily="34" charset="0"/>
                <a:ea typeface="Yu Gothic" charset="-128"/>
                <a:cs typeface="Yu Gothic" pitchFamily="34" charset="-120"/>
              </a:rPr>
              <a:t>2031年以降は、成長と経営体制の整備を同時に進める。</a:t>
            </a:r>
            <a:endParaRPr lang="ja-JP" sz="2600" dirty="0"/>
          </a:p>
        </p:txBody>
      </p:sp>
      <p:sp>
        <p:nvSpPr>
          <p:cNvPr id="4" name="Shape 2"/>
          <p:cNvSpPr/>
          <p:nvPr/>
        </p:nvSpPr>
        <p:spPr>
          <a:xfrm>
            <a:off x="8880856" y="585216"/>
            <a:ext cx="436880" cy="0"/>
          </a:xfrm>
          <a:prstGeom prst="line">
            <a:avLst/>
          </a:prstGeom>
          <a:noFill/>
          <a:ln w="12700">
            <a:solidFill>
              <a:srgbClr val="2E4468"/>
            </a:solidFill>
            <a:prstDash val="solid"/>
          </a:ln>
        </p:spPr>
      </p:sp>
      <p:sp>
        <p:nvSpPr>
          <p:cNvPr id="5" name="Shape 3"/>
          <p:cNvSpPr/>
          <p:nvPr/>
        </p:nvSpPr>
        <p:spPr>
          <a:xfrm>
            <a:off x="9878771" y="585216"/>
            <a:ext cx="444805" cy="0"/>
          </a:xfrm>
          <a:prstGeom prst="line">
            <a:avLst/>
          </a:prstGeom>
          <a:noFill/>
          <a:ln w="12700">
            <a:solidFill>
              <a:srgbClr val="2E4468"/>
            </a:solidFill>
            <a:prstDash val="solid"/>
          </a:ln>
        </p:spPr>
      </p:sp>
      <p:sp>
        <p:nvSpPr>
          <p:cNvPr id="6" name="Shape 4"/>
          <p:cNvSpPr/>
          <p:nvPr/>
        </p:nvSpPr>
        <p:spPr>
          <a:xfrm>
            <a:off x="10884611" y="585216"/>
            <a:ext cx="353365" cy="0"/>
          </a:xfrm>
          <a:prstGeom prst="line">
            <a:avLst/>
          </a:prstGeom>
          <a:noFill/>
          <a:ln w="19050">
            <a:solidFill>
              <a:srgbClr val="C9A96E"/>
            </a:solidFill>
            <a:prstDash val="sysDash"/>
          </a:ln>
        </p:spPr>
      </p:sp>
      <p:sp>
        <p:nvSpPr>
          <p:cNvPr id="7" name="Shape 5"/>
          <p:cNvSpPr/>
          <p:nvPr/>
        </p:nvSpPr>
        <p:spPr>
          <a:xfrm>
            <a:off x="8348472" y="539496"/>
            <a:ext cx="91440" cy="91440"/>
          </a:xfrm>
          <a:prstGeom prst="ellipse">
            <a:avLst/>
          </a:prstGeom>
          <a:solidFill>
            <a:srgbClr val="6F829C"/>
          </a:solidFill>
          <a:ln/>
        </p:spPr>
      </p:sp>
      <p:sp>
        <p:nvSpPr>
          <p:cNvPr id="8" name="Text 6"/>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NOW</a:t>
            </a:r>
            <a:endParaRPr lang="en-US" sz="1000" dirty="0"/>
          </a:p>
        </p:txBody>
      </p:sp>
      <p:sp>
        <p:nvSpPr>
          <p:cNvPr id="9" name="Shape 7"/>
          <p:cNvSpPr/>
          <p:nvPr/>
        </p:nvSpPr>
        <p:spPr>
          <a:xfrm>
            <a:off x="9354312" y="539496"/>
            <a:ext cx="91440" cy="91440"/>
          </a:xfrm>
          <a:prstGeom prst="ellipse">
            <a:avLst/>
          </a:prstGeom>
          <a:solidFill>
            <a:srgbClr val="6F829C"/>
          </a:solidFill>
          <a:ln/>
        </p:spPr>
      </p:sp>
      <p:sp>
        <p:nvSpPr>
          <p:cNvPr id="10" name="Text 8"/>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6F829C"/>
                </a:solidFill>
                <a:latin typeface="Arial" pitchFamily="34" charset="0"/>
                <a:ea typeface="Arial" charset="-128"/>
                <a:cs typeface="Arial" pitchFamily="34" charset="-120"/>
              </a:rPr>
              <a:t>2028</a:t>
            </a:r>
            <a:endParaRPr lang="en-US" sz="1000" dirty="0"/>
          </a:p>
        </p:txBody>
      </p:sp>
      <p:sp>
        <p:nvSpPr>
          <p:cNvPr id="11" name="Shape 9"/>
          <p:cNvSpPr/>
          <p:nvPr/>
        </p:nvSpPr>
        <p:spPr>
          <a:xfrm>
            <a:off x="10360152" y="539496"/>
            <a:ext cx="91440" cy="91440"/>
          </a:xfrm>
          <a:prstGeom prst="ellipse">
            <a:avLst/>
          </a:prstGeom>
          <a:solidFill>
            <a:srgbClr val="C9A96E"/>
          </a:solidFill>
          <a:ln/>
        </p:spPr>
      </p:sp>
      <p:sp>
        <p:nvSpPr>
          <p:cNvPr id="12" name="Text 10"/>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2031</a:t>
            </a:r>
            <a:endParaRPr lang="en-US" sz="1000" dirty="0"/>
          </a:p>
        </p:txBody>
      </p:sp>
      <p:sp>
        <p:nvSpPr>
          <p:cNvPr id="13" name="Shape 11"/>
          <p:cNvSpPr/>
          <p:nvPr/>
        </p:nvSpPr>
        <p:spPr>
          <a:xfrm>
            <a:off x="11274552" y="539496"/>
            <a:ext cx="91440" cy="91440"/>
          </a:xfrm>
          <a:prstGeom prst="ellipse">
            <a:avLst/>
          </a:prstGeom>
          <a:solidFill>
            <a:srgbClr val="C9A96E"/>
          </a:solidFill>
          <a:ln/>
        </p:spPr>
      </p:sp>
      <p:sp>
        <p:nvSpPr>
          <p:cNvPr id="14" name="Text 12"/>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IPO</a:t>
            </a:r>
            <a:endParaRPr lang="en-US" sz="1000" dirty="0"/>
          </a:p>
        </p:txBody>
      </p:sp>
      <p:sp>
        <p:nvSpPr>
          <p:cNvPr id="15" name="Text 13"/>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第Ⅳ章　経営者の役割と次のフェーズ</a:t>
            </a:r>
            <a:endParaRPr lang="ja-JP" sz="1000" dirty="0"/>
          </a:p>
        </p:txBody>
      </p:sp>
      <p:sp>
        <p:nvSpPr>
          <p:cNvPr id="16" name="Text 14"/>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22</a:t>
            </a:r>
            <a:endParaRPr lang="en-US" sz="1000" dirty="0"/>
          </a:p>
        </p:txBody>
      </p:sp>
      <p:sp>
        <p:nvSpPr>
          <p:cNvPr id="18" name="Shape 15"/>
          <p:cNvSpPr/>
          <p:nvPr/>
        </p:nvSpPr>
        <p:spPr>
          <a:xfrm>
            <a:off x="548640" y="1737360"/>
            <a:ext cx="2834640" cy="1234440"/>
          </a:xfrm>
          <a:prstGeom prst="rect">
            <a:avLst/>
          </a:prstGeom>
          <a:solidFill>
            <a:srgbClr val="13243F"/>
          </a:solidFill>
          <a:ln w="12700">
            <a:solidFill>
              <a:srgbClr val="C9A96E"/>
            </a:solidFill>
            <a:prstDash val="solid"/>
          </a:ln>
        </p:spPr>
      </p:sp>
      <p:sp>
        <p:nvSpPr>
          <p:cNvPr id="19" name="Text 16"/>
          <p:cNvSpPr txBox="1"/>
          <p:nvPr/>
        </p:nvSpPr>
        <p:spPr>
          <a:xfrm>
            <a:off x="777240" y="1847088"/>
            <a:ext cx="1280160" cy="237744"/>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PHASE 1</a:t>
            </a:r>
            <a:endParaRPr lang="en-US" sz="1100" dirty="0"/>
          </a:p>
        </p:txBody>
      </p:sp>
      <p:sp>
        <p:nvSpPr>
          <p:cNvPr id="20" name="Text 17"/>
          <p:cNvSpPr txBox="1"/>
          <p:nvPr/>
        </p:nvSpPr>
        <p:spPr>
          <a:xfrm>
            <a:off x="2011680" y="1847088"/>
            <a:ext cx="1188720" cy="237744"/>
          </a:xfrm>
          <a:prstGeom prst="rect">
            <a:avLst/>
          </a:prstGeom>
          <a:noFill/>
          <a:ln/>
        </p:spPr>
        <p:txBody>
          <a:bodyPr wrap="square" lIns="0" tIns="0" rIns="0" bIns="0" rtlCol="0" anchor="ctr"/>
          <a:lstStyle/>
          <a:p>
            <a:pPr algn="r" indent="0" marL="0">
              <a:buNone/>
            </a:pPr>
            <a:r>
              <a:rPr lang="en-US" altLang="en-US" sz="1100" dirty="0">
                <a:solidFill>
                  <a:srgbClr val="A7B0BE"/>
                </a:solidFill>
                <a:latin typeface="Arial" pitchFamily="34" charset="0"/>
                <a:ea typeface="Arial" charset="-128"/>
                <a:cs typeface="Arial" pitchFamily="34" charset="-120"/>
              </a:rPr>
              <a:t>2026–2031</a:t>
            </a:r>
            <a:endParaRPr lang="en-US" sz="1100" dirty="0"/>
          </a:p>
        </p:txBody>
      </p:sp>
      <p:sp>
        <p:nvSpPr>
          <p:cNvPr id="21" name="Text 18"/>
          <p:cNvSpPr txBox="1"/>
          <p:nvPr/>
        </p:nvSpPr>
        <p:spPr>
          <a:xfrm>
            <a:off x="777240" y="2148840"/>
            <a:ext cx="2468880" cy="365760"/>
          </a:xfrm>
          <a:prstGeom prst="rect">
            <a:avLst/>
          </a:prstGeom>
          <a:noFill/>
          <a:ln/>
        </p:spPr>
        <p:txBody>
          <a:bodyPr wrap="square" lIns="0" tIns="0" rIns="0" bIns="0" rtlCol="0" anchor="ctr"/>
          <a:lstStyle/>
          <a:p>
            <a:pPr algn="l" indent="0" marL="0">
              <a:buNone/>
            </a:pPr>
            <a:r>
              <a:rPr lang="ja-JP" altLang="en-US" sz="1800" b="1" dirty="0">
                <a:solidFill>
                  <a:srgbClr val="FFFFFF"/>
                </a:solidFill>
                <a:latin typeface="Yu Gothic" pitchFamily="34" charset="0"/>
                <a:ea typeface="Yu Gothic" charset="-128"/>
                <a:cs typeface="Yu Gothic" pitchFamily="34" charset="-120"/>
              </a:rPr>
              <a:t>グループ形成</a:t>
            </a:r>
            <a:endParaRPr lang="ja-JP" sz="1800" dirty="0"/>
          </a:p>
        </p:txBody>
      </p:sp>
      <p:sp>
        <p:nvSpPr>
          <p:cNvPr id="22" name="Text 19"/>
          <p:cNvSpPr txBox="1"/>
          <p:nvPr/>
        </p:nvSpPr>
        <p:spPr>
          <a:xfrm>
            <a:off x="777240" y="2560320"/>
            <a:ext cx="2468880" cy="256032"/>
          </a:xfrm>
          <a:prstGeom prst="rect">
            <a:avLst/>
          </a:prstGeom>
          <a:noFill/>
          <a:ln/>
        </p:spPr>
        <p:txBody>
          <a:bodyPr wrap="square" lIns="0" tIns="0" rIns="0" bIns="0" rtlCol="0" anchor="ctr"/>
          <a:lstStyle/>
          <a:p>
            <a:pPr algn="l" indent="0" marL="0">
              <a:buNone/>
            </a:pPr>
            <a:r>
              <a:rPr lang="ja-JP" altLang="en-US" sz="1200" dirty="0">
                <a:solidFill>
                  <a:srgbClr val="D5DBE3"/>
                </a:solidFill>
                <a:latin typeface="Yu Gothic Medium" pitchFamily="34" charset="0"/>
                <a:ea typeface="Yu Gothic Medium" charset="-128"/>
                <a:cs typeface="Yu Gothic Medium" pitchFamily="34" charset="-120"/>
              </a:rPr>
              <a:t>連結売上30億円（暫定）</a:t>
            </a:r>
            <a:endParaRPr lang="ja-JP" sz="1200" dirty="0"/>
          </a:p>
        </p:txBody>
      </p:sp>
      <p:sp>
        <p:nvSpPr>
          <p:cNvPr id="23" name="Shape 20"/>
          <p:cNvSpPr/>
          <p:nvPr/>
        </p:nvSpPr>
        <p:spPr>
          <a:xfrm>
            <a:off x="3429000" y="2354580"/>
            <a:ext cx="274320" cy="0"/>
          </a:xfrm>
          <a:prstGeom prst="line">
            <a:avLst/>
          </a:prstGeom>
          <a:noFill/>
          <a:ln w="19050">
            <a:solidFill>
              <a:srgbClr val="C9A96E"/>
            </a:solidFill>
            <a:prstDash val="solid"/>
            <a:tailEnd type="triangle"/>
          </a:ln>
        </p:spPr>
      </p:sp>
      <p:sp>
        <p:nvSpPr>
          <p:cNvPr id="24" name="Shape 21"/>
          <p:cNvSpPr/>
          <p:nvPr/>
        </p:nvSpPr>
        <p:spPr>
          <a:xfrm>
            <a:off x="3749040" y="1737360"/>
            <a:ext cx="3566160" cy="1234440"/>
          </a:xfrm>
          <a:prstGeom prst="rect">
            <a:avLst/>
          </a:prstGeom>
          <a:solidFill>
            <a:srgbClr val="13243F"/>
          </a:solidFill>
          <a:ln w="12700">
            <a:solidFill>
              <a:srgbClr val="A7B0BE"/>
            </a:solidFill>
            <a:prstDash val="solid"/>
          </a:ln>
        </p:spPr>
      </p:sp>
      <p:sp>
        <p:nvSpPr>
          <p:cNvPr id="25" name="Text 22"/>
          <p:cNvSpPr txBox="1"/>
          <p:nvPr/>
        </p:nvSpPr>
        <p:spPr>
          <a:xfrm>
            <a:off x="3977640" y="1847088"/>
            <a:ext cx="1280160" cy="237744"/>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PHASE 2</a:t>
            </a:r>
            <a:endParaRPr lang="en-US" sz="1100" dirty="0"/>
          </a:p>
        </p:txBody>
      </p:sp>
      <p:sp>
        <p:nvSpPr>
          <p:cNvPr id="26" name="Text 23"/>
          <p:cNvSpPr txBox="1"/>
          <p:nvPr/>
        </p:nvSpPr>
        <p:spPr>
          <a:xfrm>
            <a:off x="3977640" y="2148840"/>
            <a:ext cx="3108960" cy="365760"/>
          </a:xfrm>
          <a:prstGeom prst="rect">
            <a:avLst/>
          </a:prstGeom>
          <a:noFill/>
          <a:ln/>
        </p:spPr>
        <p:txBody>
          <a:bodyPr wrap="square" lIns="0" tIns="0" rIns="0" bIns="0" rtlCol="0" anchor="ctr"/>
          <a:lstStyle/>
          <a:p>
            <a:pPr algn="l" indent="0" marL="0">
              <a:buNone/>
            </a:pPr>
            <a:r>
              <a:rPr lang="ja-JP" altLang="en-US" sz="1800" b="1" dirty="0">
                <a:solidFill>
                  <a:srgbClr val="FFFFFF"/>
                </a:solidFill>
                <a:latin typeface="Yu Gothic" pitchFamily="34" charset="0"/>
                <a:ea typeface="Yu Gothic" charset="-128"/>
                <a:cs typeface="Yu Gothic" pitchFamily="34" charset="-120"/>
              </a:rPr>
              <a:t>複数事業の成長</a:t>
            </a:r>
            <a:endParaRPr lang="ja-JP" sz="1800" dirty="0"/>
          </a:p>
        </p:txBody>
      </p:sp>
      <p:sp>
        <p:nvSpPr>
          <p:cNvPr id="27" name="Text 24"/>
          <p:cNvSpPr txBox="1"/>
          <p:nvPr/>
        </p:nvSpPr>
        <p:spPr>
          <a:xfrm>
            <a:off x="3977640" y="2560320"/>
            <a:ext cx="3108960" cy="256032"/>
          </a:xfrm>
          <a:prstGeom prst="rect">
            <a:avLst/>
          </a:prstGeom>
          <a:noFill/>
          <a:ln/>
        </p:spPr>
        <p:txBody>
          <a:bodyPr wrap="square" lIns="0" tIns="0" rIns="0" bIns="0" rtlCol="0" anchor="ctr"/>
          <a:lstStyle/>
          <a:p>
            <a:pPr algn="l" indent="0" marL="0">
              <a:buNone/>
            </a:pPr>
            <a:r>
              <a:rPr lang="ja-JP" altLang="en-US" sz="1300" dirty="0">
                <a:solidFill>
                  <a:srgbClr val="D5DBE3"/>
                </a:solidFill>
                <a:latin typeface="Yu Gothic Medium" pitchFamily="34" charset="0"/>
                <a:ea typeface="Yu Gothic Medium" charset="-128"/>
                <a:cs typeface="Yu Gothic Medium" pitchFamily="34" charset="-120"/>
              </a:rPr>
              <a:t>50億円 → 100億円</a:t>
            </a:r>
            <a:endParaRPr lang="ja-JP" sz="1300" dirty="0"/>
          </a:p>
        </p:txBody>
      </p:sp>
      <p:sp>
        <p:nvSpPr>
          <p:cNvPr id="28" name="Shape 25"/>
          <p:cNvSpPr/>
          <p:nvPr/>
        </p:nvSpPr>
        <p:spPr>
          <a:xfrm>
            <a:off x="7360920" y="2354580"/>
            <a:ext cx="274320" cy="0"/>
          </a:xfrm>
          <a:prstGeom prst="line">
            <a:avLst/>
          </a:prstGeom>
          <a:noFill/>
          <a:ln w="19050">
            <a:solidFill>
              <a:srgbClr val="C9A96E"/>
            </a:solidFill>
            <a:prstDash val="solid"/>
            <a:tailEnd type="triangle"/>
          </a:ln>
        </p:spPr>
      </p:sp>
      <p:sp>
        <p:nvSpPr>
          <p:cNvPr id="29" name="Shape 26"/>
          <p:cNvSpPr/>
          <p:nvPr/>
        </p:nvSpPr>
        <p:spPr>
          <a:xfrm>
            <a:off x="7680960" y="1737360"/>
            <a:ext cx="1828800" cy="1234440"/>
          </a:xfrm>
          <a:prstGeom prst="rect">
            <a:avLst/>
          </a:prstGeom>
          <a:solidFill>
            <a:srgbClr val="13243F"/>
          </a:solidFill>
          <a:ln w="12700">
            <a:solidFill>
              <a:srgbClr val="A7B0BE"/>
            </a:solidFill>
            <a:prstDash val="dash"/>
          </a:ln>
        </p:spPr>
      </p:sp>
      <p:sp>
        <p:nvSpPr>
          <p:cNvPr id="30" name="Text 27"/>
          <p:cNvSpPr txBox="1"/>
          <p:nvPr/>
        </p:nvSpPr>
        <p:spPr>
          <a:xfrm>
            <a:off x="7863840" y="1847088"/>
            <a:ext cx="1600200" cy="237744"/>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IPO READY</a:t>
            </a:r>
            <a:endParaRPr lang="en-US" sz="1100" dirty="0"/>
          </a:p>
        </p:txBody>
      </p:sp>
      <p:sp>
        <p:nvSpPr>
          <p:cNvPr id="31" name="Text 28"/>
          <p:cNvSpPr txBox="1"/>
          <p:nvPr/>
        </p:nvSpPr>
        <p:spPr>
          <a:xfrm>
            <a:off x="7863840" y="2194560"/>
            <a:ext cx="1554480" cy="566928"/>
          </a:xfrm>
          <a:prstGeom prst="rect">
            <a:avLst/>
          </a:prstGeom>
          <a:noFill/>
          <a:ln/>
        </p:spPr>
        <p:txBody>
          <a:bodyPr wrap="square" lIns="0" tIns="0" rIns="0" bIns="0" rtlCol="0" anchor="t"/>
          <a:lstStyle/>
          <a:p>
            <a:pPr algn="l" indent="0" marL="0">
              <a:lnSpc>
                <a:spcPts val="2100"/>
              </a:lnSpc>
              <a:buNone/>
            </a:pPr>
            <a:r>
              <a:rPr lang="ja-JP" altLang="en-US" sz="1400" b="1" dirty="0">
                <a:solidFill>
                  <a:srgbClr val="FFFFFF"/>
                </a:solidFill>
                <a:latin typeface="Yu Gothic" pitchFamily="34" charset="0"/>
                <a:ea typeface="Yu Gothic" charset="-128"/>
                <a:cs typeface="Yu Gothic" pitchFamily="34" charset="-120"/>
              </a:rPr>
              <a:t>上場できる</a:t>
            </a:r>
            <a:endParaRPr lang="ja-JP" sz="1400" dirty="0"/>
          </a:p>
          <a:p>
            <a:pPr algn="l" indent="0" marL="0">
              <a:lnSpc>
                <a:spcPts val="2100"/>
              </a:lnSpc>
              <a:buNone/>
            </a:pPr>
            <a:r>
              <a:rPr lang="ja-JP" altLang="en-US" sz="1400" b="1" dirty="0">
                <a:solidFill>
                  <a:srgbClr val="FFFFFF"/>
                </a:solidFill>
                <a:latin typeface="Yu Gothic" pitchFamily="34" charset="0"/>
                <a:ea typeface="Yu Gothic" charset="-128"/>
                <a:cs typeface="Yu Gothic" pitchFamily="34" charset="-120"/>
              </a:rPr>
              <a:t>経営体制</a:t>
            </a:r>
            <a:endParaRPr lang="ja-JP" sz="1400" dirty="0"/>
          </a:p>
        </p:txBody>
      </p:sp>
      <p:sp>
        <p:nvSpPr>
          <p:cNvPr id="32" name="Shape 29"/>
          <p:cNvSpPr/>
          <p:nvPr/>
        </p:nvSpPr>
        <p:spPr>
          <a:xfrm>
            <a:off x="9555480" y="2354580"/>
            <a:ext cx="274320" cy="0"/>
          </a:xfrm>
          <a:prstGeom prst="line">
            <a:avLst/>
          </a:prstGeom>
          <a:noFill/>
          <a:ln w="19050">
            <a:solidFill>
              <a:srgbClr val="C9A96E"/>
            </a:solidFill>
            <a:prstDash val="solid"/>
            <a:tailEnd type="triangle"/>
          </a:ln>
        </p:spPr>
      </p:sp>
      <p:sp>
        <p:nvSpPr>
          <p:cNvPr id="33" name="Shape 30"/>
          <p:cNvSpPr/>
          <p:nvPr/>
        </p:nvSpPr>
        <p:spPr>
          <a:xfrm>
            <a:off x="9875520" y="1737360"/>
            <a:ext cx="1764792" cy="1234440"/>
          </a:xfrm>
          <a:prstGeom prst="rect">
            <a:avLst/>
          </a:prstGeom>
          <a:solidFill>
            <a:srgbClr val="13243F"/>
          </a:solidFill>
          <a:ln w="22225">
            <a:solidFill>
              <a:srgbClr val="C9A96E"/>
            </a:solidFill>
            <a:prstDash val="solid"/>
          </a:ln>
        </p:spPr>
      </p:sp>
      <p:sp>
        <p:nvSpPr>
          <p:cNvPr id="34" name="Text 31"/>
          <p:cNvSpPr txBox="1"/>
          <p:nvPr/>
        </p:nvSpPr>
        <p:spPr>
          <a:xfrm>
            <a:off x="9875520" y="1874520"/>
            <a:ext cx="1764792" cy="548640"/>
          </a:xfrm>
          <a:prstGeom prst="rect">
            <a:avLst/>
          </a:prstGeom>
          <a:noFill/>
          <a:ln/>
        </p:spPr>
        <p:txBody>
          <a:bodyPr wrap="square" lIns="0" tIns="0" rIns="0" bIns="0" rtlCol="0" anchor="ctr"/>
          <a:lstStyle/>
          <a:p>
            <a:pPr algn="ctr" indent="0" marL="0">
              <a:buNone/>
            </a:pPr>
            <a:r>
              <a:rPr lang="en-US" altLang="en-US" sz="3000" b="1" dirty="0">
                <a:solidFill>
                  <a:srgbClr val="C9A96E"/>
                </a:solidFill>
                <a:latin typeface="Cambria" pitchFamily="34" charset="0"/>
                <a:ea typeface="Cambria" charset="-128"/>
                <a:cs typeface="Cambria" pitchFamily="34" charset="-120"/>
              </a:rPr>
              <a:t>IPO</a:t>
            </a:r>
            <a:endParaRPr lang="en-US" sz="3000" dirty="0"/>
          </a:p>
        </p:txBody>
      </p:sp>
      <p:sp>
        <p:nvSpPr>
          <p:cNvPr id="35" name="Text 32"/>
          <p:cNvSpPr txBox="1"/>
          <p:nvPr/>
        </p:nvSpPr>
        <p:spPr>
          <a:xfrm>
            <a:off x="9875520" y="2487168"/>
            <a:ext cx="1764792" cy="274320"/>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Yu Gothic" pitchFamily="34" charset="0"/>
                <a:ea typeface="Yu Gothic" charset="-128"/>
                <a:cs typeface="Yu Gothic" pitchFamily="34" charset="-120"/>
              </a:rPr>
              <a:t>グループ上場</a:t>
            </a:r>
            <a:endParaRPr lang="ja-JP" sz="1300" dirty="0"/>
          </a:p>
        </p:txBody>
      </p:sp>
      <p:sp>
        <p:nvSpPr>
          <p:cNvPr id="36" name="Text 33"/>
          <p:cNvSpPr txBox="1"/>
          <p:nvPr/>
        </p:nvSpPr>
        <p:spPr>
          <a:xfrm>
            <a:off x="548640" y="3310128"/>
            <a:ext cx="2743200" cy="237744"/>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GOVERNANCE</a:t>
            </a:r>
            <a:endParaRPr lang="en-US" sz="1100" dirty="0"/>
          </a:p>
        </p:txBody>
      </p:sp>
      <p:sp>
        <p:nvSpPr>
          <p:cNvPr id="37" name="Text 34"/>
          <p:cNvSpPr txBox="1"/>
          <p:nvPr/>
        </p:nvSpPr>
        <p:spPr>
          <a:xfrm>
            <a:off x="548640" y="3584448"/>
            <a:ext cx="2926080" cy="685800"/>
          </a:xfrm>
          <a:prstGeom prst="rect">
            <a:avLst/>
          </a:prstGeom>
          <a:noFill/>
          <a:ln/>
        </p:spPr>
        <p:txBody>
          <a:bodyPr wrap="square" lIns="0" tIns="0" rIns="0" bIns="0" rtlCol="0" anchor="t"/>
          <a:lstStyle/>
          <a:p>
            <a:pPr algn="l" indent="0" marL="0">
              <a:lnSpc>
                <a:spcPts val="2500"/>
              </a:lnSpc>
              <a:buNone/>
            </a:pPr>
            <a:r>
              <a:rPr lang="ja-JP" altLang="en-US" sz="1700" b="1" dirty="0">
                <a:solidFill>
                  <a:srgbClr val="FFFFFF"/>
                </a:solidFill>
                <a:latin typeface="Yu Gothic" pitchFamily="34" charset="0"/>
                <a:ea typeface="Yu Gothic" charset="-128"/>
                <a:cs typeface="Yu Gothic" pitchFamily="34" charset="-120"/>
              </a:rPr>
              <a:t>上場できる</a:t>
            </a:r>
            <a:endParaRPr lang="ja-JP" sz="1700" dirty="0"/>
          </a:p>
          <a:p>
            <a:pPr algn="l" indent="0" marL="0">
              <a:lnSpc>
                <a:spcPts val="2500"/>
              </a:lnSpc>
              <a:buNone/>
            </a:pPr>
            <a:r>
              <a:rPr lang="ja-JP" altLang="en-US" sz="1700" b="1" dirty="0">
                <a:solidFill>
                  <a:srgbClr val="FFFFFF"/>
                </a:solidFill>
                <a:latin typeface="Yu Gothic" pitchFamily="34" charset="0"/>
                <a:ea typeface="Yu Gothic" charset="-128"/>
                <a:cs typeface="Yu Gothic" pitchFamily="34" charset="-120"/>
              </a:rPr>
              <a:t>経営体制の整備</a:t>
            </a:r>
            <a:endParaRPr lang="ja-JP" sz="1700" dirty="0"/>
          </a:p>
        </p:txBody>
      </p:sp>
      <p:sp>
        <p:nvSpPr>
          <p:cNvPr id="38" name="Text 35"/>
          <p:cNvSpPr txBox="1"/>
          <p:nvPr/>
        </p:nvSpPr>
        <p:spPr>
          <a:xfrm>
            <a:off x="548640" y="4315968"/>
            <a:ext cx="3108960" cy="402336"/>
          </a:xfrm>
          <a:prstGeom prst="rect">
            <a:avLst/>
          </a:prstGeom>
          <a:noFill/>
          <a:ln/>
        </p:spPr>
        <p:txBody>
          <a:bodyPr wrap="square" lIns="0" tIns="0" rIns="0" bIns="0" rtlCol="0" anchor="t"/>
          <a:lstStyle/>
          <a:p>
            <a:pPr algn="l" indent="0" marL="0">
              <a:lnSpc>
                <a:spcPts val="1500"/>
              </a:lnSpc>
              <a:buNone/>
            </a:pPr>
            <a:r>
              <a:rPr lang="ja-JP" altLang="en-US" sz="1050" dirty="0">
                <a:solidFill>
                  <a:srgbClr val="A7B0BE"/>
                </a:solidFill>
                <a:latin typeface="Yu Gothic Medium" pitchFamily="34" charset="0"/>
                <a:ea typeface="Yu Gothic Medium" charset="-128"/>
                <a:cs typeface="Yu Gothic Medium" pitchFamily="34" charset="-120"/>
              </a:rPr>
              <a:t>PHASE 2の成長と同時に整備する10項目</a:t>
            </a:r>
            <a:endParaRPr lang="ja-JP" sz="1050" dirty="0"/>
          </a:p>
          <a:p>
            <a:pPr algn="l" indent="0" marL="0">
              <a:lnSpc>
                <a:spcPts val="1500"/>
              </a:lnSpc>
              <a:buNone/>
            </a:pPr>
            <a:r>
              <a:rPr lang="ja-JP" altLang="en-US" sz="1050" dirty="0">
                <a:solidFill>
                  <a:srgbClr val="A7B0BE"/>
                </a:solidFill>
                <a:latin typeface="Yu Gothic Medium" pitchFamily="34" charset="0"/>
                <a:ea typeface="Yu Gothic Medium" charset="-128"/>
                <a:cs typeface="Yu Gothic Medium" pitchFamily="34" charset="-120"/>
              </a:rPr>
              <a:t>（連結管理・内部統制の基盤はPHASE 1から）</a:t>
            </a:r>
            <a:endParaRPr lang="ja-JP" sz="1050" dirty="0"/>
          </a:p>
        </p:txBody>
      </p:sp>
      <p:sp>
        <p:nvSpPr>
          <p:cNvPr id="39" name="Text 36"/>
          <p:cNvSpPr txBox="1"/>
          <p:nvPr/>
        </p:nvSpPr>
        <p:spPr>
          <a:xfrm>
            <a:off x="3749040" y="3337560"/>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連結会計</a:t>
            </a:r>
            <a:endParaRPr lang="ja-JP" sz="1200" dirty="0"/>
          </a:p>
        </p:txBody>
      </p:sp>
      <p:sp>
        <p:nvSpPr>
          <p:cNvPr id="40" name="Text 37"/>
          <p:cNvSpPr txBox="1"/>
          <p:nvPr/>
        </p:nvSpPr>
        <p:spPr>
          <a:xfrm>
            <a:off x="5351526" y="3337560"/>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監査</a:t>
            </a:r>
            <a:endParaRPr lang="ja-JP" sz="1200" dirty="0"/>
          </a:p>
        </p:txBody>
      </p:sp>
      <p:sp>
        <p:nvSpPr>
          <p:cNvPr id="41" name="Text 38"/>
          <p:cNvSpPr txBox="1"/>
          <p:nvPr/>
        </p:nvSpPr>
        <p:spPr>
          <a:xfrm>
            <a:off x="6954012" y="3337560"/>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内部統制</a:t>
            </a:r>
            <a:endParaRPr lang="ja-JP" sz="1200" dirty="0"/>
          </a:p>
        </p:txBody>
      </p:sp>
      <p:sp>
        <p:nvSpPr>
          <p:cNvPr id="42" name="Text 39"/>
          <p:cNvSpPr txBox="1"/>
          <p:nvPr/>
        </p:nvSpPr>
        <p:spPr>
          <a:xfrm>
            <a:off x="8556498" y="3337560"/>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コンプライアンス</a:t>
            </a:r>
            <a:endParaRPr lang="ja-JP" sz="1200" dirty="0"/>
          </a:p>
        </p:txBody>
      </p:sp>
      <p:sp>
        <p:nvSpPr>
          <p:cNvPr id="43" name="Text 40"/>
          <p:cNvSpPr txBox="1"/>
          <p:nvPr/>
        </p:nvSpPr>
        <p:spPr>
          <a:xfrm>
            <a:off x="10158984" y="3337560"/>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法務</a:t>
            </a:r>
            <a:endParaRPr lang="ja-JP" sz="1200" dirty="0"/>
          </a:p>
        </p:txBody>
      </p:sp>
      <p:sp>
        <p:nvSpPr>
          <p:cNvPr id="44" name="Text 41"/>
          <p:cNvSpPr txBox="1"/>
          <p:nvPr/>
        </p:nvSpPr>
        <p:spPr>
          <a:xfrm>
            <a:off x="3749040" y="3904488"/>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取締役会</a:t>
            </a:r>
            <a:endParaRPr lang="ja-JP" sz="1200" dirty="0"/>
          </a:p>
        </p:txBody>
      </p:sp>
      <p:sp>
        <p:nvSpPr>
          <p:cNvPr id="45" name="Text 42"/>
          <p:cNvSpPr txBox="1"/>
          <p:nvPr/>
        </p:nvSpPr>
        <p:spPr>
          <a:xfrm>
            <a:off x="5351526" y="3904488"/>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ガバナンス</a:t>
            </a:r>
            <a:endParaRPr lang="ja-JP" sz="1200" dirty="0"/>
          </a:p>
        </p:txBody>
      </p:sp>
      <p:sp>
        <p:nvSpPr>
          <p:cNvPr id="46" name="Text 43"/>
          <p:cNvSpPr txBox="1"/>
          <p:nvPr/>
        </p:nvSpPr>
        <p:spPr>
          <a:xfrm>
            <a:off x="6954012" y="3904488"/>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経営陣強化</a:t>
            </a:r>
            <a:endParaRPr lang="ja-JP" sz="1200" dirty="0"/>
          </a:p>
        </p:txBody>
      </p:sp>
      <p:sp>
        <p:nvSpPr>
          <p:cNvPr id="47" name="Text 44"/>
          <p:cNvSpPr txBox="1"/>
          <p:nvPr/>
        </p:nvSpPr>
        <p:spPr>
          <a:xfrm>
            <a:off x="8556498" y="3904488"/>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IR</a:t>
            </a:r>
            <a:endParaRPr lang="ja-JP" sz="1200" dirty="0"/>
          </a:p>
        </p:txBody>
      </p:sp>
      <p:sp>
        <p:nvSpPr>
          <p:cNvPr id="48" name="Text 45"/>
          <p:cNvSpPr txBox="1"/>
          <p:nvPr/>
        </p:nvSpPr>
        <p:spPr>
          <a:xfrm>
            <a:off x="10158984" y="3904488"/>
            <a:ext cx="1481328" cy="438912"/>
          </a:xfrm>
          <a:prstGeom prst="rect">
            <a:avLst/>
          </a:prstGeom>
          <a:solidFill>
            <a:srgbClr val="13243F"/>
          </a:solidFill>
          <a:ln w="9525">
            <a:solidFill>
              <a:srgbClr val="3C5378"/>
            </a:solidFill>
          </a:ln>
        </p:spPr>
        <p:txBody>
          <a:bodyPr wrap="square" lIns="0" tIns="0" rIns="0" bIns="0" rtlCol="0" anchor="ctr"/>
          <a:lstStyle/>
          <a:p>
            <a:pPr algn="ctr" indent="0" marL="0">
              <a:buNone/>
            </a:pPr>
            <a:r>
              <a:rPr lang="ja-JP" altLang="en-US" sz="1200" dirty="0">
                <a:solidFill>
                  <a:srgbClr val="FFFFFF"/>
                </a:solidFill>
                <a:latin typeface="Yu Gothic Medium" pitchFamily="34" charset="0"/>
                <a:ea typeface="Yu Gothic Medium" charset="-128"/>
                <a:cs typeface="Yu Gothic Medium" pitchFamily="34" charset="-120"/>
              </a:rPr>
              <a:t>資本政策</a:t>
            </a:r>
            <a:endParaRPr lang="ja-JP" sz="1200" dirty="0"/>
          </a:p>
        </p:txBody>
      </p:sp>
      <p:sp>
        <p:nvSpPr>
          <p:cNvPr id="49" name="Text 46"/>
          <p:cNvSpPr txBox="1"/>
          <p:nvPr/>
        </p:nvSpPr>
        <p:spPr>
          <a:xfrm>
            <a:off x="548640" y="4892040"/>
            <a:ext cx="11094415" cy="960120"/>
          </a:xfrm>
          <a:prstGeom prst="rect">
            <a:avLst/>
          </a:prstGeom>
          <a:noFill/>
          <a:ln/>
        </p:spPr>
        <p:txBody>
          <a:bodyPr wrap="square" lIns="0" tIns="0" rIns="0" bIns="0" rtlCol="0" anchor="t"/>
          <a:lstStyle/>
          <a:p>
            <a:pPr algn="l" indent="0" marL="0">
              <a:lnSpc>
                <a:spcPts val="3800"/>
              </a:lnSpc>
              <a:buNone/>
            </a:pPr>
            <a:r>
              <a:rPr lang="ja-JP" altLang="en-US" sz="2400" dirty="0">
                <a:solidFill>
                  <a:srgbClr val="D5DBE3"/>
                </a:solidFill>
                <a:latin typeface="Yu Mincho" pitchFamily="34" charset="0"/>
                <a:ea typeface="Yu Mincho" charset="-128"/>
                <a:cs typeface="Yu Mincho" pitchFamily="34" charset="-120"/>
              </a:rPr>
              <a:t>売上規模だけでは上場しない。</a:t>
            </a:r>
            <a:endParaRPr lang="ja-JP" sz="2400" dirty="0"/>
          </a:p>
          <a:p>
            <a:pPr algn="l" indent="0" marL="0">
              <a:lnSpc>
                <a:spcPts val="3800"/>
              </a:lnSpc>
              <a:buNone/>
            </a:pPr>
            <a:r>
              <a:rPr lang="ja-JP" altLang="en-US" sz="2400" dirty="0">
                <a:solidFill>
                  <a:srgbClr val="C9A96E"/>
                </a:solidFill>
                <a:latin typeface="Yu Mincho" pitchFamily="34" charset="0"/>
                <a:ea typeface="Yu Mincho" charset="-128"/>
                <a:cs typeface="Yu Mincho" pitchFamily="34" charset="-120"/>
              </a:rPr>
              <a:t>上場できる経営体制を先に作る。</a:t>
            </a:r>
            <a:endParaRPr lang="ja-JP"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A2E"/>
        </a:solidFill>
      </p:bgPr>
    </p:bg>
    <p:spTree>
      <p:nvGrpSpPr>
        <p:cNvPr id="1" name=""/>
        <p:cNvGrpSpPr/>
        <p:nvPr/>
      </p:nvGrpSpPr>
      <p:grpSpPr>
        <a:xfrm>
          <a:off x="0" y="0"/>
          <a:ext cx="0" cy="0"/>
          <a:chOff x="0" y="0"/>
          <a:chExt cx="0" cy="0"/>
        </a:xfrm>
      </p:grpSpPr>
      <p:sp>
        <p:nvSpPr>
          <p:cNvPr id="2" name="Text 0"/>
          <p:cNvSpPr txBox="1"/>
          <p:nvPr/>
        </p:nvSpPr>
        <p:spPr>
          <a:xfrm>
            <a:off x="548640" y="457200"/>
            <a:ext cx="7498080" cy="256032"/>
          </a:xfrm>
          <a:prstGeom prst="rect">
            <a:avLst/>
          </a:prstGeom>
          <a:noFill/>
          <a:ln/>
        </p:spPr>
        <p:txBody>
          <a:bodyPr wrap="square" lIns="0" tIns="0" rIns="0" bIns="0" rtlCol="0" anchor="ctr"/>
          <a:lstStyle/>
          <a:p>
            <a:pPr algn="l" indent="0" marL="0">
              <a:buNone/>
            </a:pPr>
            <a:r>
              <a:rPr lang="en-US" altLang="en-US" sz="1100" b="1" spc="200" kern="0" dirty="0">
                <a:solidFill>
                  <a:srgbClr val="C9A96E"/>
                </a:solidFill>
                <a:latin typeface="Arial" pitchFamily="34" charset="0"/>
                <a:ea typeface="Arial" charset="-128"/>
                <a:cs typeface="Arial" pitchFamily="34" charset="-120"/>
              </a:rPr>
              <a:t>23</a:t>
            </a:r>
            <a:pPr algn="l" indent="0" marL="0">
              <a:buNone/>
            </a:pPr>
            <a:r>
              <a:rPr lang="en-US" altLang="en-US" sz="1100" b="1" spc="200" kern="0" dirty="0">
                <a:solidFill>
                  <a:srgbClr val="6F829C"/>
                </a:solidFill>
                <a:latin typeface="Arial" pitchFamily="34" charset="0"/>
                <a:ea typeface="Arial" charset="-128"/>
                <a:cs typeface="Arial" pitchFamily="34" charset="-120"/>
              </a:rPr>
              <a:t>   |   </a:t>
            </a:r>
            <a:pPr algn="l" indent="0" marL="0">
              <a:buNone/>
            </a:pPr>
            <a:r>
              <a:rPr lang="en-US" altLang="en-US" sz="1100" b="1" spc="200" kern="0" dirty="0">
                <a:solidFill>
                  <a:srgbClr val="A7B0BE"/>
                </a:solidFill>
                <a:latin typeface="Arial" pitchFamily="34" charset="0"/>
                <a:ea typeface="Arial" charset="-128"/>
                <a:cs typeface="Arial" pitchFamily="34" charset="-120"/>
              </a:rPr>
              <a:t>MANAGEMENT COMPASS</a:t>
            </a:r>
            <a:endParaRPr lang="en-US" sz="1100" dirty="0"/>
          </a:p>
        </p:txBody>
      </p:sp>
      <p:sp>
        <p:nvSpPr>
          <p:cNvPr id="3" name="Text 1"/>
          <p:cNvSpPr txBox="1"/>
          <p:nvPr/>
        </p:nvSpPr>
        <p:spPr>
          <a:xfrm>
            <a:off x="548640" y="749808"/>
            <a:ext cx="11094415" cy="566928"/>
          </a:xfrm>
          <a:prstGeom prst="rect">
            <a:avLst/>
          </a:prstGeom>
          <a:noFill/>
          <a:ln/>
        </p:spPr>
        <p:txBody>
          <a:bodyPr wrap="square" lIns="0" tIns="0" rIns="0" bIns="0" rtlCol="0" anchor="ctr"/>
          <a:lstStyle/>
          <a:p>
            <a:pPr algn="l" indent="0" marL="0">
              <a:buNone/>
            </a:pPr>
            <a:r>
              <a:rPr lang="ja-JP" altLang="en-US" sz="2600" b="1" dirty="0">
                <a:solidFill>
                  <a:srgbClr val="FFFFFF"/>
                </a:solidFill>
                <a:latin typeface="Yu Gothic" pitchFamily="34" charset="0"/>
                <a:ea typeface="Yu Gothic" charset="-128"/>
                <a:cs typeface="Yu Gothic" pitchFamily="34" charset="-120"/>
              </a:rPr>
              <a:t>迷ったらここへ戻る。</a:t>
            </a:r>
            <a:endParaRPr lang="ja-JP" sz="2600" dirty="0"/>
          </a:p>
        </p:txBody>
      </p:sp>
      <p:sp>
        <p:nvSpPr>
          <p:cNvPr id="4" name="Text 2"/>
          <p:cNvSpPr txBox="1"/>
          <p:nvPr/>
        </p:nvSpPr>
        <p:spPr>
          <a:xfrm>
            <a:off x="548640" y="1325880"/>
            <a:ext cx="11094415" cy="329184"/>
          </a:xfrm>
          <a:prstGeom prst="rect">
            <a:avLst/>
          </a:prstGeom>
          <a:noFill/>
          <a:ln/>
        </p:spPr>
        <p:txBody>
          <a:bodyPr wrap="square" lIns="0" tIns="0" rIns="0" bIns="0" rtlCol="0" anchor="ctr"/>
          <a:lstStyle/>
          <a:p>
            <a:pPr algn="l" indent="0" marL="0">
              <a:buNone/>
            </a:pPr>
            <a:r>
              <a:rPr lang="ja-JP" altLang="en-US" sz="1400" dirty="0">
                <a:solidFill>
                  <a:srgbClr val="D5DBE3"/>
                </a:solidFill>
                <a:latin typeface="Yu Gothic Medium" pitchFamily="34" charset="0"/>
                <a:ea typeface="Yu Gothic Medium" charset="-128"/>
                <a:cs typeface="Yu Gothic Medium" pitchFamily="34" charset="-120"/>
              </a:rPr>
              <a:t>重要な経営判断をする際は、次の5つの問いに照らして決める。</a:t>
            </a:r>
            <a:endParaRPr lang="ja-JP" sz="1400" dirty="0"/>
          </a:p>
        </p:txBody>
      </p:sp>
      <p:sp>
        <p:nvSpPr>
          <p:cNvPr id="5" name="Shape 3"/>
          <p:cNvSpPr/>
          <p:nvPr/>
        </p:nvSpPr>
        <p:spPr>
          <a:xfrm>
            <a:off x="8880856" y="585216"/>
            <a:ext cx="436880" cy="0"/>
          </a:xfrm>
          <a:prstGeom prst="line">
            <a:avLst/>
          </a:prstGeom>
          <a:noFill/>
          <a:ln w="19050">
            <a:solidFill>
              <a:srgbClr val="C9A96E"/>
            </a:solidFill>
            <a:prstDash val="solid"/>
          </a:ln>
        </p:spPr>
      </p:sp>
      <p:sp>
        <p:nvSpPr>
          <p:cNvPr id="6" name="Shape 4"/>
          <p:cNvSpPr/>
          <p:nvPr/>
        </p:nvSpPr>
        <p:spPr>
          <a:xfrm>
            <a:off x="9878771" y="585216"/>
            <a:ext cx="444805" cy="0"/>
          </a:xfrm>
          <a:prstGeom prst="line">
            <a:avLst/>
          </a:prstGeom>
          <a:noFill/>
          <a:ln w="19050">
            <a:solidFill>
              <a:srgbClr val="C9A96E"/>
            </a:solidFill>
            <a:prstDash val="solid"/>
          </a:ln>
        </p:spPr>
      </p:sp>
      <p:sp>
        <p:nvSpPr>
          <p:cNvPr id="7" name="Shape 5"/>
          <p:cNvSpPr/>
          <p:nvPr/>
        </p:nvSpPr>
        <p:spPr>
          <a:xfrm>
            <a:off x="10884611" y="585216"/>
            <a:ext cx="353365" cy="0"/>
          </a:xfrm>
          <a:prstGeom prst="line">
            <a:avLst/>
          </a:prstGeom>
          <a:noFill/>
          <a:ln w="19050">
            <a:solidFill>
              <a:srgbClr val="C9A96E"/>
            </a:solidFill>
            <a:prstDash val="sysDash"/>
          </a:ln>
        </p:spPr>
      </p:sp>
      <p:sp>
        <p:nvSpPr>
          <p:cNvPr id="8" name="Shape 6"/>
          <p:cNvSpPr/>
          <p:nvPr/>
        </p:nvSpPr>
        <p:spPr>
          <a:xfrm>
            <a:off x="8348472" y="539496"/>
            <a:ext cx="91440" cy="91440"/>
          </a:xfrm>
          <a:prstGeom prst="ellipse">
            <a:avLst/>
          </a:prstGeom>
          <a:solidFill>
            <a:srgbClr val="C9A96E"/>
          </a:solidFill>
          <a:ln/>
        </p:spPr>
      </p:sp>
      <p:sp>
        <p:nvSpPr>
          <p:cNvPr id="9" name="Text 7"/>
          <p:cNvSpPr txBox="1"/>
          <p:nvPr/>
        </p:nvSpPr>
        <p:spPr>
          <a:xfrm>
            <a:off x="848563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NOW</a:t>
            </a:r>
            <a:endParaRPr lang="en-US" sz="1000" dirty="0"/>
          </a:p>
        </p:txBody>
      </p:sp>
      <p:sp>
        <p:nvSpPr>
          <p:cNvPr id="10" name="Shape 8"/>
          <p:cNvSpPr/>
          <p:nvPr/>
        </p:nvSpPr>
        <p:spPr>
          <a:xfrm>
            <a:off x="9354312" y="539496"/>
            <a:ext cx="91440" cy="91440"/>
          </a:xfrm>
          <a:prstGeom prst="ellipse">
            <a:avLst/>
          </a:prstGeom>
          <a:solidFill>
            <a:srgbClr val="C9A96E"/>
          </a:solidFill>
          <a:ln/>
        </p:spPr>
      </p:sp>
      <p:sp>
        <p:nvSpPr>
          <p:cNvPr id="11" name="Text 9"/>
          <p:cNvSpPr txBox="1"/>
          <p:nvPr/>
        </p:nvSpPr>
        <p:spPr>
          <a:xfrm>
            <a:off x="949147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2028</a:t>
            </a:r>
            <a:endParaRPr lang="en-US" sz="1000" dirty="0"/>
          </a:p>
        </p:txBody>
      </p:sp>
      <p:sp>
        <p:nvSpPr>
          <p:cNvPr id="12" name="Shape 10"/>
          <p:cNvSpPr/>
          <p:nvPr/>
        </p:nvSpPr>
        <p:spPr>
          <a:xfrm>
            <a:off x="10360152" y="539496"/>
            <a:ext cx="91440" cy="91440"/>
          </a:xfrm>
          <a:prstGeom prst="ellipse">
            <a:avLst/>
          </a:prstGeom>
          <a:solidFill>
            <a:srgbClr val="C9A96E"/>
          </a:solidFill>
          <a:ln/>
        </p:spPr>
      </p:sp>
      <p:sp>
        <p:nvSpPr>
          <p:cNvPr id="13" name="Text 11"/>
          <p:cNvSpPr txBox="1"/>
          <p:nvPr/>
        </p:nvSpPr>
        <p:spPr>
          <a:xfrm>
            <a:off x="10497312" y="466344"/>
            <a:ext cx="420624"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2031</a:t>
            </a:r>
            <a:endParaRPr lang="en-US" sz="1000" dirty="0"/>
          </a:p>
        </p:txBody>
      </p:sp>
      <p:sp>
        <p:nvSpPr>
          <p:cNvPr id="14" name="Shape 12"/>
          <p:cNvSpPr/>
          <p:nvPr/>
        </p:nvSpPr>
        <p:spPr>
          <a:xfrm>
            <a:off x="11274552" y="539496"/>
            <a:ext cx="91440" cy="91440"/>
          </a:xfrm>
          <a:prstGeom prst="ellipse">
            <a:avLst/>
          </a:prstGeom>
          <a:solidFill>
            <a:srgbClr val="C9A96E"/>
          </a:solidFill>
          <a:ln/>
        </p:spPr>
      </p:sp>
      <p:sp>
        <p:nvSpPr>
          <p:cNvPr id="15" name="Text 13"/>
          <p:cNvSpPr txBox="1"/>
          <p:nvPr/>
        </p:nvSpPr>
        <p:spPr>
          <a:xfrm>
            <a:off x="11411712" y="466344"/>
            <a:ext cx="274320" cy="237744"/>
          </a:xfrm>
          <a:prstGeom prst="rect">
            <a:avLst/>
          </a:prstGeom>
          <a:noFill/>
          <a:ln/>
        </p:spPr>
        <p:txBody>
          <a:bodyPr wrap="square" lIns="0" tIns="0" rIns="0" bIns="0" rtlCol="0" anchor="ctr"/>
          <a:lstStyle/>
          <a:p>
            <a:pPr algn="l" indent="0" marL="0">
              <a:buNone/>
            </a:pPr>
            <a:r>
              <a:rPr lang="en-US" altLang="en-US" sz="1000" b="1" dirty="0">
                <a:solidFill>
                  <a:srgbClr val="FFFFFF"/>
                </a:solidFill>
                <a:latin typeface="Arial" pitchFamily="34" charset="0"/>
                <a:ea typeface="Arial" charset="-128"/>
                <a:cs typeface="Arial" pitchFamily="34" charset="-120"/>
              </a:rPr>
              <a:t>IPO</a:t>
            </a:r>
            <a:endParaRPr lang="en-US" sz="1000" dirty="0"/>
          </a:p>
        </p:txBody>
      </p:sp>
      <p:sp>
        <p:nvSpPr>
          <p:cNvPr id="16" name="Text 14"/>
          <p:cNvSpPr txBox="1"/>
          <p:nvPr/>
        </p:nvSpPr>
        <p:spPr>
          <a:xfrm>
            <a:off x="548640" y="6217920"/>
            <a:ext cx="7315200" cy="201168"/>
          </a:xfrm>
          <a:prstGeom prst="rect">
            <a:avLst/>
          </a:prstGeom>
          <a:noFill/>
          <a:ln/>
        </p:spPr>
        <p:txBody>
          <a:bodyPr wrap="square" lIns="0" tIns="0" rIns="0" bIns="0" rtlCol="0" anchor="ctr"/>
          <a:lstStyle/>
          <a:p>
            <a:pPr algn="l" indent="0" marL="0">
              <a:buNone/>
            </a:pPr>
            <a:r>
              <a:rPr lang="ja-JP" altLang="en-US" sz="1000" dirty="0">
                <a:solidFill>
                  <a:srgbClr val="8A97AB"/>
                </a:solidFill>
                <a:latin typeface="Yu Gothic Medium" pitchFamily="34" charset="0"/>
                <a:ea typeface="Yu Gothic Medium" charset="-128"/>
                <a:cs typeface="Yu Gothic Medium" pitchFamily="34" charset="-120"/>
              </a:rPr>
              <a:t>ROOTIVE GROUP 5カ年経営計画 2026–2031　｜　第Ⅳ章　経営者の役割と次のフェーズ</a:t>
            </a:r>
            <a:endParaRPr lang="ja-JP" sz="1000" dirty="0"/>
          </a:p>
        </p:txBody>
      </p:sp>
      <p:sp>
        <p:nvSpPr>
          <p:cNvPr id="17" name="Text 15"/>
          <p:cNvSpPr txBox="1"/>
          <p:nvPr/>
        </p:nvSpPr>
        <p:spPr>
          <a:xfrm>
            <a:off x="10908792" y="6217920"/>
            <a:ext cx="731520" cy="201168"/>
          </a:xfrm>
          <a:prstGeom prst="rect">
            <a:avLst/>
          </a:prstGeom>
          <a:noFill/>
          <a:ln/>
        </p:spPr>
        <p:txBody>
          <a:bodyPr wrap="square" lIns="0" tIns="0" rIns="0" bIns="0" rtlCol="0" anchor="ctr"/>
          <a:lstStyle/>
          <a:p>
            <a:pPr algn="r" indent="0" marL="0">
              <a:buNone/>
            </a:pPr>
            <a:r>
              <a:rPr lang="en-US" altLang="en-US" sz="1000" dirty="0">
                <a:solidFill>
                  <a:srgbClr val="8A97AB"/>
                </a:solidFill>
                <a:latin typeface="Arial" pitchFamily="34" charset="0"/>
                <a:ea typeface="Arial" charset="-128"/>
                <a:cs typeface="Arial" pitchFamily="34" charset="-120"/>
              </a:rPr>
              <a:t>23</a:t>
            </a:r>
            <a:endParaRPr lang="en-US" sz="1000" dirty="0"/>
          </a:p>
        </p:txBody>
      </p:sp>
      <p:sp>
        <p:nvSpPr>
          <p:cNvPr id="19" name="Shape 16"/>
          <p:cNvSpPr/>
          <p:nvPr/>
        </p:nvSpPr>
        <p:spPr>
          <a:xfrm>
            <a:off x="731520" y="2125980"/>
            <a:ext cx="0" cy="2267712"/>
          </a:xfrm>
          <a:prstGeom prst="line">
            <a:avLst/>
          </a:prstGeom>
          <a:noFill/>
          <a:ln w="15875">
            <a:solidFill>
              <a:srgbClr val="C9A96E"/>
            </a:solidFill>
            <a:prstDash val="solid"/>
          </a:ln>
        </p:spPr>
      </p:sp>
      <p:sp>
        <p:nvSpPr>
          <p:cNvPr id="20" name="Shape 17"/>
          <p:cNvSpPr/>
          <p:nvPr/>
        </p:nvSpPr>
        <p:spPr>
          <a:xfrm>
            <a:off x="667512" y="2061972"/>
            <a:ext cx="128016" cy="128016"/>
          </a:xfrm>
          <a:prstGeom prst="ellipse">
            <a:avLst/>
          </a:prstGeom>
          <a:solidFill>
            <a:srgbClr val="C9A96E"/>
          </a:solidFill>
          <a:ln/>
        </p:spPr>
      </p:sp>
      <p:sp>
        <p:nvSpPr>
          <p:cNvPr id="21" name="Text 18"/>
          <p:cNvSpPr txBox="1"/>
          <p:nvPr/>
        </p:nvSpPr>
        <p:spPr>
          <a:xfrm>
            <a:off x="1005840" y="1874520"/>
            <a:ext cx="640080" cy="50292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01</a:t>
            </a:r>
            <a:endParaRPr lang="en-US" sz="2200" dirty="0"/>
          </a:p>
        </p:txBody>
      </p:sp>
      <p:sp>
        <p:nvSpPr>
          <p:cNvPr id="22" name="Text 19"/>
          <p:cNvSpPr txBox="1"/>
          <p:nvPr/>
        </p:nvSpPr>
        <p:spPr>
          <a:xfrm>
            <a:off x="1691640" y="1874520"/>
            <a:ext cx="7680960" cy="502920"/>
          </a:xfrm>
          <a:prstGeom prst="rect">
            <a:avLst/>
          </a:prstGeom>
          <a:noFill/>
          <a:ln/>
        </p:spPr>
        <p:txBody>
          <a:bodyPr wrap="square" lIns="0" tIns="0" rIns="0" bIns="0" rtlCol="0" anchor="ctr"/>
          <a:lstStyle/>
          <a:p>
            <a:pPr algn="l" indent="0" marL="0">
              <a:buNone/>
            </a:pPr>
            <a:r>
              <a:rPr lang="ja-JP" altLang="en-US" sz="1900" dirty="0">
                <a:solidFill>
                  <a:srgbClr val="FFFFFF"/>
                </a:solidFill>
                <a:latin typeface="Yu Gothic Medium" pitchFamily="34" charset="0"/>
                <a:ea typeface="Yu Gothic Medium" charset="-128"/>
                <a:cs typeface="Yu Gothic Medium" pitchFamily="34" charset="-120"/>
              </a:rPr>
              <a:t>2031年グループ30億に近づくか。</a:t>
            </a:r>
            <a:endParaRPr lang="ja-JP" sz="1900" dirty="0"/>
          </a:p>
        </p:txBody>
      </p:sp>
      <p:sp>
        <p:nvSpPr>
          <p:cNvPr id="23" name="Text 20"/>
          <p:cNvSpPr txBox="1"/>
          <p:nvPr/>
        </p:nvSpPr>
        <p:spPr>
          <a:xfrm>
            <a:off x="9418320" y="1874520"/>
            <a:ext cx="2221992" cy="502920"/>
          </a:xfrm>
          <a:prstGeom prst="rect">
            <a:avLst/>
          </a:prstGeom>
          <a:noFill/>
          <a:ln/>
        </p:spPr>
        <p:txBody>
          <a:bodyPr wrap="square" lIns="0" tIns="0" rIns="0" bIns="0" rtlCol="0" anchor="ctr"/>
          <a:lstStyle/>
          <a:p>
            <a:pPr algn="r" indent="0" marL="0">
              <a:buNone/>
            </a:pPr>
            <a:r>
              <a:rPr lang="ja-JP" altLang="en-US" sz="1100" dirty="0">
                <a:solidFill>
                  <a:srgbClr val="A7B0BE"/>
                </a:solidFill>
                <a:latin typeface="Yu Gothic Medium" pitchFamily="34" charset="0"/>
                <a:ea typeface="Yu Gothic Medium" charset="-128"/>
                <a:cs typeface="Yu Gothic Medium" pitchFamily="34" charset="-120"/>
              </a:rPr>
              <a:t>関連 P.06–08</a:t>
            </a:r>
            <a:endParaRPr lang="ja-JP" sz="1100" dirty="0"/>
          </a:p>
        </p:txBody>
      </p:sp>
      <p:sp>
        <p:nvSpPr>
          <p:cNvPr id="24" name="Shape 21"/>
          <p:cNvSpPr/>
          <p:nvPr/>
        </p:nvSpPr>
        <p:spPr>
          <a:xfrm>
            <a:off x="1005840" y="2409444"/>
            <a:ext cx="10637215" cy="0"/>
          </a:xfrm>
          <a:prstGeom prst="line">
            <a:avLst/>
          </a:prstGeom>
          <a:noFill/>
          <a:ln w="9525">
            <a:solidFill>
              <a:srgbClr val="2E4468"/>
            </a:solidFill>
            <a:prstDash val="solid"/>
          </a:ln>
        </p:spPr>
      </p:sp>
      <p:sp>
        <p:nvSpPr>
          <p:cNvPr id="25" name="Shape 22"/>
          <p:cNvSpPr/>
          <p:nvPr/>
        </p:nvSpPr>
        <p:spPr>
          <a:xfrm>
            <a:off x="667512" y="2628900"/>
            <a:ext cx="128016" cy="128016"/>
          </a:xfrm>
          <a:prstGeom prst="ellipse">
            <a:avLst/>
          </a:prstGeom>
          <a:solidFill>
            <a:srgbClr val="C9A96E"/>
          </a:solidFill>
          <a:ln/>
        </p:spPr>
      </p:sp>
      <p:sp>
        <p:nvSpPr>
          <p:cNvPr id="26" name="Text 23"/>
          <p:cNvSpPr txBox="1"/>
          <p:nvPr/>
        </p:nvSpPr>
        <p:spPr>
          <a:xfrm>
            <a:off x="1005840" y="2441448"/>
            <a:ext cx="640080" cy="50292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02</a:t>
            </a:r>
            <a:endParaRPr lang="en-US" sz="2200" dirty="0"/>
          </a:p>
        </p:txBody>
      </p:sp>
      <p:sp>
        <p:nvSpPr>
          <p:cNvPr id="27" name="Text 24"/>
          <p:cNvSpPr txBox="1"/>
          <p:nvPr/>
        </p:nvSpPr>
        <p:spPr>
          <a:xfrm>
            <a:off x="1691640" y="2441448"/>
            <a:ext cx="7680960" cy="502920"/>
          </a:xfrm>
          <a:prstGeom prst="rect">
            <a:avLst/>
          </a:prstGeom>
          <a:noFill/>
          <a:ln/>
        </p:spPr>
        <p:txBody>
          <a:bodyPr wrap="square" lIns="0" tIns="0" rIns="0" bIns="0" rtlCol="0" anchor="ctr"/>
          <a:lstStyle/>
          <a:p>
            <a:pPr algn="l" indent="0" marL="0">
              <a:buNone/>
            </a:pPr>
            <a:r>
              <a:rPr lang="ja-JP" altLang="en-US" sz="1900" dirty="0">
                <a:solidFill>
                  <a:srgbClr val="FFFFFF"/>
                </a:solidFill>
                <a:latin typeface="Yu Gothic Medium" pitchFamily="34" charset="0"/>
                <a:ea typeface="Yu Gothic Medium" charset="-128"/>
                <a:cs typeface="Yu Gothic Medium" pitchFamily="34" charset="-120"/>
              </a:rPr>
              <a:t>上場できる企業グループに近づくか。</a:t>
            </a:r>
            <a:endParaRPr lang="ja-JP" sz="1900" dirty="0"/>
          </a:p>
        </p:txBody>
      </p:sp>
      <p:sp>
        <p:nvSpPr>
          <p:cNvPr id="28" name="Text 25"/>
          <p:cNvSpPr txBox="1"/>
          <p:nvPr/>
        </p:nvSpPr>
        <p:spPr>
          <a:xfrm>
            <a:off x="9418320" y="2441448"/>
            <a:ext cx="2221992" cy="502920"/>
          </a:xfrm>
          <a:prstGeom prst="rect">
            <a:avLst/>
          </a:prstGeom>
          <a:noFill/>
          <a:ln/>
        </p:spPr>
        <p:txBody>
          <a:bodyPr wrap="square" lIns="0" tIns="0" rIns="0" bIns="0" rtlCol="0" anchor="ctr"/>
          <a:lstStyle/>
          <a:p>
            <a:pPr algn="r" indent="0" marL="0">
              <a:buNone/>
            </a:pPr>
            <a:r>
              <a:rPr lang="ja-JP" altLang="en-US" sz="1100" dirty="0">
                <a:solidFill>
                  <a:srgbClr val="A7B0BE"/>
                </a:solidFill>
                <a:latin typeface="Yu Gothic Medium" pitchFamily="34" charset="0"/>
                <a:ea typeface="Yu Gothic Medium" charset="-128"/>
                <a:cs typeface="Yu Gothic Medium" pitchFamily="34" charset="-120"/>
              </a:rPr>
              <a:t>関連 P.03・22</a:t>
            </a:r>
            <a:endParaRPr lang="ja-JP" sz="1100" dirty="0"/>
          </a:p>
        </p:txBody>
      </p:sp>
      <p:sp>
        <p:nvSpPr>
          <p:cNvPr id="29" name="Shape 26"/>
          <p:cNvSpPr/>
          <p:nvPr/>
        </p:nvSpPr>
        <p:spPr>
          <a:xfrm>
            <a:off x="1005840" y="2976372"/>
            <a:ext cx="10637215" cy="0"/>
          </a:xfrm>
          <a:prstGeom prst="line">
            <a:avLst/>
          </a:prstGeom>
          <a:noFill/>
          <a:ln w="9525">
            <a:solidFill>
              <a:srgbClr val="2E4468"/>
            </a:solidFill>
            <a:prstDash val="solid"/>
          </a:ln>
        </p:spPr>
      </p:sp>
      <p:sp>
        <p:nvSpPr>
          <p:cNvPr id="30" name="Shape 27"/>
          <p:cNvSpPr/>
          <p:nvPr/>
        </p:nvSpPr>
        <p:spPr>
          <a:xfrm>
            <a:off x="667512" y="3195828"/>
            <a:ext cx="128016" cy="128016"/>
          </a:xfrm>
          <a:prstGeom prst="ellipse">
            <a:avLst/>
          </a:prstGeom>
          <a:solidFill>
            <a:srgbClr val="C9A96E"/>
          </a:solidFill>
          <a:ln/>
        </p:spPr>
      </p:sp>
      <p:sp>
        <p:nvSpPr>
          <p:cNvPr id="31" name="Text 28"/>
          <p:cNvSpPr txBox="1"/>
          <p:nvPr/>
        </p:nvSpPr>
        <p:spPr>
          <a:xfrm>
            <a:off x="1005840" y="3008376"/>
            <a:ext cx="640080" cy="50292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03</a:t>
            </a:r>
            <a:endParaRPr lang="en-US" sz="2200" dirty="0"/>
          </a:p>
        </p:txBody>
      </p:sp>
      <p:sp>
        <p:nvSpPr>
          <p:cNvPr id="32" name="Text 29"/>
          <p:cNvSpPr txBox="1"/>
          <p:nvPr/>
        </p:nvSpPr>
        <p:spPr>
          <a:xfrm>
            <a:off x="1691640" y="3008376"/>
            <a:ext cx="7680960" cy="502920"/>
          </a:xfrm>
          <a:prstGeom prst="rect">
            <a:avLst/>
          </a:prstGeom>
          <a:noFill/>
          <a:ln/>
        </p:spPr>
        <p:txBody>
          <a:bodyPr wrap="square" lIns="0" tIns="0" rIns="0" bIns="0" rtlCol="0" anchor="ctr"/>
          <a:lstStyle/>
          <a:p>
            <a:pPr algn="l" indent="0" marL="0">
              <a:buNone/>
            </a:pPr>
            <a:r>
              <a:rPr lang="ja-JP" altLang="en-US" sz="1900" dirty="0">
                <a:solidFill>
                  <a:srgbClr val="FFFFFF"/>
                </a:solidFill>
                <a:latin typeface="Yu Gothic Medium" pitchFamily="34" charset="0"/>
                <a:ea typeface="Yu Gothic Medium" charset="-128"/>
                <a:cs typeface="Yu Gothic Medium" pitchFamily="34" charset="-120"/>
              </a:rPr>
              <a:t>金・人・仕組み・信用のどれかが積み上がるか。</a:t>
            </a:r>
            <a:endParaRPr lang="ja-JP" sz="1900" dirty="0"/>
          </a:p>
        </p:txBody>
      </p:sp>
      <p:sp>
        <p:nvSpPr>
          <p:cNvPr id="33" name="Text 30"/>
          <p:cNvSpPr txBox="1"/>
          <p:nvPr/>
        </p:nvSpPr>
        <p:spPr>
          <a:xfrm>
            <a:off x="9418320" y="3008376"/>
            <a:ext cx="2221992" cy="502920"/>
          </a:xfrm>
          <a:prstGeom prst="rect">
            <a:avLst/>
          </a:prstGeom>
          <a:noFill/>
          <a:ln/>
        </p:spPr>
        <p:txBody>
          <a:bodyPr wrap="square" lIns="0" tIns="0" rIns="0" bIns="0" rtlCol="0" anchor="ctr"/>
          <a:lstStyle/>
          <a:p>
            <a:pPr algn="r" indent="0" marL="0">
              <a:buNone/>
            </a:pPr>
            <a:r>
              <a:rPr lang="ja-JP" altLang="en-US" sz="1100" dirty="0">
                <a:solidFill>
                  <a:srgbClr val="A7B0BE"/>
                </a:solidFill>
                <a:latin typeface="Yu Gothic Medium" pitchFamily="34" charset="0"/>
                <a:ea typeface="Yu Gothic Medium" charset="-128"/>
                <a:cs typeface="Yu Gothic Medium" pitchFamily="34" charset="-120"/>
              </a:rPr>
              <a:t>関連 P.04・09</a:t>
            </a:r>
            <a:endParaRPr lang="ja-JP" sz="1100" dirty="0"/>
          </a:p>
        </p:txBody>
      </p:sp>
      <p:sp>
        <p:nvSpPr>
          <p:cNvPr id="34" name="Shape 31"/>
          <p:cNvSpPr/>
          <p:nvPr/>
        </p:nvSpPr>
        <p:spPr>
          <a:xfrm>
            <a:off x="1005840" y="3543300"/>
            <a:ext cx="10637215" cy="0"/>
          </a:xfrm>
          <a:prstGeom prst="line">
            <a:avLst/>
          </a:prstGeom>
          <a:noFill/>
          <a:ln w="9525">
            <a:solidFill>
              <a:srgbClr val="2E4468"/>
            </a:solidFill>
            <a:prstDash val="solid"/>
          </a:ln>
        </p:spPr>
      </p:sp>
      <p:sp>
        <p:nvSpPr>
          <p:cNvPr id="35" name="Shape 32"/>
          <p:cNvSpPr/>
          <p:nvPr/>
        </p:nvSpPr>
        <p:spPr>
          <a:xfrm>
            <a:off x="667512" y="3762756"/>
            <a:ext cx="128016" cy="128016"/>
          </a:xfrm>
          <a:prstGeom prst="ellipse">
            <a:avLst/>
          </a:prstGeom>
          <a:solidFill>
            <a:srgbClr val="C9A96E"/>
          </a:solidFill>
          <a:ln/>
        </p:spPr>
      </p:sp>
      <p:sp>
        <p:nvSpPr>
          <p:cNvPr id="36" name="Text 33"/>
          <p:cNvSpPr txBox="1"/>
          <p:nvPr/>
        </p:nvSpPr>
        <p:spPr>
          <a:xfrm>
            <a:off x="1005840" y="3575304"/>
            <a:ext cx="640080" cy="50292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04</a:t>
            </a:r>
            <a:endParaRPr lang="en-US" sz="2200" dirty="0"/>
          </a:p>
        </p:txBody>
      </p:sp>
      <p:sp>
        <p:nvSpPr>
          <p:cNvPr id="37" name="Text 34"/>
          <p:cNvSpPr txBox="1"/>
          <p:nvPr/>
        </p:nvSpPr>
        <p:spPr>
          <a:xfrm>
            <a:off x="1691640" y="3575304"/>
            <a:ext cx="7680960" cy="502920"/>
          </a:xfrm>
          <a:prstGeom prst="rect">
            <a:avLst/>
          </a:prstGeom>
          <a:noFill/>
          <a:ln/>
        </p:spPr>
        <p:txBody>
          <a:bodyPr wrap="square" lIns="0" tIns="0" rIns="0" bIns="0" rtlCol="0" anchor="ctr"/>
          <a:lstStyle/>
          <a:p>
            <a:pPr algn="l" indent="0" marL="0">
              <a:buNone/>
            </a:pPr>
            <a:r>
              <a:rPr lang="ja-JP" altLang="en-US" sz="1900" dirty="0">
                <a:solidFill>
                  <a:srgbClr val="FFFFFF"/>
                </a:solidFill>
                <a:latin typeface="Yu Gothic Medium" pitchFamily="34" charset="0"/>
                <a:ea typeface="Yu Gothic Medium" charset="-128"/>
                <a:cs typeface="Yu Gothic Medium" pitchFamily="34" charset="-120"/>
              </a:rPr>
              <a:t>創業者依存を減らすか、増やすか。</a:t>
            </a:r>
            <a:endParaRPr lang="ja-JP" sz="1900" dirty="0"/>
          </a:p>
        </p:txBody>
      </p:sp>
      <p:sp>
        <p:nvSpPr>
          <p:cNvPr id="38" name="Text 35"/>
          <p:cNvSpPr txBox="1"/>
          <p:nvPr/>
        </p:nvSpPr>
        <p:spPr>
          <a:xfrm>
            <a:off x="9418320" y="3575304"/>
            <a:ext cx="2221992" cy="502920"/>
          </a:xfrm>
          <a:prstGeom prst="rect">
            <a:avLst/>
          </a:prstGeom>
          <a:noFill/>
          <a:ln/>
        </p:spPr>
        <p:txBody>
          <a:bodyPr wrap="square" lIns="0" tIns="0" rIns="0" bIns="0" rtlCol="0" anchor="ctr"/>
          <a:lstStyle/>
          <a:p>
            <a:pPr algn="r" indent="0" marL="0">
              <a:buNone/>
            </a:pPr>
            <a:r>
              <a:rPr lang="ja-JP" altLang="en-US" sz="1100" dirty="0">
                <a:solidFill>
                  <a:srgbClr val="A7B0BE"/>
                </a:solidFill>
                <a:latin typeface="Yu Gothic Medium" pitchFamily="34" charset="0"/>
                <a:ea typeface="Yu Gothic Medium" charset="-128"/>
                <a:cs typeface="Yu Gothic Medium" pitchFamily="34" charset="-120"/>
              </a:rPr>
              <a:t>関連 P.15–16・21</a:t>
            </a:r>
            <a:endParaRPr lang="ja-JP" sz="1100" dirty="0"/>
          </a:p>
        </p:txBody>
      </p:sp>
      <p:sp>
        <p:nvSpPr>
          <p:cNvPr id="39" name="Shape 36"/>
          <p:cNvSpPr/>
          <p:nvPr/>
        </p:nvSpPr>
        <p:spPr>
          <a:xfrm>
            <a:off x="1005840" y="4110228"/>
            <a:ext cx="10637215" cy="0"/>
          </a:xfrm>
          <a:prstGeom prst="line">
            <a:avLst/>
          </a:prstGeom>
          <a:noFill/>
          <a:ln w="9525">
            <a:solidFill>
              <a:srgbClr val="2E4468"/>
            </a:solidFill>
            <a:prstDash val="solid"/>
          </a:ln>
        </p:spPr>
      </p:sp>
      <p:sp>
        <p:nvSpPr>
          <p:cNvPr id="40" name="Shape 37"/>
          <p:cNvSpPr/>
          <p:nvPr/>
        </p:nvSpPr>
        <p:spPr>
          <a:xfrm>
            <a:off x="667512" y="4329684"/>
            <a:ext cx="128016" cy="128016"/>
          </a:xfrm>
          <a:prstGeom prst="ellipse">
            <a:avLst/>
          </a:prstGeom>
          <a:solidFill>
            <a:srgbClr val="C9A96E"/>
          </a:solidFill>
          <a:ln/>
        </p:spPr>
      </p:sp>
      <p:sp>
        <p:nvSpPr>
          <p:cNvPr id="41" name="Text 38"/>
          <p:cNvSpPr txBox="1"/>
          <p:nvPr/>
        </p:nvSpPr>
        <p:spPr>
          <a:xfrm>
            <a:off x="1005840" y="4142232"/>
            <a:ext cx="640080" cy="502920"/>
          </a:xfrm>
          <a:prstGeom prst="rect">
            <a:avLst/>
          </a:prstGeom>
          <a:noFill/>
          <a:ln/>
        </p:spPr>
        <p:txBody>
          <a:bodyPr wrap="square" lIns="0" tIns="0" rIns="0" bIns="0" rtlCol="0" anchor="ctr"/>
          <a:lstStyle/>
          <a:p>
            <a:pPr algn="l" indent="0" marL="0">
              <a:buNone/>
            </a:pPr>
            <a:r>
              <a:rPr lang="en-US" altLang="en-US" sz="2200" b="1" dirty="0">
                <a:solidFill>
                  <a:srgbClr val="C9A96E"/>
                </a:solidFill>
                <a:latin typeface="Cambria" pitchFamily="34" charset="0"/>
                <a:ea typeface="Cambria" charset="-128"/>
                <a:cs typeface="Cambria" pitchFamily="34" charset="-120"/>
              </a:rPr>
              <a:t>05</a:t>
            </a:r>
            <a:endParaRPr lang="en-US" sz="2200" dirty="0"/>
          </a:p>
        </p:txBody>
      </p:sp>
      <p:sp>
        <p:nvSpPr>
          <p:cNvPr id="42" name="Text 39"/>
          <p:cNvSpPr txBox="1"/>
          <p:nvPr/>
        </p:nvSpPr>
        <p:spPr>
          <a:xfrm>
            <a:off x="1691640" y="4142232"/>
            <a:ext cx="7680960" cy="502920"/>
          </a:xfrm>
          <a:prstGeom prst="rect">
            <a:avLst/>
          </a:prstGeom>
          <a:noFill/>
          <a:ln/>
        </p:spPr>
        <p:txBody>
          <a:bodyPr wrap="square" lIns="0" tIns="0" rIns="0" bIns="0" rtlCol="0" anchor="ctr"/>
          <a:lstStyle/>
          <a:p>
            <a:pPr algn="l" indent="0" marL="0">
              <a:buNone/>
            </a:pPr>
            <a:r>
              <a:rPr lang="ja-JP" altLang="en-US" sz="1900" dirty="0">
                <a:solidFill>
                  <a:srgbClr val="FFFFFF"/>
                </a:solidFill>
                <a:latin typeface="Yu Gothic Medium" pitchFamily="34" charset="0"/>
                <a:ea typeface="Yu Gothic Medium" charset="-128"/>
                <a:cs typeface="Yu Gothic Medium" pitchFamily="34" charset="-120"/>
              </a:rPr>
              <a:t>5年後、10年後にも残る経営資産になるか。</a:t>
            </a:r>
            <a:endParaRPr lang="ja-JP" sz="1900" dirty="0"/>
          </a:p>
        </p:txBody>
      </p:sp>
      <p:sp>
        <p:nvSpPr>
          <p:cNvPr id="43" name="Text 40"/>
          <p:cNvSpPr txBox="1"/>
          <p:nvPr/>
        </p:nvSpPr>
        <p:spPr>
          <a:xfrm>
            <a:off x="9418320" y="4142232"/>
            <a:ext cx="2221992" cy="502920"/>
          </a:xfrm>
          <a:prstGeom prst="rect">
            <a:avLst/>
          </a:prstGeom>
          <a:noFill/>
          <a:ln/>
        </p:spPr>
        <p:txBody>
          <a:bodyPr wrap="square" lIns="0" tIns="0" rIns="0" bIns="0" rtlCol="0" anchor="ctr"/>
          <a:lstStyle/>
          <a:p>
            <a:pPr algn="r" indent="0" marL="0">
              <a:buNone/>
            </a:pPr>
            <a:r>
              <a:rPr lang="ja-JP" altLang="en-US" sz="1100" dirty="0">
                <a:solidFill>
                  <a:srgbClr val="A7B0BE"/>
                </a:solidFill>
                <a:latin typeface="Yu Gothic Medium" pitchFamily="34" charset="0"/>
                <a:ea typeface="Yu Gothic Medium" charset="-128"/>
                <a:cs typeface="Yu Gothic Medium" pitchFamily="34" charset="-120"/>
              </a:rPr>
              <a:t>関連 P.02・05</a:t>
            </a:r>
            <a:endParaRPr lang="ja-JP" sz="1100" dirty="0"/>
          </a:p>
        </p:txBody>
      </p:sp>
      <p:sp>
        <p:nvSpPr>
          <p:cNvPr id="44" name="Text 41"/>
          <p:cNvSpPr txBox="1"/>
          <p:nvPr/>
        </p:nvSpPr>
        <p:spPr>
          <a:xfrm>
            <a:off x="548640" y="4937760"/>
            <a:ext cx="11094415" cy="960120"/>
          </a:xfrm>
          <a:prstGeom prst="rect">
            <a:avLst/>
          </a:prstGeom>
          <a:noFill/>
          <a:ln/>
        </p:spPr>
        <p:txBody>
          <a:bodyPr wrap="square" lIns="0" tIns="0" rIns="0" bIns="0" rtlCol="0" anchor="t"/>
          <a:lstStyle/>
          <a:p>
            <a:pPr algn="l" indent="0" marL="0">
              <a:lnSpc>
                <a:spcPts val="3400"/>
              </a:lnSpc>
              <a:buNone/>
            </a:pPr>
            <a:r>
              <a:rPr lang="ja-JP" altLang="en-US" sz="1800" dirty="0">
                <a:solidFill>
                  <a:srgbClr val="C9A96E"/>
                </a:solidFill>
                <a:latin typeface="Yu Mincho" pitchFamily="34" charset="0"/>
                <a:ea typeface="Yu Mincho" charset="-128"/>
                <a:cs typeface="Yu Mincho" pitchFamily="34" charset="-120"/>
              </a:rPr>
              <a:t>ROOTIVEを大きくすることが目的ではない。</a:t>
            </a:r>
            <a:endParaRPr lang="ja-JP" sz="2100" dirty="0"/>
          </a:p>
          <a:p>
            <a:pPr algn="l" indent="0" marL="0">
              <a:lnSpc>
                <a:spcPts val="3400"/>
              </a:lnSpc>
              <a:buNone/>
            </a:pPr>
            <a:r>
              <a:rPr lang="ja-JP" altLang="en-US" sz="2100" dirty="0">
                <a:solidFill>
                  <a:srgbClr val="FFFFFF"/>
                </a:solidFill>
                <a:latin typeface="Yu Mincho" pitchFamily="34" charset="0"/>
                <a:ea typeface="Yu Mincho" charset="-128"/>
                <a:cs typeface="Yu Mincho" pitchFamily="34" charset="-120"/>
              </a:rPr>
              <a:t>強い事業を生み、良い会社を買い、経営者を育て、永続する企業グループを作る。</a:t>
            </a:r>
            <a:endParaRPr lang="ja-JP"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014"/>
        </a:solidFill>
      </p:bgPr>
    </p:bg>
    <p:spTree>
      <p:nvGrpSpPr>
        <p:cNvPr id="1" name=""/>
        <p:cNvGrpSpPr/>
        <p:nvPr/>
      </p:nvGrpSpPr>
      <p:grpSpPr>
        <a:xfrm>
          <a:off x="0" y="0"/>
          <a:ext cx="0" cy="0"/>
          <a:chOff x="0" y="0"/>
          <a:chExt cx="0" cy="0"/>
        </a:xfrm>
      </p:grpSpPr>
      <p:sp>
        <p:nvSpPr>
          <p:cNvPr id="2" name="Text 0"/>
          <p:cNvSpPr txBox="1"/>
          <p:nvPr/>
        </p:nvSpPr>
        <p:spPr>
          <a:xfrm>
            <a:off x="822960" y="713232"/>
            <a:ext cx="5486400" cy="256032"/>
          </a:xfrm>
          <a:prstGeom prst="rect">
            <a:avLst/>
          </a:prstGeom>
          <a:noFill/>
          <a:ln/>
        </p:spPr>
        <p:txBody>
          <a:bodyPr wrap="square" lIns="0" tIns="0" rIns="0" bIns="0" rtlCol="0" anchor="ctr"/>
          <a:lstStyle/>
          <a:p>
            <a:pPr algn="l" indent="0" marL="0">
              <a:buNone/>
            </a:pPr>
            <a:r>
              <a:rPr lang="en-US" altLang="en-US" sz="1100" b="1" spc="400" kern="0" dirty="0">
                <a:solidFill>
                  <a:srgbClr val="A7B0BE"/>
                </a:solidFill>
                <a:latin typeface="Arial" pitchFamily="34" charset="0"/>
                <a:ea typeface="Arial" charset="-128"/>
                <a:cs typeface="Arial" pitchFamily="34" charset="-120"/>
              </a:rPr>
              <a:t>AND AFTER ALL OF THAT</a:t>
            </a:r>
            <a:endParaRPr lang="en-US" sz="1100" dirty="0"/>
          </a:p>
        </p:txBody>
      </p:sp>
      <p:sp>
        <p:nvSpPr>
          <p:cNvPr id="3" name="Text 1"/>
          <p:cNvSpPr txBox="1"/>
          <p:nvPr/>
        </p:nvSpPr>
        <p:spPr>
          <a:xfrm>
            <a:off x="822960" y="1024128"/>
            <a:ext cx="10515600" cy="621792"/>
          </a:xfrm>
          <a:prstGeom prst="rect">
            <a:avLst/>
          </a:prstGeom>
          <a:noFill/>
          <a:ln/>
        </p:spPr>
        <p:txBody>
          <a:bodyPr wrap="square" lIns="0" tIns="0" rIns="0" bIns="0" rtlCol="0" anchor="ctr"/>
          <a:lstStyle/>
          <a:p>
            <a:pPr algn="l" indent="0" marL="0">
              <a:buNone/>
            </a:pPr>
            <a:r>
              <a:rPr lang="ja-JP" altLang="en-US" sz="3000" dirty="0">
                <a:solidFill>
                  <a:srgbClr val="FFFFFF"/>
                </a:solidFill>
                <a:latin typeface="Yu Mincho" pitchFamily="34" charset="0"/>
                <a:ea typeface="Yu Mincho" charset="-128"/>
                <a:cs typeface="Yu Mincho" pitchFamily="34" charset="-120"/>
              </a:rPr>
              <a:t>その先に、個人として何を残すのか。</a:t>
            </a:r>
            <a:endParaRPr lang="ja-JP" sz="3000" dirty="0"/>
          </a:p>
        </p:txBody>
      </p:sp>
      <p:sp>
        <p:nvSpPr>
          <p:cNvPr id="4" name="Text 2"/>
          <p:cNvSpPr txBox="1"/>
          <p:nvPr/>
        </p:nvSpPr>
        <p:spPr>
          <a:xfrm>
            <a:off x="822960" y="1874520"/>
            <a:ext cx="5120640" cy="2834640"/>
          </a:xfrm>
          <a:prstGeom prst="rect">
            <a:avLst/>
          </a:prstGeom>
          <a:noFill/>
          <a:ln/>
        </p:spPr>
        <p:txBody>
          <a:bodyPr wrap="square" lIns="0" tIns="0" rIns="0" bIns="0" rtlCol="0" anchor="t"/>
          <a:lstStyle/>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会社を大きくすることも、30億円を達成することも、</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企業グループを作ることも、上場することも、</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その時々では本気で追い続ける目標である。</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ただ、それらをすべて成し遂げた先で、</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最後に個人として残したいものがある。</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自分が何を考え、何に迷い、何に失敗し、</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どう決断し、どう前に進んだのか。</a:t>
            </a:r>
            <a:endParaRPr lang="ja-JP" sz="1400" dirty="0"/>
          </a:p>
        </p:txBody>
      </p:sp>
      <p:sp>
        <p:nvSpPr>
          <p:cNvPr id="5" name="Text 3"/>
          <p:cNvSpPr txBox="1"/>
          <p:nvPr/>
        </p:nvSpPr>
        <p:spPr>
          <a:xfrm>
            <a:off x="6400800" y="1874520"/>
            <a:ext cx="5120640" cy="3200400"/>
          </a:xfrm>
          <a:prstGeom prst="rect">
            <a:avLst/>
          </a:prstGeom>
          <a:noFill/>
          <a:ln/>
        </p:spPr>
        <p:txBody>
          <a:bodyPr wrap="square" lIns="0" tIns="0" rIns="0" bIns="0" rtlCol="0" anchor="t"/>
          <a:lstStyle/>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会社を始めた時から、企業を成長させ、</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人と出会い、失敗し、苦しみ、経営者として成長し、</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最終的に上場へ至るまでの経験を、</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いつか一冊の本として残したい。</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成功だけを書く本ではない。</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その途中にあった現実を残したい。</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そして、その本を読んだ誰かが、</a:t>
            </a:r>
            <a:endParaRPr lang="ja-JP" sz="1400" dirty="0"/>
          </a:p>
          <a:p>
            <a:pPr algn="l" indent="0" marL="0">
              <a:lnSpc>
                <a:spcPts val="2400"/>
              </a:lnSpc>
              <a:buNone/>
            </a:pPr>
            <a:r>
              <a:rPr lang="ja-JP" altLang="en-US" sz="1400" dirty="0">
                <a:solidFill>
                  <a:srgbClr val="D5DBE3"/>
                </a:solidFill>
                <a:latin typeface="Yu Mincho" pitchFamily="34" charset="0"/>
                <a:ea typeface="Yu Mincho" charset="-128"/>
                <a:cs typeface="Yu Mincho" pitchFamily="34" charset="-120"/>
              </a:rPr>
              <a:t>「自分も挑戦してみよう」「自分にもできるかもしれない」</a:t>
            </a:r>
            <a:endParaRPr lang="ja-JP" sz="1400" dirty="0"/>
          </a:p>
          <a:p>
            <a:pPr algn="l" indent="0" marL="0">
              <a:lnSpc>
                <a:spcPts val="2400"/>
              </a:lnSpc>
              <a:spcAft>
                <a:spcPts val="1200"/>
              </a:spcAft>
              <a:buNone/>
            </a:pPr>
            <a:r>
              <a:rPr lang="ja-JP" altLang="en-US" sz="1400" dirty="0">
                <a:solidFill>
                  <a:srgbClr val="D5DBE3"/>
                </a:solidFill>
                <a:latin typeface="Yu Mincho" pitchFamily="34" charset="0"/>
                <a:ea typeface="Yu Mincho" charset="-128"/>
                <a:cs typeface="Yu Mincho" pitchFamily="34" charset="-120"/>
              </a:rPr>
              <a:t>と思えるものにしたい。</a:t>
            </a:r>
            <a:endParaRPr lang="ja-JP" sz="1400" dirty="0"/>
          </a:p>
        </p:txBody>
      </p:sp>
      <p:sp>
        <p:nvSpPr>
          <p:cNvPr id="6" name="Text 4"/>
          <p:cNvSpPr txBox="1"/>
          <p:nvPr/>
        </p:nvSpPr>
        <p:spPr>
          <a:xfrm>
            <a:off x="822960" y="5394960"/>
            <a:ext cx="10515600" cy="566928"/>
          </a:xfrm>
          <a:prstGeom prst="rect">
            <a:avLst/>
          </a:prstGeom>
          <a:noFill/>
          <a:ln/>
        </p:spPr>
        <p:txBody>
          <a:bodyPr wrap="square" lIns="0" tIns="0" rIns="0" bIns="0" rtlCol="0" anchor="ctr"/>
          <a:lstStyle/>
          <a:p>
            <a:pPr algn="l" indent="0" marL="0">
              <a:buNone/>
            </a:pPr>
            <a:r>
              <a:rPr lang="ja-JP" altLang="en-US" sz="3000" dirty="0">
                <a:solidFill>
                  <a:srgbClr val="FFFFFF"/>
                </a:solidFill>
                <a:latin typeface="Yu Mincho" pitchFamily="34" charset="0"/>
                <a:ea typeface="Yu Mincho" charset="-128"/>
                <a:cs typeface="Yu Mincho" pitchFamily="34" charset="-120"/>
              </a:rPr>
              <a:t>会社だけではなく、挑戦した証明を残す。</a:t>
            </a:r>
            <a:endParaRPr lang="ja-JP" sz="3000" dirty="0"/>
          </a:p>
        </p:txBody>
      </p:sp>
      <p:sp>
        <p:nvSpPr>
          <p:cNvPr id="7" name="Shape 5"/>
          <p:cNvSpPr/>
          <p:nvPr/>
        </p:nvSpPr>
        <p:spPr>
          <a:xfrm>
            <a:off x="822960" y="6199632"/>
            <a:ext cx="1417320" cy="0"/>
          </a:xfrm>
          <a:prstGeom prst="line">
            <a:avLst/>
          </a:prstGeom>
          <a:noFill/>
          <a:ln w="12700">
            <a:solidFill>
              <a:srgbClr val="4A6280"/>
            </a:solidFill>
            <a:prstDash val="sysDash"/>
          </a:ln>
        </p:spPr>
      </p:sp>
      <p:sp>
        <p:nvSpPr>
          <p:cNvPr id="8" name="Shape 6"/>
          <p:cNvSpPr/>
          <p:nvPr/>
        </p:nvSpPr>
        <p:spPr>
          <a:xfrm>
            <a:off x="2272284" y="6140196"/>
            <a:ext cx="118872" cy="118872"/>
          </a:xfrm>
          <a:prstGeom prst="ellipse">
            <a:avLst/>
          </a:prstGeom>
          <a:solidFill>
            <a:srgbClr val="C9A96E"/>
          </a:solidFill>
          <a:ln/>
        </p:spPr>
      </p:sp>
      <p:sp>
        <p:nvSpPr>
          <p:cNvPr id="9" name="Text 7"/>
          <p:cNvSpPr txBox="1"/>
          <p:nvPr/>
        </p:nvSpPr>
        <p:spPr>
          <a:xfrm>
            <a:off x="2560320" y="6071616"/>
            <a:ext cx="3657600" cy="256032"/>
          </a:xfrm>
          <a:prstGeom prst="rect">
            <a:avLst/>
          </a:prstGeom>
          <a:noFill/>
          <a:ln/>
        </p:spPr>
        <p:txBody>
          <a:bodyPr wrap="square" lIns="0" tIns="0" rIns="0" bIns="0" rtlCol="0" anchor="ctr"/>
          <a:lstStyle/>
          <a:p>
            <a:pPr algn="l" indent="0" marL="0">
              <a:buNone/>
            </a:pPr>
            <a:r>
              <a:rPr lang="en-US" altLang="en-US" sz="1200" spc="600" kern="0" dirty="0">
                <a:solidFill>
                  <a:srgbClr val="C9A96E"/>
                </a:solidFill>
                <a:latin typeface="Cambria" pitchFamily="34" charset="0"/>
                <a:ea typeface="Cambria" charset="-128"/>
                <a:cs typeface="Cambria" pitchFamily="34" charset="-120"/>
              </a:rPr>
              <a:t>WRITE THE STORY.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Medium"/>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ROOTIVE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ROOTIVE GROUP 5カ年経営計画 2026–2031</dc:title>
  <dc:subject>第一期中期経営計画</dc:subject>
  <dc:creator>ROOTIVE GROUP</dc:creator>
  <cp:lastModifiedBy>ROOTIVE GROUP</cp:lastModifiedBy>
  <cp:revision>1</cp:revision>
  <dcterms:created xsi:type="dcterms:W3CDTF">2026-09-23T15:08:58Z</dcterms:created>
  <dcterms:modified xsi:type="dcterms:W3CDTF">2026-09-23T15:08:58Z</dcterms:modified>
</cp:coreProperties>
</file>